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y="5143500" cx="9144000"/>
  <p:notesSz cx="6858000" cy="9144000"/>
  <p:embeddedFontLst>
    <p:embeddedFont>
      <p:font typeface="Proxima Nova"/>
      <p:regular r:id="rId18"/>
      <p:bold r:id="rId19"/>
      <p:italic r:id="rId20"/>
      <p:boldItalic r:id="rId21"/>
    </p:embeddedFont>
    <p:embeddedFont>
      <p:font typeface="Montserrat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8C1D15D-E746-4768-82B4-63B54C39DC1A}">
  <a:tblStyle styleId="{A8C1D15D-E746-4768-82B4-63B54C39DC1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roximaNova-italic.fntdata"/><Relationship Id="rId22" Type="http://schemas.openxmlformats.org/officeDocument/2006/relationships/font" Target="fonts/Montserrat-regular.fntdata"/><Relationship Id="rId21" Type="http://schemas.openxmlformats.org/officeDocument/2006/relationships/font" Target="fonts/ProximaNova-boldItalic.fntdata"/><Relationship Id="rId24" Type="http://schemas.openxmlformats.org/officeDocument/2006/relationships/font" Target="fonts/Montserrat-italic.fntdata"/><Relationship Id="rId23" Type="http://schemas.openxmlformats.org/officeDocument/2006/relationships/font" Target="fonts/Montserrat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5" Type="http://schemas.openxmlformats.org/officeDocument/2006/relationships/font" Target="fonts/Montserrat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ProximaNova-bold.fntdata"/><Relationship Id="rId18" Type="http://schemas.openxmlformats.org/officeDocument/2006/relationships/font" Target="fonts/ProximaNova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89618c9ec3_0_1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89618c9ec3_0_1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89618c9ec3_0_2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89618c9ec3_0_2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89618c9ec3_0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89618c9ec3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89618c9ec3_0_2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89618c9ec3_0_2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89618c9ec3_0_2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89618c9ec3_0_2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89618c9ec3_0_1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89618c9ec3_0_1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89618c9ec3_0_2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89618c9ec3_0_2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89618c9ec3_0_1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89618c9ec3_0_1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89618c9ec3_0_2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89618c9ec3_0_2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89618c9ec3_0_2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89618c9ec3_0_2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" name="Google Shape;11;p2"/>
          <p:cNvSpPr txBox="1"/>
          <p:nvPr>
            <p:ph type="ctrTitle"/>
          </p:nvPr>
        </p:nvSpPr>
        <p:spPr>
          <a:xfrm>
            <a:off x="510450" y="1257300"/>
            <a:ext cx="8123100" cy="158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510450" y="3182313"/>
            <a:ext cx="8123100" cy="63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Google Shape;15;p3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" name="Google Shape;16;p3"/>
          <p:cNvSpPr txBox="1"/>
          <p:nvPr>
            <p:ph type="title"/>
          </p:nvPr>
        </p:nvSpPr>
        <p:spPr>
          <a:xfrm>
            <a:off x="510450" y="2057400"/>
            <a:ext cx="8123100" cy="77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/>
          <p:nvPr>
            <p:ph type="title"/>
          </p:nvPr>
        </p:nvSpPr>
        <p:spPr>
          <a:xfrm>
            <a:off x="490250" y="526350"/>
            <a:ext cx="57975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7" name="Google Shape;37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4572000" y="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0" name="Google Shape;4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9"/>
          <p:cNvSpPr txBox="1"/>
          <p:nvPr>
            <p:ph type="title"/>
          </p:nvPr>
        </p:nvSpPr>
        <p:spPr>
          <a:xfrm>
            <a:off x="265500" y="1205825"/>
            <a:ext cx="4045200" cy="1509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" name="Google Shape;42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" name="Google Shape;4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/>
          <p:nvPr>
            <p:ph idx="1" type="body"/>
          </p:nvPr>
        </p:nvSpPr>
        <p:spPr>
          <a:xfrm>
            <a:off x="311700" y="42368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</a:lstStyle>
          <a:p/>
        </p:txBody>
      </p:sp>
      <p:sp>
        <p:nvSpPr>
          <p:cNvPr id="47" name="Google Shape;47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991475"/>
            <a:ext cx="8520600" cy="191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071300"/>
            <a:ext cx="8520600" cy="9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pearmint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roxima Nova"/>
              <a:buChar char="●"/>
              <a:defRPr sz="18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510450" y="1257300"/>
            <a:ext cx="8123100" cy="158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>
                <a:latin typeface="Montserrat"/>
                <a:ea typeface="Montserrat"/>
                <a:cs typeface="Montserrat"/>
                <a:sym typeface="Montserrat"/>
              </a:rPr>
              <a:t>Dependency Injection 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>
                <a:latin typeface="Montserrat"/>
                <a:ea typeface="Montserrat"/>
                <a:cs typeface="Montserrat"/>
                <a:sym typeface="Montserrat"/>
              </a:rPr>
              <a:t>ServiceCollection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0" name="Google Shape;60;p13"/>
          <p:cNvSpPr txBox="1"/>
          <p:nvPr>
            <p:ph idx="1" type="subTitle"/>
          </p:nvPr>
        </p:nvSpPr>
        <p:spPr>
          <a:xfrm>
            <a:off x="510450" y="3182313"/>
            <a:ext cx="8123100" cy="63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Montserrat"/>
                <a:ea typeface="Montserrat"/>
                <a:cs typeface="Montserrat"/>
                <a:sym typeface="Montserrat"/>
              </a:rPr>
              <a:t>Хайрутдинова Айсылу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1" name="Google Shape;61;p13"/>
          <p:cNvSpPr txBox="1"/>
          <p:nvPr/>
        </p:nvSpPr>
        <p:spPr>
          <a:xfrm>
            <a:off x="3891250" y="1512800"/>
            <a:ext cx="4840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accent3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/>
          <p:nvPr/>
        </p:nvSpPr>
        <p:spPr>
          <a:xfrm>
            <a:off x="403400" y="344581"/>
            <a:ext cx="4840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Зависимость</a:t>
            </a:r>
            <a:endParaRPr b="1" sz="1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7" name="Google Shape;67;p14"/>
          <p:cNvSpPr txBox="1"/>
          <p:nvPr/>
        </p:nvSpPr>
        <p:spPr>
          <a:xfrm>
            <a:off x="453875" y="865650"/>
            <a:ext cx="7975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Зависимость — это любой объект, от которого зависит другой объект, который полагается на него для выполнения своих функций.</a:t>
            </a:r>
            <a:endParaRPr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68" name="Google Shape;68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70450" y="1808900"/>
            <a:ext cx="6243376" cy="2184550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4"/>
          <p:cNvSpPr txBox="1"/>
          <p:nvPr/>
        </p:nvSpPr>
        <p:spPr>
          <a:xfrm>
            <a:off x="2370123" y="4235800"/>
            <a:ext cx="4143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В этом случае Car и Engine тесно связаны</a:t>
            </a:r>
            <a:endParaRPr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/>
          <p:nvPr/>
        </p:nvSpPr>
        <p:spPr>
          <a:xfrm>
            <a:off x="403400" y="403956"/>
            <a:ext cx="4840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Почему это плохо?</a:t>
            </a:r>
            <a:endParaRPr b="1" sz="1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5" name="Google Shape;75;p15"/>
          <p:cNvSpPr txBox="1"/>
          <p:nvPr/>
        </p:nvSpPr>
        <p:spPr>
          <a:xfrm>
            <a:off x="210150" y="1016900"/>
            <a:ext cx="4840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ontserrat"/>
              <a:buChar char="-"/>
            </a:pPr>
            <a:r>
              <a:rPr lang="ru" sz="1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Отсутствие гибкости</a:t>
            </a:r>
            <a:endParaRPr sz="16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ontserrat"/>
              <a:buChar char="-"/>
            </a:pPr>
            <a:r>
              <a:rPr lang="ru" sz="1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Сложное Unit тестирование</a:t>
            </a:r>
            <a:endParaRPr sz="16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ontserrat"/>
              <a:buChar char="-"/>
            </a:pPr>
            <a:r>
              <a:rPr lang="ru" sz="1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Неудобное управление кодом</a:t>
            </a:r>
            <a:endParaRPr sz="16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76" name="Google Shape;7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01850" y="2342050"/>
            <a:ext cx="5340299" cy="1868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 txBox="1"/>
          <p:nvPr/>
        </p:nvSpPr>
        <p:spPr>
          <a:xfrm>
            <a:off x="386600" y="327800"/>
            <a:ext cx="6648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Решение: Dependency Injection (DI)</a:t>
            </a:r>
            <a:endParaRPr b="1" sz="24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2" name="Google Shape;82;p16"/>
          <p:cNvSpPr txBox="1"/>
          <p:nvPr/>
        </p:nvSpPr>
        <p:spPr>
          <a:xfrm>
            <a:off x="386600" y="991700"/>
            <a:ext cx="4038600" cy="40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6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Dependency Injection (DI) </a:t>
            </a:r>
            <a:r>
              <a:rPr lang="ru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— это паттерн проектирования, при котором объект получает (или ему «внедряют») свои зависимости извне, а не создаёт их сам.</a:t>
            </a:r>
            <a:endParaRPr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56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Dependency injection</a:t>
            </a:r>
            <a:r>
              <a:rPr b="1" lang="ru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ru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или внедрение зависимостей представляет механизм, который позволяет сделать компоненты программы слабосвязанными, а всю программу в целом более гибкой, более адаптируемой и расширяемой.</a:t>
            </a:r>
            <a:endParaRPr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83" name="Google Shape;83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12625" y="1251200"/>
            <a:ext cx="4038600" cy="2781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 txBox="1"/>
          <p:nvPr/>
        </p:nvSpPr>
        <p:spPr>
          <a:xfrm>
            <a:off x="310950" y="294175"/>
            <a:ext cx="7160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Основные способы внедрения зависимостей</a:t>
            </a:r>
            <a:endParaRPr b="1" sz="1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9" name="Google Shape;89;p17"/>
          <p:cNvSpPr txBox="1"/>
          <p:nvPr/>
        </p:nvSpPr>
        <p:spPr>
          <a:xfrm>
            <a:off x="311000" y="755875"/>
            <a:ext cx="37398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1. Внедрение через конструктор (Constructor Injection)</a:t>
            </a:r>
            <a:endParaRPr sz="16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90" name="Google Shape;9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44225" y="755875"/>
            <a:ext cx="4627276" cy="4135499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7"/>
          <p:cNvSpPr txBox="1"/>
          <p:nvPr/>
        </p:nvSpPr>
        <p:spPr>
          <a:xfrm>
            <a:off x="268950" y="1344700"/>
            <a:ext cx="4210500" cy="33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Плюсы:</a:t>
            </a:r>
            <a:endParaRPr sz="16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ontserrat"/>
              <a:buChar char="-"/>
            </a:pPr>
            <a:r>
              <a:rPr lang="ru" sz="1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Обеспечивает неизменность зависимостей (readonly).</a:t>
            </a:r>
            <a:endParaRPr sz="16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ontserrat"/>
              <a:buChar char="-"/>
            </a:pPr>
            <a:r>
              <a:rPr lang="ru" sz="1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Гарантирует, что зависимость всегда будет установлена.</a:t>
            </a:r>
            <a:endParaRPr sz="16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ontserrat"/>
              <a:buChar char="-"/>
            </a:pPr>
            <a:r>
              <a:rPr lang="ru" sz="1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Хорошо работает с DI-контейнерами.</a:t>
            </a:r>
            <a:endParaRPr sz="16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Минусы:</a:t>
            </a:r>
            <a:endParaRPr b="1" sz="16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ontserrat"/>
              <a:buChar char="-"/>
            </a:pPr>
            <a:r>
              <a:rPr lang="ru" sz="1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Если зависимостей много, конструктор может разрастись.</a:t>
            </a:r>
            <a:endParaRPr sz="16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8"/>
          <p:cNvSpPr txBox="1"/>
          <p:nvPr/>
        </p:nvSpPr>
        <p:spPr>
          <a:xfrm>
            <a:off x="310950" y="294175"/>
            <a:ext cx="7160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Основные способы внедрения зависимостей</a:t>
            </a:r>
            <a:endParaRPr b="1" sz="1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7" name="Google Shape;97;p18"/>
          <p:cNvSpPr txBox="1"/>
          <p:nvPr/>
        </p:nvSpPr>
        <p:spPr>
          <a:xfrm>
            <a:off x="445675" y="697050"/>
            <a:ext cx="37398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2. Внедрение через свойство (Property Injection)</a:t>
            </a:r>
            <a:endParaRPr sz="16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8" name="Google Shape;98;p18"/>
          <p:cNvSpPr txBox="1"/>
          <p:nvPr/>
        </p:nvSpPr>
        <p:spPr>
          <a:xfrm>
            <a:off x="487441" y="1209000"/>
            <a:ext cx="3739800" cy="38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Плюсы:</a:t>
            </a:r>
            <a:endParaRPr sz="16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ontserrat"/>
              <a:buChar char="-"/>
            </a:pPr>
            <a:r>
              <a:rPr lang="ru" sz="1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Удобно для необязательных зависимостей.</a:t>
            </a:r>
            <a:endParaRPr sz="16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ontserrat"/>
              <a:buChar char="-"/>
            </a:pPr>
            <a:r>
              <a:rPr lang="ru" sz="1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Позволяет подменить зависимость в процессе работы.</a:t>
            </a:r>
            <a:endParaRPr sz="16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Минусы:</a:t>
            </a:r>
            <a:endParaRPr sz="16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ontserrat"/>
              <a:buChar char="-"/>
            </a:pPr>
            <a:r>
              <a:rPr lang="ru" sz="1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Нет гарантии, что зависимость будет установлена.</a:t>
            </a:r>
            <a:endParaRPr sz="16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ontserrat"/>
              <a:buChar char="-"/>
            </a:pPr>
            <a:r>
              <a:rPr lang="ru" sz="1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Может привести к ошибкам, если забыть задать свойство.</a:t>
            </a:r>
            <a:endParaRPr sz="16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99" name="Google Shape;9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48601" y="632100"/>
            <a:ext cx="4176051" cy="45114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9"/>
          <p:cNvSpPr txBox="1"/>
          <p:nvPr/>
        </p:nvSpPr>
        <p:spPr>
          <a:xfrm>
            <a:off x="310950" y="294175"/>
            <a:ext cx="7160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Основные способы внедрения зависимостей</a:t>
            </a:r>
            <a:endParaRPr b="1" sz="1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5" name="Google Shape;105;p19"/>
          <p:cNvSpPr txBox="1"/>
          <p:nvPr/>
        </p:nvSpPr>
        <p:spPr>
          <a:xfrm>
            <a:off x="428850" y="646618"/>
            <a:ext cx="3739800" cy="7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lang="ru" sz="1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3. Внедрение через метод (Method Injection)</a:t>
            </a:r>
            <a:endParaRPr sz="16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6" name="Google Shape;106;p19"/>
          <p:cNvSpPr txBox="1"/>
          <p:nvPr/>
        </p:nvSpPr>
        <p:spPr>
          <a:xfrm>
            <a:off x="420424" y="1269065"/>
            <a:ext cx="3655800" cy="38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Плюсы:</a:t>
            </a:r>
            <a:endParaRPr b="1" sz="15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Montserrat"/>
              <a:buChar char="-"/>
            </a:pPr>
            <a:r>
              <a:rPr lang="ru" sz="15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Полезно, когда зависимость нужна только для конкретной операции;</a:t>
            </a:r>
            <a:endParaRPr sz="15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Montserrat"/>
              <a:buChar char="-"/>
            </a:pPr>
            <a:r>
              <a:rPr lang="ru" sz="15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Не загружает конструктор или поля класса.</a:t>
            </a:r>
            <a:endParaRPr sz="15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Минусы:</a:t>
            </a:r>
            <a:endParaRPr b="1" sz="15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Montserrat"/>
              <a:buChar char="-"/>
            </a:pPr>
            <a:r>
              <a:rPr lang="ru" sz="15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Зависимость нужно передавать вручную при каждом вызове метода;</a:t>
            </a:r>
            <a:endParaRPr sz="15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Montserrat"/>
              <a:buChar char="-"/>
            </a:pPr>
            <a:r>
              <a:rPr lang="ru" sz="15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Не поддерживается напрямую DI-контейнерами (без дополнительной логики).</a:t>
            </a:r>
            <a:endParaRPr sz="15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07" name="Google Shape;10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04225" y="866250"/>
            <a:ext cx="4490482" cy="40828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0"/>
          <p:cNvSpPr txBox="1"/>
          <p:nvPr/>
        </p:nvSpPr>
        <p:spPr>
          <a:xfrm>
            <a:off x="285724" y="663415"/>
            <a:ext cx="8110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В ASP.NET Core можно выбрать, как долго живёт экземпляр сервиса.</a:t>
            </a:r>
            <a:endParaRPr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Это задаётся при регистрации зависимости в IServiceCollection.</a:t>
            </a:r>
            <a:endParaRPr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3" name="Google Shape;113;p20"/>
          <p:cNvSpPr txBox="1"/>
          <p:nvPr/>
        </p:nvSpPr>
        <p:spPr>
          <a:xfrm>
            <a:off x="285725" y="243725"/>
            <a:ext cx="5303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Времена жизни (Service Lifetime)</a:t>
            </a:r>
            <a:endParaRPr b="1" sz="1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114" name="Google Shape;114;p20"/>
          <p:cNvGraphicFramePr/>
          <p:nvPr/>
        </p:nvGraphicFramePr>
        <p:xfrm>
          <a:off x="952500" y="1324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{A8C1D15D-E746-4768-82B4-63B54C39DC1A}</a:tableStyleId>
              </a:tblPr>
              <a:tblGrid>
                <a:gridCol w="2413000"/>
                <a:gridCol w="2413000"/>
                <a:gridCol w="24130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Lifetime</a:t>
                      </a:r>
                      <a:endParaRPr b="1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Метод регистрации</a:t>
                      </a:r>
                      <a:endParaRPr b="1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Время жизни</a:t>
                      </a:r>
                      <a:endParaRPr b="1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Transient</a:t>
                      </a:r>
                      <a:endParaRPr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AddTransient</a:t>
                      </a:r>
                      <a:endParaRPr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Создаётся каждый раз при запросе</a:t>
                      </a:r>
                      <a:endParaRPr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Scoped</a:t>
                      </a:r>
                      <a:endParaRPr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AddScoped</a:t>
                      </a:r>
                      <a:endParaRPr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Один на весь HTTP-запрос</a:t>
                      </a:r>
                      <a:endParaRPr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Singleton</a:t>
                      </a:r>
                      <a:endParaRPr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AddSingleton</a:t>
                      </a:r>
                      <a:endParaRPr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Один экземпляр на всё приложение</a:t>
                      </a:r>
                      <a:endParaRPr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pic>
        <p:nvPicPr>
          <p:cNvPr id="115" name="Google Shape;11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99650" y="3744128"/>
            <a:ext cx="4944710" cy="1154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1"/>
          <p:cNvSpPr txBox="1"/>
          <p:nvPr/>
        </p:nvSpPr>
        <p:spPr>
          <a:xfrm>
            <a:off x="285724" y="790012"/>
            <a:ext cx="8110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В ASP.NET Core DI встроен в инфраструктуру фреймворка.</a:t>
            </a:r>
            <a:endParaRPr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Регистрация всех зависимостей выполняется в методе Program.cs</a:t>
            </a:r>
            <a:endParaRPr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1" name="Google Shape;121;p21"/>
          <p:cNvSpPr txBox="1"/>
          <p:nvPr/>
        </p:nvSpPr>
        <p:spPr>
          <a:xfrm>
            <a:off x="285725" y="243725"/>
            <a:ext cx="5303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Dependency Injection в ASP.NET Core</a:t>
            </a:r>
            <a:endParaRPr b="1" sz="1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22" name="Google Shape;12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46300" y="1405612"/>
            <a:ext cx="6051412" cy="34330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2"/>
          <p:cNvSpPr txBox="1"/>
          <p:nvPr/>
        </p:nvSpPr>
        <p:spPr>
          <a:xfrm>
            <a:off x="285725" y="243725"/>
            <a:ext cx="5303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Dependency Injection в ASP.NET Core</a:t>
            </a:r>
            <a:endParaRPr b="1" sz="1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28" name="Google Shape;128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32113" y="705425"/>
            <a:ext cx="3679763" cy="4133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3"/>
          <p:cNvSpPr txBox="1"/>
          <p:nvPr/>
        </p:nvSpPr>
        <p:spPr>
          <a:xfrm>
            <a:off x="285725" y="243725"/>
            <a:ext cx="6564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Использование зависимостей в контроллере</a:t>
            </a:r>
            <a:endParaRPr b="1" sz="1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34" name="Google Shape;134;p23"/>
          <p:cNvPicPr preferRelativeResize="0"/>
          <p:nvPr/>
        </p:nvPicPr>
        <p:blipFill rotWithShape="1">
          <a:blip r:embed="rId3">
            <a:alphaModFix/>
          </a:blip>
          <a:srcRect b="0" l="-1420" r="1419" t="0"/>
          <a:stretch/>
        </p:blipFill>
        <p:spPr>
          <a:xfrm>
            <a:off x="2026575" y="664525"/>
            <a:ext cx="4949988" cy="4133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pearmint">
  <a:themeElements>
    <a:clrScheme name="Spearmint">
      <a:dk1>
        <a:srgbClr val="202729"/>
      </a:dk1>
      <a:lt1>
        <a:srgbClr val="FFFFFF"/>
      </a:lt1>
      <a:dk2>
        <a:srgbClr val="4BA173"/>
      </a:dk2>
      <a:lt2>
        <a:srgbClr val="63D297"/>
      </a:lt2>
      <a:accent1>
        <a:srgbClr val="353744"/>
      </a:accent1>
      <a:accent2>
        <a:srgbClr val="424242"/>
      </a:accent2>
      <a:accent3>
        <a:srgbClr val="616161"/>
      </a:accent3>
      <a:accent4>
        <a:srgbClr val="999999"/>
      </a:accent4>
      <a:accent5>
        <a:srgbClr val="FF5252"/>
      </a:accent5>
      <a:accent6>
        <a:srgbClr val="FFF176"/>
      </a:accent6>
      <a:hlink>
        <a:srgbClr val="FF5252"/>
      </a:hlink>
      <a:folHlink>
        <a:srgbClr val="FF525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