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873abebbd2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873abebbd2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873abebbd2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873abebbd2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873abebbd2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873abebbd2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873abebbd2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873abebbd2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873abebbd2_0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3873abebbd2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873abebbd2_0_2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873abebbd2_0_2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873abebbd2_0_2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3873abebbd2_0_2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873abebbd2_0_2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3873abebbd2_0_2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873abebbd2_0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3873abebbd2_0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873abebbd2_0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3873abebbd2_0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873abebbd2_0_1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3873abebbd2_0_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873abebbd2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3873abebbd2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873abebbd2_0_1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3873abebbd2_0_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873abebbd2_0_1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3873abebbd2_0_1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873abebbd2_0_1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3873abebbd2_0_1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873abebbd2_0_1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3873abebbd2_0_1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3873abebbd2_0_2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3873abebbd2_0_2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873abebbd2_0_1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3873abebbd2_0_1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873abebbd2_0_1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3873abebbd2_0_1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3873abebbd2_0_1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3873abebbd2_0_1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3876256a4d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1" name="Google Shape;221;g3876256a4d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25"/>
            <a:ext cx="45720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dk1"/>
              </a:buClr>
              <a:buSzPts val="1800"/>
              <a:buChar char="●"/>
              <a:defRPr>
                <a:solidFill>
                  <a:schemeClr val="dk1"/>
                </a:solidFill>
              </a:defRPr>
            </a:lvl1pPr>
            <a:lvl2pPr indent="-317500" lvl="1" marL="914400">
              <a:spcBef>
                <a:spcPts val="0"/>
              </a:spcBef>
              <a:spcAft>
                <a:spcPts val="0"/>
              </a:spcAft>
              <a:buClr>
                <a:schemeClr val="dk1"/>
              </a:buClr>
              <a:buSzPts val="1400"/>
              <a:buChar char="○"/>
              <a:defRPr>
                <a:solidFill>
                  <a:schemeClr val="dk1"/>
                </a:solidFill>
              </a:defRPr>
            </a:lvl2pPr>
            <a:lvl3pPr indent="-317500" lvl="2" marL="1371600">
              <a:spcBef>
                <a:spcPts val="0"/>
              </a:spcBef>
              <a:spcAft>
                <a:spcPts val="0"/>
              </a:spcAft>
              <a:buClr>
                <a:schemeClr val="dk1"/>
              </a:buClr>
              <a:buSzPts val="1400"/>
              <a:buChar char="■"/>
              <a:defRPr>
                <a:solidFill>
                  <a:schemeClr val="dk1"/>
                </a:solidFill>
              </a:defRPr>
            </a:lvl3pPr>
            <a:lvl4pPr indent="-317500" lvl="3" marL="1828800">
              <a:spcBef>
                <a:spcPts val="0"/>
              </a:spcBef>
              <a:spcAft>
                <a:spcPts val="0"/>
              </a:spcAft>
              <a:buClr>
                <a:schemeClr val="dk1"/>
              </a:buClr>
              <a:buSzPts val="1400"/>
              <a:buChar char="●"/>
              <a:defRPr>
                <a:solidFill>
                  <a:schemeClr val="dk1"/>
                </a:solidFill>
              </a:defRPr>
            </a:lvl4pPr>
            <a:lvl5pPr indent="-317500" lvl="4" marL="2286000">
              <a:spcBef>
                <a:spcPts val="0"/>
              </a:spcBef>
              <a:spcAft>
                <a:spcPts val="0"/>
              </a:spcAft>
              <a:buClr>
                <a:schemeClr val="dk1"/>
              </a:buClr>
              <a:buSzPts val="1400"/>
              <a:buChar char="○"/>
              <a:defRPr>
                <a:solidFill>
                  <a:schemeClr val="dk1"/>
                </a:solidFill>
              </a:defRPr>
            </a:lvl5pPr>
            <a:lvl6pPr indent="-317500" lvl="5" marL="2743200">
              <a:spcBef>
                <a:spcPts val="0"/>
              </a:spcBef>
              <a:spcAft>
                <a:spcPts val="0"/>
              </a:spcAft>
              <a:buClr>
                <a:schemeClr val="dk1"/>
              </a:buClr>
              <a:buSzPts val="1400"/>
              <a:buChar char="■"/>
              <a:defRPr>
                <a:solidFill>
                  <a:schemeClr val="dk1"/>
                </a:solidFill>
              </a:defRPr>
            </a:lvl6pPr>
            <a:lvl7pPr indent="-317500" lvl="6" marL="3200400">
              <a:spcBef>
                <a:spcPts val="0"/>
              </a:spcBef>
              <a:spcAft>
                <a:spcPts val="0"/>
              </a:spcAft>
              <a:buClr>
                <a:schemeClr val="dk1"/>
              </a:buClr>
              <a:buSzPts val="1400"/>
              <a:buChar char="●"/>
              <a:defRPr>
                <a:solidFill>
                  <a:schemeClr val="dk1"/>
                </a:solidFill>
              </a:defRPr>
            </a:lvl7pPr>
            <a:lvl8pPr indent="-317500" lvl="7" marL="3657600">
              <a:spcBef>
                <a:spcPts val="0"/>
              </a:spcBef>
              <a:spcAft>
                <a:spcPts val="0"/>
              </a:spcAft>
              <a:buClr>
                <a:schemeClr val="dk1"/>
              </a:buClr>
              <a:buSzPts val="1400"/>
              <a:buChar char="○"/>
              <a:defRPr>
                <a:solidFill>
                  <a:schemeClr val="dk1"/>
                </a:solidFill>
              </a:defRPr>
            </a:lvl8pPr>
            <a:lvl9pPr indent="-317500" lvl="8" marL="4114800">
              <a:spcBef>
                <a:spcPts val="0"/>
              </a:spcBef>
              <a:spcAft>
                <a:spcPts val="0"/>
              </a:spcAft>
              <a:buClr>
                <a:schemeClr val="dk1"/>
              </a:buClr>
              <a:buSzPts val="1400"/>
              <a:buChar char="■"/>
              <a:defRPr>
                <a:solidFill>
                  <a:schemeClr val="dk1"/>
                </a:solidFill>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dark-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2"/>
              </a:buClr>
              <a:buSzPts val="1800"/>
              <a:buChar char="●"/>
              <a:defRPr sz="1800">
                <a:solidFill>
                  <a:schemeClr val="lt2"/>
                </a:solidFill>
              </a:defRPr>
            </a:lvl1pPr>
            <a:lvl2pPr indent="-317500" lvl="1" marL="914400">
              <a:lnSpc>
                <a:spcPct val="115000"/>
              </a:lnSpc>
              <a:spcBef>
                <a:spcPts val="0"/>
              </a:spcBef>
              <a:spcAft>
                <a:spcPts val="0"/>
              </a:spcAft>
              <a:buClr>
                <a:schemeClr val="lt2"/>
              </a:buClr>
              <a:buSzPts val="1400"/>
              <a:buChar char="○"/>
              <a:defRPr>
                <a:solidFill>
                  <a:schemeClr val="lt2"/>
                </a:solidFill>
              </a:defRPr>
            </a:lvl2pPr>
            <a:lvl3pPr indent="-317500" lvl="2" marL="1371600">
              <a:lnSpc>
                <a:spcPct val="115000"/>
              </a:lnSpc>
              <a:spcBef>
                <a:spcPts val="0"/>
              </a:spcBef>
              <a:spcAft>
                <a:spcPts val="0"/>
              </a:spcAft>
              <a:buClr>
                <a:schemeClr val="lt2"/>
              </a:buClr>
              <a:buSzPts val="1400"/>
              <a:buChar char="■"/>
              <a:defRPr>
                <a:solidFill>
                  <a:schemeClr val="lt2"/>
                </a:solidFill>
              </a:defRPr>
            </a:lvl3pPr>
            <a:lvl4pPr indent="-317500" lvl="3" marL="1828800">
              <a:lnSpc>
                <a:spcPct val="115000"/>
              </a:lnSpc>
              <a:spcBef>
                <a:spcPts val="0"/>
              </a:spcBef>
              <a:spcAft>
                <a:spcPts val="0"/>
              </a:spcAft>
              <a:buClr>
                <a:schemeClr val="lt2"/>
              </a:buClr>
              <a:buSzPts val="1400"/>
              <a:buChar char="●"/>
              <a:defRPr>
                <a:solidFill>
                  <a:schemeClr val="lt2"/>
                </a:solidFill>
              </a:defRPr>
            </a:lvl4pPr>
            <a:lvl5pPr indent="-317500" lvl="4" marL="2286000">
              <a:lnSpc>
                <a:spcPct val="115000"/>
              </a:lnSpc>
              <a:spcBef>
                <a:spcPts val="0"/>
              </a:spcBef>
              <a:spcAft>
                <a:spcPts val="0"/>
              </a:spcAft>
              <a:buClr>
                <a:schemeClr val="lt2"/>
              </a:buClr>
              <a:buSzPts val="1400"/>
              <a:buChar char="○"/>
              <a:defRPr>
                <a:solidFill>
                  <a:schemeClr val="lt2"/>
                </a:solidFill>
              </a:defRPr>
            </a:lvl5pPr>
            <a:lvl6pPr indent="-317500" lvl="5" marL="2743200">
              <a:lnSpc>
                <a:spcPct val="115000"/>
              </a:lnSpc>
              <a:spcBef>
                <a:spcPts val="0"/>
              </a:spcBef>
              <a:spcAft>
                <a:spcPts val="0"/>
              </a:spcAft>
              <a:buClr>
                <a:schemeClr val="lt2"/>
              </a:buClr>
              <a:buSzPts val="1400"/>
              <a:buChar char="■"/>
              <a:defRPr>
                <a:solidFill>
                  <a:schemeClr val="lt2"/>
                </a:solidFill>
              </a:defRPr>
            </a:lvl6pPr>
            <a:lvl7pPr indent="-317500" lvl="6" marL="3200400">
              <a:lnSpc>
                <a:spcPct val="115000"/>
              </a:lnSpc>
              <a:spcBef>
                <a:spcPts val="0"/>
              </a:spcBef>
              <a:spcAft>
                <a:spcPts val="0"/>
              </a:spcAft>
              <a:buClr>
                <a:schemeClr val="lt2"/>
              </a:buClr>
              <a:buSzPts val="1400"/>
              <a:buChar char="●"/>
              <a:defRPr>
                <a:solidFill>
                  <a:schemeClr val="lt2"/>
                </a:solidFill>
              </a:defRPr>
            </a:lvl7pPr>
            <a:lvl8pPr indent="-317500" lvl="7" marL="3657600">
              <a:lnSpc>
                <a:spcPct val="115000"/>
              </a:lnSpc>
              <a:spcBef>
                <a:spcPts val="0"/>
              </a:spcBef>
              <a:spcAft>
                <a:spcPts val="0"/>
              </a:spcAft>
              <a:buClr>
                <a:schemeClr val="lt2"/>
              </a:buClr>
              <a:buSzPts val="1400"/>
              <a:buChar char="○"/>
              <a:defRPr>
                <a:solidFill>
                  <a:schemeClr val="lt2"/>
                </a:solidFill>
              </a:defRPr>
            </a:lvl8pPr>
            <a:lvl9pPr indent="-317500" lvl="8" marL="4114800">
              <a:lnSpc>
                <a:spcPct val="115000"/>
              </a:lnSpc>
              <a:spcBef>
                <a:spcPts val="0"/>
              </a:spcBef>
              <a:spcAft>
                <a:spcPts val="0"/>
              </a:spcAft>
              <a:buClr>
                <a:schemeClr val="lt2"/>
              </a:buClr>
              <a:buSzPts val="1400"/>
              <a:buChar char="■"/>
              <a:defRPr>
                <a:solidFill>
                  <a:schemeClr val="lt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2"/>
                </a:solidFill>
              </a:defRPr>
            </a:lvl1pPr>
            <a:lvl2pPr lvl="1" algn="r">
              <a:buNone/>
              <a:defRPr sz="1000">
                <a:solidFill>
                  <a:schemeClr val="lt2"/>
                </a:solidFill>
              </a:defRPr>
            </a:lvl2pPr>
            <a:lvl3pPr lvl="2" algn="r">
              <a:buNone/>
              <a:defRPr sz="1000">
                <a:solidFill>
                  <a:schemeClr val="lt2"/>
                </a:solidFill>
              </a:defRPr>
            </a:lvl3pPr>
            <a:lvl4pPr lvl="3" algn="r">
              <a:buNone/>
              <a:defRPr sz="1000">
                <a:solidFill>
                  <a:schemeClr val="lt2"/>
                </a:solidFill>
              </a:defRPr>
            </a:lvl4pPr>
            <a:lvl5pPr lvl="4" algn="r">
              <a:buNone/>
              <a:defRPr sz="1000">
                <a:solidFill>
                  <a:schemeClr val="lt2"/>
                </a:solidFill>
              </a:defRPr>
            </a:lvl5pPr>
            <a:lvl6pPr lvl="5" algn="r">
              <a:buNone/>
              <a:defRPr sz="1000">
                <a:solidFill>
                  <a:schemeClr val="lt2"/>
                </a:solidFill>
              </a:defRPr>
            </a:lvl6pPr>
            <a:lvl7pPr lvl="6" algn="r">
              <a:buNone/>
              <a:defRPr sz="1000">
                <a:solidFill>
                  <a:schemeClr val="lt2"/>
                </a:solidFill>
              </a:defRPr>
            </a:lvl7pPr>
            <a:lvl8pPr lvl="7" algn="r">
              <a:buNone/>
              <a:defRPr sz="1000">
                <a:solidFill>
                  <a:schemeClr val="lt2"/>
                </a:solidFill>
              </a:defRPr>
            </a:lvl8pPr>
            <a:lvl9pPr lvl="8" algn="r">
              <a:buNone/>
              <a:defRPr sz="1000">
                <a:solidFill>
                  <a:schemeClr val="lt2"/>
                </a:solidFill>
              </a:defRPr>
            </a:lvl9pPr>
          </a:lstStyle>
          <a:p>
            <a:pPr indent="0" lvl="0" marL="0" rtl="0" algn="r">
              <a:spcBef>
                <a:spcPts val="0"/>
              </a:spcBef>
              <a:spcAft>
                <a:spcPts val="0"/>
              </a:spcAft>
              <a:buNone/>
            </a:pPr>
            <a:fld id="{00000000-1234-1234-1234-123412341234}" type="slidenum">
              <a:rPr lang="ru"/>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asp.net"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0.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1.png"/><Relationship Id="rId4" Type="http://schemas.openxmlformats.org/officeDocument/2006/relationships/image" Target="../media/image11.png"/><Relationship Id="rId5"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4.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8.png"/><Relationship Id="rId4" Type="http://schemas.openxmlformats.org/officeDocument/2006/relationships/image" Target="../media/image2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5.png"/><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3.png"/><Relationship Id="rId4" Type="http://schemas.openxmlformats.org/officeDocument/2006/relationships/image" Target="../media/image25.png"/><Relationship Id="rId5" Type="http://schemas.openxmlformats.org/officeDocument/2006/relationships/image" Target="../media/image17.png"/><Relationship Id="rId6"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32.png"/><Relationship Id="rId4" Type="http://schemas.openxmlformats.org/officeDocument/2006/relationships/image" Target="../media/image26.png"/><Relationship Id="rId5" Type="http://schemas.openxmlformats.org/officeDocument/2006/relationships/image" Target="../media/image1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2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22.png"/><Relationship Id="rId4" Type="http://schemas.openxmlformats.org/officeDocument/2006/relationships/image" Target="../media/image27.png"/><Relationship Id="rId5" Type="http://schemas.openxmlformats.org/officeDocument/2006/relationships/image" Target="../media/image37.png"/><Relationship Id="rId6" Type="http://schemas.openxmlformats.org/officeDocument/2006/relationships/image" Target="../media/image2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35.png"/><Relationship Id="rId4" Type="http://schemas.openxmlformats.org/officeDocument/2006/relationships/image" Target="../media/image3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34.png"/><Relationship Id="rId4" Type="http://schemas.openxmlformats.org/officeDocument/2006/relationships/image" Target="../media/image31.png"/><Relationship Id="rId5" Type="http://schemas.openxmlformats.org/officeDocument/2006/relationships/image" Target="../media/image3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33.png"/><Relationship Id="rId4" Type="http://schemas.openxmlformats.org/officeDocument/2006/relationships/image" Target="../media/image3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b="1" lang="ru"/>
              <a:t>Фильтры в </a:t>
            </a:r>
            <a:r>
              <a:rPr b="1" lang="ru" u="sng">
                <a:solidFill>
                  <a:schemeClr val="hlink"/>
                </a:solidFill>
                <a:hlinkClick r:id="rId3"/>
              </a:rPr>
              <a:t>ASP.NET</a:t>
            </a:r>
            <a:r>
              <a:rPr b="1" lang="ru"/>
              <a:t> Core</a:t>
            </a:r>
            <a:endParaRPr b="1"/>
          </a:p>
        </p:txBody>
      </p:sp>
      <p:sp>
        <p:nvSpPr>
          <p:cNvPr id="55" name="Google Shape;55;p13"/>
          <p:cNvSpPr txBox="1"/>
          <p:nvPr>
            <p:ph idx="1" type="subTitle"/>
          </p:nvPr>
        </p:nvSpPr>
        <p:spPr>
          <a:xfrm>
            <a:off x="6329000" y="4552850"/>
            <a:ext cx="2814900" cy="590700"/>
          </a:xfrm>
          <a:prstGeom prst="rect">
            <a:avLst/>
          </a:prstGeom>
        </p:spPr>
        <p:txBody>
          <a:bodyPr anchorCtr="0" anchor="t" bIns="91425" lIns="91425" spcFirstLastPara="1" rIns="91425" wrap="square" tIns="91425">
            <a:normAutofit fontScale="92500" lnSpcReduction="20000"/>
          </a:bodyPr>
          <a:lstStyle/>
          <a:p>
            <a:pPr indent="0" lvl="0" marL="0" rtl="0" algn="r">
              <a:spcBef>
                <a:spcPts val="0"/>
              </a:spcBef>
              <a:spcAft>
                <a:spcPts val="0"/>
              </a:spcAft>
              <a:buNone/>
            </a:pPr>
            <a:r>
              <a:rPr lang="ru" sz="1800"/>
              <a:t>Лопатин Никита 11-409</a:t>
            </a:r>
            <a:endParaRPr sz="1800"/>
          </a:p>
          <a:p>
            <a:pPr indent="0" lvl="0" marL="0" rtl="0" algn="r">
              <a:spcBef>
                <a:spcPts val="0"/>
              </a:spcBef>
              <a:spcAft>
                <a:spcPts val="0"/>
              </a:spcAft>
              <a:buNone/>
            </a:pPr>
            <a:r>
              <a:rPr lang="ru" sz="1800"/>
              <a:t>Генералов Виктор 11-409</a:t>
            </a:r>
            <a:endParaRPr sz="18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Введение: что такое фильтры</a:t>
            </a:r>
            <a:endParaRPr/>
          </a:p>
          <a:p>
            <a:pPr indent="0" lvl="0" marL="0" rtl="0" algn="l">
              <a:spcBef>
                <a:spcPts val="0"/>
              </a:spcBef>
              <a:spcAft>
                <a:spcPts val="0"/>
              </a:spcAft>
              <a:buNone/>
            </a:pPr>
            <a:r>
              <a:t/>
            </a:r>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70000" lnSpcReduction="10000"/>
          </a:bodyPr>
          <a:lstStyle/>
          <a:p>
            <a:pPr indent="457200" lvl="0" marL="0" rtl="0" algn="l">
              <a:lnSpc>
                <a:spcPct val="100000"/>
              </a:lnSpc>
              <a:spcBef>
                <a:spcPts val="640"/>
              </a:spcBef>
              <a:spcAft>
                <a:spcPts val="0"/>
              </a:spcAft>
              <a:buNone/>
            </a:pPr>
            <a:r>
              <a:rPr lang="ru">
                <a:solidFill>
                  <a:schemeClr val="dk1"/>
                </a:solidFill>
              </a:rPr>
              <a:t>Фильтры действий в ASP.NET Core — это атрибуты, которые могут быть применены к методам действий контроллера (controller action methods) для выполнения предварительной или последующей обработки для этих методов. Они позволяют добавлять функционал, который будет выполняется до или после выполнения методов контроллера. Фильтры действий могут использоваться для реализации таких сквозных задач, как протоколирование, аутентификация, кэширование и т.д.</a:t>
            </a:r>
            <a:endParaRPr>
              <a:solidFill>
                <a:schemeClr val="dk1"/>
              </a:solidFill>
            </a:endParaRPr>
          </a:p>
          <a:p>
            <a:pPr indent="0" lvl="0" marL="0" rtl="0" algn="l">
              <a:lnSpc>
                <a:spcPct val="100000"/>
              </a:lnSpc>
              <a:spcBef>
                <a:spcPts val="640"/>
              </a:spcBef>
              <a:spcAft>
                <a:spcPts val="0"/>
              </a:spcAft>
              <a:buNone/>
            </a:pPr>
            <a:r>
              <a:t/>
            </a:r>
            <a:endParaRPr>
              <a:solidFill>
                <a:schemeClr val="dk1"/>
              </a:solidFill>
            </a:endParaRPr>
          </a:p>
          <a:p>
            <a:pPr indent="0" lvl="0" marL="0" rtl="0" algn="l">
              <a:lnSpc>
                <a:spcPct val="100000"/>
              </a:lnSpc>
              <a:spcBef>
                <a:spcPts val="640"/>
              </a:spcBef>
              <a:spcAft>
                <a:spcPts val="0"/>
              </a:spcAft>
              <a:buNone/>
            </a:pPr>
            <a:r>
              <a:rPr lang="ru">
                <a:solidFill>
                  <a:schemeClr val="dk1"/>
                </a:solidFill>
              </a:rPr>
              <a:t>В ASP.NET Core существует целых пять типов фильтров действий:</a:t>
            </a:r>
            <a:endParaRPr>
              <a:solidFill>
                <a:schemeClr val="dk1"/>
              </a:solidFill>
            </a:endParaRPr>
          </a:p>
          <a:p>
            <a:pPr indent="-308610" lvl="0" marL="457200" rtl="0" algn="l">
              <a:lnSpc>
                <a:spcPct val="100000"/>
              </a:lnSpc>
              <a:spcBef>
                <a:spcPts val="640"/>
              </a:spcBef>
              <a:spcAft>
                <a:spcPts val="0"/>
              </a:spcAft>
              <a:buClr>
                <a:schemeClr val="dk1"/>
              </a:buClr>
              <a:buSzPct val="100000"/>
              <a:buChar char="●"/>
            </a:pPr>
            <a:r>
              <a:rPr lang="ru">
                <a:solidFill>
                  <a:schemeClr val="dk1"/>
                </a:solidFill>
              </a:rPr>
              <a:t>Фильтры авторизации (Authorization Filter)</a:t>
            </a:r>
            <a:endParaRPr>
              <a:solidFill>
                <a:schemeClr val="dk1"/>
              </a:solidFill>
            </a:endParaRPr>
          </a:p>
          <a:p>
            <a:pPr indent="-308610" lvl="0" marL="457200" rtl="0" algn="l">
              <a:lnSpc>
                <a:spcPct val="100000"/>
              </a:lnSpc>
              <a:spcBef>
                <a:spcPts val="0"/>
              </a:spcBef>
              <a:spcAft>
                <a:spcPts val="0"/>
              </a:spcAft>
              <a:buClr>
                <a:schemeClr val="dk1"/>
              </a:buClr>
              <a:buSzPct val="100000"/>
              <a:buChar char="●"/>
            </a:pPr>
            <a:r>
              <a:rPr lang="ru">
                <a:solidFill>
                  <a:schemeClr val="dk1"/>
                </a:solidFill>
              </a:rPr>
              <a:t>Фильтры ресурсов (Resource Filter)</a:t>
            </a:r>
            <a:endParaRPr>
              <a:solidFill>
                <a:schemeClr val="dk1"/>
              </a:solidFill>
            </a:endParaRPr>
          </a:p>
          <a:p>
            <a:pPr indent="-308610" lvl="0" marL="457200" rtl="0" algn="l">
              <a:lnSpc>
                <a:spcPct val="100000"/>
              </a:lnSpc>
              <a:spcBef>
                <a:spcPts val="0"/>
              </a:spcBef>
              <a:spcAft>
                <a:spcPts val="0"/>
              </a:spcAft>
              <a:buClr>
                <a:schemeClr val="dk1"/>
              </a:buClr>
              <a:buSzPct val="100000"/>
              <a:buChar char="●"/>
            </a:pPr>
            <a:r>
              <a:rPr lang="ru">
                <a:solidFill>
                  <a:schemeClr val="dk1"/>
                </a:solidFill>
              </a:rPr>
              <a:t>Фильтры действий (Action Filter)</a:t>
            </a:r>
            <a:endParaRPr>
              <a:solidFill>
                <a:schemeClr val="dk1"/>
              </a:solidFill>
            </a:endParaRPr>
          </a:p>
          <a:p>
            <a:pPr indent="-308610" lvl="0" marL="457200" rtl="0" algn="l">
              <a:lnSpc>
                <a:spcPct val="100000"/>
              </a:lnSpc>
              <a:spcBef>
                <a:spcPts val="0"/>
              </a:spcBef>
              <a:spcAft>
                <a:spcPts val="0"/>
              </a:spcAft>
              <a:buClr>
                <a:schemeClr val="dk1"/>
              </a:buClr>
              <a:buSzPct val="100000"/>
              <a:buChar char="●"/>
            </a:pPr>
            <a:r>
              <a:rPr lang="ru">
                <a:solidFill>
                  <a:schemeClr val="dk1"/>
                </a:solidFill>
              </a:rPr>
              <a:t>Фильтры результатов (Result Filter)</a:t>
            </a:r>
            <a:endParaRPr>
              <a:solidFill>
                <a:schemeClr val="dk1"/>
              </a:solidFill>
            </a:endParaRPr>
          </a:p>
          <a:p>
            <a:pPr indent="-308610" lvl="0" marL="457200" rtl="0" algn="l">
              <a:lnSpc>
                <a:spcPct val="100000"/>
              </a:lnSpc>
              <a:spcBef>
                <a:spcPts val="0"/>
              </a:spcBef>
              <a:spcAft>
                <a:spcPts val="0"/>
              </a:spcAft>
              <a:buClr>
                <a:schemeClr val="dk1"/>
              </a:buClr>
              <a:buSzPct val="100000"/>
              <a:buChar char="●"/>
            </a:pPr>
            <a:r>
              <a:rPr lang="ru">
                <a:solidFill>
                  <a:schemeClr val="dk1"/>
                </a:solidFill>
              </a:rPr>
              <a:t>Фильтры исключений (Exception Filter)</a:t>
            </a:r>
            <a:endParaRPr>
              <a:solidFill>
                <a:schemeClr val="dk1"/>
              </a:solidFill>
            </a:endParaRPr>
          </a:p>
          <a:p>
            <a:pPr indent="0" lvl="0" marL="457200" rtl="0" algn="l">
              <a:lnSpc>
                <a:spcPct val="100000"/>
              </a:lnSpc>
              <a:spcBef>
                <a:spcPts val="640"/>
              </a:spcBef>
              <a:spcAft>
                <a:spcPts val="0"/>
              </a:spcAft>
              <a:buNone/>
            </a:pPr>
            <a:r>
              <a:t/>
            </a:r>
            <a:endParaRPr>
              <a:solidFill>
                <a:schemeClr val="dk1"/>
              </a:solidFill>
            </a:endParaRPr>
          </a:p>
          <a:p>
            <a:pPr indent="0" lvl="0" marL="0" rtl="0" algn="l">
              <a:spcBef>
                <a:spcPts val="0"/>
              </a:spcBef>
              <a:spcAft>
                <a:spcPts val="0"/>
              </a:spcAft>
              <a:buNone/>
            </a:pPr>
            <a:r>
              <a:rPr lang="ru">
                <a:solidFill>
                  <a:schemeClr val="dk1"/>
                </a:solidFill>
              </a:rPr>
              <a:t>Порядок выполнения:</a:t>
            </a:r>
            <a:endParaRPr>
              <a:solidFill>
                <a:schemeClr val="dk1"/>
              </a:solidFill>
            </a:endParaRPr>
          </a:p>
          <a:p>
            <a:pPr indent="0" lvl="0" marL="0" rtl="0" algn="l">
              <a:spcBef>
                <a:spcPts val="1200"/>
              </a:spcBef>
              <a:spcAft>
                <a:spcPts val="1200"/>
              </a:spcAft>
              <a:buNone/>
            </a:pPr>
            <a:r>
              <a:rPr lang="ru">
                <a:solidFill>
                  <a:srgbClr val="A4C2F4"/>
                </a:solidFill>
              </a:rPr>
              <a:t>Authorization </a:t>
            </a:r>
            <a:r>
              <a:rPr lang="ru">
                <a:solidFill>
                  <a:schemeClr val="dk1"/>
                </a:solidFill>
              </a:rPr>
              <a:t>→</a:t>
            </a:r>
            <a:r>
              <a:rPr lang="ru">
                <a:solidFill>
                  <a:srgbClr val="A4C2F4"/>
                </a:solidFill>
              </a:rPr>
              <a:t> Resource </a:t>
            </a:r>
            <a:r>
              <a:rPr lang="ru">
                <a:solidFill>
                  <a:schemeClr val="dk1"/>
                </a:solidFill>
              </a:rPr>
              <a:t>→</a:t>
            </a:r>
            <a:r>
              <a:rPr lang="ru">
                <a:solidFill>
                  <a:srgbClr val="A4C2F4"/>
                </a:solidFill>
              </a:rPr>
              <a:t> Action </a:t>
            </a:r>
            <a:r>
              <a:rPr lang="ru">
                <a:solidFill>
                  <a:schemeClr val="dk1"/>
                </a:solidFill>
              </a:rPr>
              <a:t>→</a:t>
            </a:r>
            <a:r>
              <a:rPr lang="ru">
                <a:solidFill>
                  <a:srgbClr val="A4C2F4"/>
                </a:solidFill>
              </a:rPr>
              <a:t> Exception </a:t>
            </a:r>
            <a:r>
              <a:rPr lang="ru">
                <a:solidFill>
                  <a:schemeClr val="dk1"/>
                </a:solidFill>
              </a:rPr>
              <a:t>→</a:t>
            </a:r>
            <a:r>
              <a:rPr lang="ru">
                <a:solidFill>
                  <a:srgbClr val="A4C2F4"/>
                </a:solidFill>
              </a:rPr>
              <a:t> Result</a:t>
            </a:r>
            <a:endParaRPr>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Концептуальное понимание</a:t>
            </a:r>
            <a:endParaRPr/>
          </a:p>
        </p:txBody>
      </p:sp>
      <p:pic>
        <p:nvPicPr>
          <p:cNvPr id="67" name="Google Shape;67;p15"/>
          <p:cNvPicPr preferRelativeResize="0"/>
          <p:nvPr/>
        </p:nvPicPr>
        <p:blipFill>
          <a:blip r:embed="rId3">
            <a:alphaModFix/>
          </a:blip>
          <a:stretch>
            <a:fillRect/>
          </a:stretch>
        </p:blipFill>
        <p:spPr>
          <a:xfrm>
            <a:off x="311700" y="1146200"/>
            <a:ext cx="4632684" cy="3820974"/>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105825" y="1625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Типы фильтров - Аналогия с рестораном</a:t>
            </a:r>
            <a:endParaRPr/>
          </a:p>
        </p:txBody>
      </p:sp>
      <p:sp>
        <p:nvSpPr>
          <p:cNvPr id="73" name="Google Shape;73;p16"/>
          <p:cNvSpPr txBox="1"/>
          <p:nvPr>
            <p:ph idx="1" type="body"/>
          </p:nvPr>
        </p:nvSpPr>
        <p:spPr>
          <a:xfrm>
            <a:off x="105825" y="850875"/>
            <a:ext cx="8789100" cy="42000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ru" sz="1000">
                <a:solidFill>
                  <a:schemeClr val="dk1"/>
                </a:solidFill>
              </a:rPr>
              <a:t>Предс</a:t>
            </a:r>
            <a:r>
              <a:rPr lang="ru" sz="1000">
                <a:solidFill>
                  <a:schemeClr val="dk1"/>
                </a:solidFill>
              </a:rPr>
              <a:t>та</a:t>
            </a:r>
            <a:r>
              <a:rPr lang="ru" sz="1000">
                <a:solidFill>
                  <a:schemeClr val="dk1"/>
                </a:solidFill>
              </a:rPr>
              <a:t>вьте, что ваш код - это ресторан:</a:t>
            </a:r>
            <a:endParaRPr sz="1000">
              <a:solidFill>
                <a:schemeClr val="dk1"/>
              </a:solidFill>
            </a:endParaRPr>
          </a:p>
          <a:p>
            <a:pPr indent="0" lvl="0" marL="0" rtl="0" algn="l">
              <a:lnSpc>
                <a:spcPct val="100000"/>
              </a:lnSpc>
              <a:spcBef>
                <a:spcPts val="1200"/>
              </a:spcBef>
              <a:spcAft>
                <a:spcPts val="0"/>
              </a:spcAft>
              <a:buNone/>
            </a:pPr>
            <a:r>
              <a:rPr lang="ru" sz="1000">
                <a:solidFill>
                  <a:schemeClr val="dk1"/>
                </a:solidFill>
              </a:rPr>
              <a:t>Authorization Filter - Вышибала</a:t>
            </a:r>
            <a:endParaRPr sz="1000">
              <a:solidFill>
                <a:schemeClr val="dk1"/>
              </a:solidFill>
            </a:endParaRPr>
          </a:p>
          <a:p>
            <a:pPr indent="-292100" lvl="0" marL="914400" rtl="0" algn="l">
              <a:lnSpc>
                <a:spcPct val="100000"/>
              </a:lnSpc>
              <a:spcBef>
                <a:spcPts val="1200"/>
              </a:spcBef>
              <a:spcAft>
                <a:spcPts val="0"/>
              </a:spcAft>
              <a:buClr>
                <a:schemeClr val="dk1"/>
              </a:buClr>
              <a:buSzPts val="1000"/>
              <a:buChar char="●"/>
            </a:pPr>
            <a:r>
              <a:rPr lang="ru" sz="1000">
                <a:solidFill>
                  <a:schemeClr val="dk1"/>
                </a:solidFill>
              </a:rPr>
              <a:t>Проверяет, можно ли вам войти</a:t>
            </a:r>
            <a:endParaRPr sz="1000">
              <a:solidFill>
                <a:schemeClr val="dk1"/>
              </a:solidFill>
            </a:endParaRPr>
          </a:p>
          <a:p>
            <a:pPr indent="-292100" lvl="0" marL="914400" rtl="0" algn="l">
              <a:lnSpc>
                <a:spcPct val="100000"/>
              </a:lnSpc>
              <a:spcBef>
                <a:spcPts val="0"/>
              </a:spcBef>
              <a:spcAft>
                <a:spcPts val="0"/>
              </a:spcAft>
              <a:buClr>
                <a:schemeClr val="dk1"/>
              </a:buClr>
              <a:buSzPts val="1000"/>
              <a:buChar char="●"/>
            </a:pPr>
            <a:r>
              <a:rPr lang="ru" sz="1000">
                <a:solidFill>
                  <a:schemeClr val="dk1"/>
                </a:solidFill>
              </a:rPr>
              <a:t>"У вас ес</a:t>
            </a:r>
            <a:r>
              <a:rPr lang="ru" sz="1000">
                <a:solidFill>
                  <a:schemeClr val="dk1"/>
                </a:solidFill>
              </a:rPr>
              <a:t>т</a:t>
            </a:r>
            <a:r>
              <a:rPr lang="ru" sz="1000">
                <a:solidFill>
                  <a:schemeClr val="dk1"/>
                </a:solidFill>
              </a:rPr>
              <a:t>ь бронь? Вы совершеннолетний?"</a:t>
            </a:r>
            <a:endParaRPr sz="1000">
              <a:solidFill>
                <a:schemeClr val="dk1"/>
              </a:solidFill>
            </a:endParaRPr>
          </a:p>
          <a:p>
            <a:pPr indent="0" lvl="0" marL="0" rtl="0" algn="l">
              <a:lnSpc>
                <a:spcPct val="100000"/>
              </a:lnSpc>
              <a:spcBef>
                <a:spcPts val="1200"/>
              </a:spcBef>
              <a:spcAft>
                <a:spcPts val="0"/>
              </a:spcAft>
              <a:buNone/>
            </a:pPr>
            <a:r>
              <a:rPr lang="ru" sz="1000">
                <a:solidFill>
                  <a:schemeClr val="dk1"/>
                </a:solidFill>
              </a:rPr>
              <a:t>Resource Filter - Менеджер</a:t>
            </a:r>
            <a:endParaRPr sz="1000">
              <a:solidFill>
                <a:schemeClr val="dk1"/>
              </a:solidFill>
            </a:endParaRPr>
          </a:p>
          <a:p>
            <a:pPr indent="-292100" lvl="0" marL="914400" rtl="0" algn="l">
              <a:lnSpc>
                <a:spcPct val="100000"/>
              </a:lnSpc>
              <a:spcBef>
                <a:spcPts val="1200"/>
              </a:spcBef>
              <a:spcAft>
                <a:spcPts val="0"/>
              </a:spcAft>
              <a:buClr>
                <a:schemeClr val="dk1"/>
              </a:buClr>
              <a:buSzPts val="1000"/>
              <a:buChar char="●"/>
            </a:pPr>
            <a:r>
              <a:rPr lang="ru" sz="1000">
                <a:solidFill>
                  <a:schemeClr val="dk1"/>
                </a:solidFill>
              </a:rPr>
              <a:t>Решает общие вопросы до начала заказа</a:t>
            </a:r>
            <a:endParaRPr sz="1000">
              <a:solidFill>
                <a:schemeClr val="dk1"/>
              </a:solidFill>
            </a:endParaRPr>
          </a:p>
          <a:p>
            <a:pPr indent="-292100" lvl="0" marL="914400" rtl="0" algn="l">
              <a:lnSpc>
                <a:spcPct val="100000"/>
              </a:lnSpc>
              <a:spcBef>
                <a:spcPts val="0"/>
              </a:spcBef>
              <a:spcAft>
                <a:spcPts val="0"/>
              </a:spcAft>
              <a:buClr>
                <a:schemeClr val="dk1"/>
              </a:buClr>
              <a:buSzPts val="1000"/>
              <a:buChar char="●"/>
            </a:pPr>
            <a:r>
              <a:rPr lang="ru" sz="1000">
                <a:solidFill>
                  <a:schemeClr val="dk1"/>
                </a:solidFill>
              </a:rPr>
              <a:t>"Стол готов? Есть ли свободные повара?"</a:t>
            </a:r>
            <a:endParaRPr sz="1000">
              <a:solidFill>
                <a:schemeClr val="dk1"/>
              </a:solidFill>
            </a:endParaRPr>
          </a:p>
          <a:p>
            <a:pPr indent="0" lvl="0" marL="0" rtl="0" algn="l">
              <a:lnSpc>
                <a:spcPct val="100000"/>
              </a:lnSpc>
              <a:spcBef>
                <a:spcPts val="1200"/>
              </a:spcBef>
              <a:spcAft>
                <a:spcPts val="0"/>
              </a:spcAft>
              <a:buNone/>
            </a:pPr>
            <a:r>
              <a:rPr lang="ru" sz="1000">
                <a:solidFill>
                  <a:schemeClr val="dk1"/>
                </a:solidFill>
              </a:rPr>
              <a:t>Action Filter - Официант</a:t>
            </a:r>
            <a:endParaRPr sz="1000">
              <a:solidFill>
                <a:schemeClr val="dk1"/>
              </a:solidFill>
            </a:endParaRPr>
          </a:p>
          <a:p>
            <a:pPr indent="-292100" lvl="0" marL="914400" rtl="0" algn="l">
              <a:lnSpc>
                <a:spcPct val="100000"/>
              </a:lnSpc>
              <a:spcBef>
                <a:spcPts val="1200"/>
              </a:spcBef>
              <a:spcAft>
                <a:spcPts val="0"/>
              </a:spcAft>
              <a:buClr>
                <a:schemeClr val="dk1"/>
              </a:buClr>
              <a:buSzPts val="1000"/>
              <a:buChar char="●"/>
            </a:pPr>
            <a:r>
              <a:rPr lang="ru" sz="1000">
                <a:solidFill>
                  <a:schemeClr val="dk1"/>
                </a:solidFill>
              </a:rPr>
              <a:t>Работает непосре</a:t>
            </a:r>
            <a:r>
              <a:rPr lang="ru" sz="1000">
                <a:solidFill>
                  <a:schemeClr val="dk1"/>
                </a:solidFill>
              </a:rPr>
              <a:t>д</a:t>
            </a:r>
            <a:r>
              <a:rPr lang="ru" sz="1000">
                <a:solidFill>
                  <a:schemeClr val="dk1"/>
                </a:solidFill>
              </a:rPr>
              <a:t>ственно с вашим заказом</a:t>
            </a:r>
            <a:endParaRPr sz="1000">
              <a:solidFill>
                <a:schemeClr val="dk1"/>
              </a:solidFill>
            </a:endParaRPr>
          </a:p>
          <a:p>
            <a:pPr indent="-292100" lvl="0" marL="914400" rtl="0" algn="l">
              <a:lnSpc>
                <a:spcPct val="100000"/>
              </a:lnSpc>
              <a:spcBef>
                <a:spcPts val="0"/>
              </a:spcBef>
              <a:spcAft>
                <a:spcPts val="0"/>
              </a:spcAft>
              <a:buClr>
                <a:schemeClr val="dk1"/>
              </a:buClr>
              <a:buSzPts val="1000"/>
              <a:buChar char="●"/>
            </a:pPr>
            <a:r>
              <a:rPr lang="ru" sz="1000">
                <a:solidFill>
                  <a:schemeClr val="dk1"/>
                </a:solidFill>
              </a:rPr>
              <a:t>"Принимает заказ, несет его на кухню, приносит еду"</a:t>
            </a:r>
            <a:endParaRPr sz="1000">
              <a:solidFill>
                <a:schemeClr val="dk1"/>
              </a:solidFill>
            </a:endParaRPr>
          </a:p>
          <a:p>
            <a:pPr indent="0" lvl="0" marL="0" rtl="0" algn="l">
              <a:lnSpc>
                <a:spcPct val="100000"/>
              </a:lnSpc>
              <a:spcBef>
                <a:spcPts val="1200"/>
              </a:spcBef>
              <a:spcAft>
                <a:spcPts val="0"/>
              </a:spcAft>
              <a:buNone/>
            </a:pPr>
            <a:r>
              <a:rPr lang="ru" sz="1000">
                <a:solidFill>
                  <a:schemeClr val="dk1"/>
                </a:solidFill>
              </a:rPr>
              <a:t>Exception Filter - Кризис-менеджер</a:t>
            </a:r>
            <a:endParaRPr sz="1000">
              <a:solidFill>
                <a:schemeClr val="dk1"/>
              </a:solidFill>
            </a:endParaRPr>
          </a:p>
          <a:p>
            <a:pPr indent="-292100" lvl="0" marL="914400" rtl="0" algn="l">
              <a:lnSpc>
                <a:spcPct val="100000"/>
              </a:lnSpc>
              <a:spcBef>
                <a:spcPts val="1200"/>
              </a:spcBef>
              <a:spcAft>
                <a:spcPts val="0"/>
              </a:spcAft>
              <a:buClr>
                <a:schemeClr val="dk1"/>
              </a:buClr>
              <a:buSzPts val="1000"/>
              <a:buChar char="●"/>
            </a:pPr>
            <a:r>
              <a:rPr lang="ru" sz="1000">
                <a:solidFill>
                  <a:schemeClr val="dk1"/>
                </a:solidFill>
              </a:rPr>
              <a:t>Решает проблемы, когда что-то пошло не так</a:t>
            </a:r>
            <a:endParaRPr sz="1000">
              <a:solidFill>
                <a:schemeClr val="dk1"/>
              </a:solidFill>
            </a:endParaRPr>
          </a:p>
          <a:p>
            <a:pPr indent="-292100" lvl="0" marL="914400" rtl="0" algn="l">
              <a:lnSpc>
                <a:spcPct val="100000"/>
              </a:lnSpc>
              <a:spcBef>
                <a:spcPts val="0"/>
              </a:spcBef>
              <a:spcAft>
                <a:spcPts val="0"/>
              </a:spcAft>
              <a:buClr>
                <a:schemeClr val="dk1"/>
              </a:buClr>
              <a:buSzPts val="1000"/>
              <a:buChar char="●"/>
            </a:pPr>
            <a:r>
              <a:rPr lang="ru" sz="1000">
                <a:solidFill>
                  <a:schemeClr val="dk1"/>
                </a:solidFill>
              </a:rPr>
              <a:t>"Если еда упала - принесет новую"</a:t>
            </a:r>
            <a:endParaRPr sz="1000">
              <a:solidFill>
                <a:schemeClr val="dk1"/>
              </a:solidFill>
            </a:endParaRPr>
          </a:p>
          <a:p>
            <a:pPr indent="0" lvl="0" marL="0" rtl="0" algn="l">
              <a:lnSpc>
                <a:spcPct val="100000"/>
              </a:lnSpc>
              <a:spcBef>
                <a:spcPts val="1200"/>
              </a:spcBef>
              <a:spcAft>
                <a:spcPts val="0"/>
              </a:spcAft>
              <a:buNone/>
            </a:pPr>
            <a:r>
              <a:rPr lang="ru" sz="1000">
                <a:solidFill>
                  <a:schemeClr val="dk1"/>
                </a:solidFill>
              </a:rPr>
              <a:t>Result Filter - Упаковщик</a:t>
            </a:r>
            <a:endParaRPr sz="1000">
              <a:solidFill>
                <a:schemeClr val="dk1"/>
              </a:solidFill>
            </a:endParaRPr>
          </a:p>
          <a:p>
            <a:pPr indent="-292100" lvl="0" marL="914400" rtl="0" algn="l">
              <a:lnSpc>
                <a:spcPct val="100000"/>
              </a:lnSpc>
              <a:spcBef>
                <a:spcPts val="1200"/>
              </a:spcBef>
              <a:spcAft>
                <a:spcPts val="0"/>
              </a:spcAft>
              <a:buClr>
                <a:schemeClr val="dk1"/>
              </a:buClr>
              <a:buSzPts val="1000"/>
              <a:buChar char="●"/>
            </a:pPr>
            <a:r>
              <a:rPr lang="ru" sz="1000">
                <a:solidFill>
                  <a:schemeClr val="dk1"/>
                </a:solidFill>
              </a:rPr>
              <a:t>Крас</a:t>
            </a:r>
            <a:r>
              <a:rPr lang="ru" sz="1000">
                <a:solidFill>
                  <a:schemeClr val="dk1"/>
                </a:solidFill>
              </a:rPr>
              <a:t>и</a:t>
            </a:r>
            <a:r>
              <a:rPr lang="ru" sz="1000">
                <a:solidFill>
                  <a:schemeClr val="dk1"/>
                </a:solidFill>
              </a:rPr>
              <a:t>во подает результат</a:t>
            </a:r>
            <a:endParaRPr sz="1000">
              <a:solidFill>
                <a:schemeClr val="dk1"/>
              </a:solidFill>
            </a:endParaRPr>
          </a:p>
          <a:p>
            <a:pPr indent="-292100" lvl="0" marL="914400" rtl="0" algn="l">
              <a:lnSpc>
                <a:spcPct val="100000"/>
              </a:lnSpc>
              <a:spcBef>
                <a:spcPts val="0"/>
              </a:spcBef>
              <a:spcAft>
                <a:spcPts val="0"/>
              </a:spcAft>
              <a:buClr>
                <a:schemeClr val="dk1"/>
              </a:buClr>
              <a:buSzPts val="1000"/>
              <a:buChar char="●"/>
            </a:pPr>
            <a:r>
              <a:rPr lang="ru" sz="1000">
                <a:solidFill>
                  <a:schemeClr val="dk1"/>
                </a:solidFill>
              </a:rPr>
              <a:t>"Украшает блюдо, добавляет салфетки"</a:t>
            </a:r>
            <a:endParaRPr sz="1000">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7"/>
          <p:cNvSpPr txBox="1"/>
          <p:nvPr>
            <p:ph type="title"/>
          </p:nvPr>
        </p:nvSpPr>
        <p:spPr>
          <a:xfrm>
            <a:off x="340425" y="1194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Authorization</a:t>
            </a:r>
            <a:r>
              <a:rPr lang="ru"/>
              <a:t> Filters</a:t>
            </a:r>
            <a:endParaRPr/>
          </a:p>
        </p:txBody>
      </p:sp>
      <p:sp>
        <p:nvSpPr>
          <p:cNvPr id="79" name="Google Shape;79;p17"/>
          <p:cNvSpPr txBox="1"/>
          <p:nvPr>
            <p:ph idx="1" type="body"/>
          </p:nvPr>
        </p:nvSpPr>
        <p:spPr>
          <a:xfrm>
            <a:off x="311700" y="639525"/>
            <a:ext cx="8683800" cy="629100"/>
          </a:xfrm>
          <a:prstGeom prst="rect">
            <a:avLst/>
          </a:prstGeom>
        </p:spPr>
        <p:txBody>
          <a:bodyPr anchorCtr="0" anchor="t" bIns="91425" lIns="91425" spcFirstLastPara="1" rIns="91425" wrap="square" tIns="91425">
            <a:noAutofit/>
          </a:bodyPr>
          <a:lstStyle/>
          <a:p>
            <a:pPr indent="-283845" lvl="0" marL="457200" rtl="0" algn="l">
              <a:lnSpc>
                <a:spcPct val="80000"/>
              </a:lnSpc>
              <a:spcBef>
                <a:spcPts val="0"/>
              </a:spcBef>
              <a:spcAft>
                <a:spcPts val="0"/>
              </a:spcAft>
              <a:buClr>
                <a:schemeClr val="dk1"/>
              </a:buClr>
              <a:buSzPts val="870"/>
              <a:buChar char="●"/>
            </a:pPr>
            <a:r>
              <a:rPr lang="ru" sz="870">
                <a:solidFill>
                  <a:schemeClr val="dk1"/>
                </a:solidFill>
              </a:rPr>
              <a:t>Определение прав доступа к действиям/контроллерам</a:t>
            </a:r>
            <a:endParaRPr sz="870">
              <a:solidFill>
                <a:schemeClr val="dk1"/>
              </a:solidFill>
            </a:endParaRPr>
          </a:p>
          <a:p>
            <a:pPr indent="-283845" lvl="0" marL="457200" rtl="0" algn="l">
              <a:lnSpc>
                <a:spcPct val="80000"/>
              </a:lnSpc>
              <a:spcBef>
                <a:spcPts val="0"/>
              </a:spcBef>
              <a:spcAft>
                <a:spcPts val="0"/>
              </a:spcAft>
              <a:buClr>
                <a:schemeClr val="dk1"/>
              </a:buClr>
              <a:buSzPts val="870"/>
              <a:buChar char="●"/>
            </a:pPr>
            <a:r>
              <a:rPr lang="ru" sz="870">
                <a:solidFill>
                  <a:schemeClr val="dk1"/>
                </a:solidFill>
              </a:rPr>
              <a:t>Выполняются первыми в конвейере</a:t>
            </a:r>
            <a:endParaRPr sz="870">
              <a:solidFill>
                <a:schemeClr val="dk1"/>
              </a:solidFill>
            </a:endParaRPr>
          </a:p>
        </p:txBody>
      </p:sp>
      <p:pic>
        <p:nvPicPr>
          <p:cNvPr id="80" name="Google Shape;80;p17"/>
          <p:cNvPicPr preferRelativeResize="0"/>
          <p:nvPr/>
        </p:nvPicPr>
        <p:blipFill>
          <a:blip r:embed="rId3">
            <a:alphaModFix/>
          </a:blip>
          <a:stretch>
            <a:fillRect/>
          </a:stretch>
        </p:blipFill>
        <p:spPr>
          <a:xfrm>
            <a:off x="138025" y="1540850"/>
            <a:ext cx="3475470" cy="3507701"/>
          </a:xfrm>
          <a:prstGeom prst="rect">
            <a:avLst/>
          </a:prstGeom>
          <a:noFill/>
          <a:ln>
            <a:noFill/>
          </a:ln>
        </p:spPr>
      </p:pic>
      <p:sp>
        <p:nvSpPr>
          <p:cNvPr id="81" name="Google Shape;81;p17"/>
          <p:cNvSpPr txBox="1"/>
          <p:nvPr/>
        </p:nvSpPr>
        <p:spPr>
          <a:xfrm>
            <a:off x="47100" y="1154025"/>
            <a:ext cx="3398100" cy="32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ru" sz="1500">
                <a:solidFill>
                  <a:schemeClr val="dk1"/>
                </a:solidFill>
              </a:rPr>
              <a:t>Кастомный</a:t>
            </a:r>
            <a:endParaRPr sz="1500">
              <a:solidFill>
                <a:schemeClr val="dk1"/>
              </a:solidFill>
            </a:endParaRPr>
          </a:p>
        </p:txBody>
      </p:sp>
      <p:sp>
        <p:nvSpPr>
          <p:cNvPr id="82" name="Google Shape;82;p17"/>
          <p:cNvSpPr txBox="1"/>
          <p:nvPr/>
        </p:nvSpPr>
        <p:spPr>
          <a:xfrm>
            <a:off x="4112400" y="1141575"/>
            <a:ext cx="2499000" cy="34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ru" sz="1600">
                <a:solidFill>
                  <a:schemeClr val="dk1"/>
                </a:solidFill>
              </a:rPr>
              <a:t>Встроенные решения</a:t>
            </a:r>
            <a:endParaRPr sz="1600">
              <a:solidFill>
                <a:schemeClr val="dk1"/>
              </a:solidFill>
            </a:endParaRPr>
          </a:p>
        </p:txBody>
      </p:sp>
      <p:pic>
        <p:nvPicPr>
          <p:cNvPr id="83" name="Google Shape;83;p17"/>
          <p:cNvPicPr preferRelativeResize="0"/>
          <p:nvPr/>
        </p:nvPicPr>
        <p:blipFill>
          <a:blip r:embed="rId4">
            <a:alphaModFix/>
          </a:blip>
          <a:stretch>
            <a:fillRect/>
          </a:stretch>
        </p:blipFill>
        <p:spPr>
          <a:xfrm>
            <a:off x="4112395" y="1540850"/>
            <a:ext cx="2703628" cy="334762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Как работает Authorize</a:t>
            </a:r>
            <a:endParaRPr/>
          </a:p>
        </p:txBody>
      </p:sp>
      <p:pic>
        <p:nvPicPr>
          <p:cNvPr id="89" name="Google Shape;89;p18"/>
          <p:cNvPicPr preferRelativeResize="0"/>
          <p:nvPr/>
        </p:nvPicPr>
        <p:blipFill>
          <a:blip r:embed="rId3">
            <a:alphaModFix/>
          </a:blip>
          <a:stretch>
            <a:fillRect/>
          </a:stretch>
        </p:blipFill>
        <p:spPr>
          <a:xfrm>
            <a:off x="177475" y="988200"/>
            <a:ext cx="2790825" cy="1143000"/>
          </a:xfrm>
          <a:prstGeom prst="rect">
            <a:avLst/>
          </a:prstGeom>
          <a:noFill/>
          <a:ln>
            <a:noFill/>
          </a:ln>
        </p:spPr>
      </p:pic>
      <p:pic>
        <p:nvPicPr>
          <p:cNvPr id="90" name="Google Shape;90;p18"/>
          <p:cNvPicPr preferRelativeResize="0"/>
          <p:nvPr/>
        </p:nvPicPr>
        <p:blipFill>
          <a:blip r:embed="rId4">
            <a:alphaModFix/>
          </a:blip>
          <a:stretch>
            <a:fillRect/>
          </a:stretch>
        </p:blipFill>
        <p:spPr>
          <a:xfrm>
            <a:off x="5169675" y="916400"/>
            <a:ext cx="3694823" cy="2525575"/>
          </a:xfrm>
          <a:prstGeom prst="rect">
            <a:avLst/>
          </a:prstGeom>
          <a:noFill/>
          <a:ln>
            <a:noFill/>
          </a:ln>
        </p:spPr>
      </p:pic>
      <p:cxnSp>
        <p:nvCxnSpPr>
          <p:cNvPr id="91" name="Google Shape;91;p18"/>
          <p:cNvCxnSpPr>
            <a:endCxn id="92" idx="0"/>
          </p:cNvCxnSpPr>
          <p:nvPr/>
        </p:nvCxnSpPr>
        <p:spPr>
          <a:xfrm flipH="1">
            <a:off x="2508788" y="1512925"/>
            <a:ext cx="3710100" cy="1836900"/>
          </a:xfrm>
          <a:prstGeom prst="straightConnector1">
            <a:avLst/>
          </a:prstGeom>
          <a:noFill/>
          <a:ln cap="flat" cmpd="sng" w="9525">
            <a:solidFill>
              <a:srgbClr val="FF0000"/>
            </a:solidFill>
            <a:prstDash val="solid"/>
            <a:round/>
            <a:headEnd len="med" w="med" type="none"/>
            <a:tailEnd len="med" w="med" type="triangle"/>
          </a:ln>
        </p:spPr>
      </p:cxnSp>
      <p:pic>
        <p:nvPicPr>
          <p:cNvPr id="92" name="Google Shape;92;p18"/>
          <p:cNvPicPr preferRelativeResize="0"/>
          <p:nvPr/>
        </p:nvPicPr>
        <p:blipFill>
          <a:blip r:embed="rId5">
            <a:alphaModFix/>
          </a:blip>
          <a:stretch>
            <a:fillRect/>
          </a:stretch>
        </p:blipFill>
        <p:spPr>
          <a:xfrm>
            <a:off x="177475" y="3349825"/>
            <a:ext cx="4662625" cy="1345775"/>
          </a:xfrm>
          <a:prstGeom prst="rect">
            <a:avLst/>
          </a:prstGeom>
          <a:noFill/>
          <a:ln>
            <a:noFill/>
          </a:ln>
        </p:spPr>
      </p:pic>
      <p:cxnSp>
        <p:nvCxnSpPr>
          <p:cNvPr id="93" name="Google Shape;93;p18"/>
          <p:cNvCxnSpPr>
            <a:stCxn id="89" idx="3"/>
          </p:cNvCxnSpPr>
          <p:nvPr/>
        </p:nvCxnSpPr>
        <p:spPr>
          <a:xfrm flipH="1" rot="10800000">
            <a:off x="2968300" y="1479300"/>
            <a:ext cx="2206800" cy="80400"/>
          </a:xfrm>
          <a:prstGeom prst="straightConnector1">
            <a:avLst/>
          </a:prstGeom>
          <a:noFill/>
          <a:ln cap="flat" cmpd="sng" w="9525">
            <a:solidFill>
              <a:srgbClr val="FF0000"/>
            </a:solidFill>
            <a:prstDash val="solid"/>
            <a:round/>
            <a:headEnd len="med" w="med" type="none"/>
            <a:tailEnd len="med" w="med" type="triangle"/>
          </a:ln>
        </p:spPr>
      </p:cxnSp>
      <p:sp>
        <p:nvSpPr>
          <p:cNvPr id="94" name="Google Shape;94;p18"/>
          <p:cNvSpPr txBox="1"/>
          <p:nvPr/>
        </p:nvSpPr>
        <p:spPr>
          <a:xfrm>
            <a:off x="5041175" y="4035800"/>
            <a:ext cx="3226800" cy="49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ru" sz="1100">
                <a:solidFill>
                  <a:schemeClr val="dk1"/>
                </a:solidFill>
              </a:rPr>
              <a:t>Здесь уже аутентификация, что-то не наше</a:t>
            </a:r>
            <a:endParaRPr sz="1100">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Resource Filters</a:t>
            </a:r>
            <a:endParaRPr/>
          </a:p>
        </p:txBody>
      </p:sp>
      <p:sp>
        <p:nvSpPr>
          <p:cNvPr id="100" name="Google Shape;100;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ru">
                <a:solidFill>
                  <a:srgbClr val="F9FAFB"/>
                </a:solidFill>
              </a:rPr>
              <a:t>Два интерфейса на выбор:</a:t>
            </a:r>
            <a:endParaRPr>
              <a:solidFill>
                <a:srgbClr val="F9FAFB"/>
              </a:solidFill>
            </a:endParaRPr>
          </a:p>
        </p:txBody>
      </p:sp>
      <p:pic>
        <p:nvPicPr>
          <p:cNvPr id="101" name="Google Shape;101;p19"/>
          <p:cNvPicPr preferRelativeResize="0"/>
          <p:nvPr/>
        </p:nvPicPr>
        <p:blipFill>
          <a:blip r:embed="rId3">
            <a:alphaModFix/>
          </a:blip>
          <a:stretch>
            <a:fillRect/>
          </a:stretch>
        </p:blipFill>
        <p:spPr>
          <a:xfrm>
            <a:off x="127649" y="1593825"/>
            <a:ext cx="4319875" cy="2240250"/>
          </a:xfrm>
          <a:prstGeom prst="rect">
            <a:avLst/>
          </a:prstGeom>
          <a:noFill/>
          <a:ln>
            <a:noFill/>
          </a:ln>
        </p:spPr>
      </p:pic>
      <p:pic>
        <p:nvPicPr>
          <p:cNvPr id="102" name="Google Shape;102;p19"/>
          <p:cNvPicPr preferRelativeResize="0"/>
          <p:nvPr/>
        </p:nvPicPr>
        <p:blipFill>
          <a:blip r:embed="rId4">
            <a:alphaModFix/>
          </a:blip>
          <a:stretch>
            <a:fillRect/>
          </a:stretch>
        </p:blipFill>
        <p:spPr>
          <a:xfrm>
            <a:off x="4969499" y="1630824"/>
            <a:ext cx="3584900" cy="18818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Что доступно на разных этапах?</a:t>
            </a:r>
            <a:endParaRPr/>
          </a:p>
        </p:txBody>
      </p:sp>
      <p:pic>
        <p:nvPicPr>
          <p:cNvPr id="108" name="Google Shape;108;p20"/>
          <p:cNvPicPr preferRelativeResize="0"/>
          <p:nvPr/>
        </p:nvPicPr>
        <p:blipFill>
          <a:blip r:embed="rId3">
            <a:alphaModFix/>
          </a:blip>
          <a:stretch>
            <a:fillRect/>
          </a:stretch>
        </p:blipFill>
        <p:spPr>
          <a:xfrm>
            <a:off x="125350" y="1195550"/>
            <a:ext cx="5025401" cy="3199500"/>
          </a:xfrm>
          <a:prstGeom prst="rect">
            <a:avLst/>
          </a:prstGeom>
          <a:noFill/>
          <a:ln>
            <a:noFill/>
          </a:ln>
        </p:spPr>
      </p:pic>
      <p:pic>
        <p:nvPicPr>
          <p:cNvPr id="109" name="Google Shape;109;p20"/>
          <p:cNvPicPr preferRelativeResize="0"/>
          <p:nvPr/>
        </p:nvPicPr>
        <p:blipFill>
          <a:blip r:embed="rId4">
            <a:alphaModFix/>
          </a:blip>
          <a:stretch>
            <a:fillRect/>
          </a:stretch>
        </p:blipFill>
        <p:spPr>
          <a:xfrm>
            <a:off x="5303151" y="1170125"/>
            <a:ext cx="3688450" cy="311165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Использование</a:t>
            </a:r>
            <a:endParaRPr/>
          </a:p>
        </p:txBody>
      </p:sp>
      <p:pic>
        <p:nvPicPr>
          <p:cNvPr id="115" name="Google Shape;115;p21"/>
          <p:cNvPicPr preferRelativeResize="0"/>
          <p:nvPr/>
        </p:nvPicPr>
        <p:blipFill>
          <a:blip r:embed="rId3">
            <a:alphaModFix/>
          </a:blip>
          <a:stretch>
            <a:fillRect/>
          </a:stretch>
        </p:blipFill>
        <p:spPr>
          <a:xfrm>
            <a:off x="152400" y="1170125"/>
            <a:ext cx="4524640" cy="38209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Action Filter</a:t>
            </a:r>
            <a:endParaRPr/>
          </a:p>
        </p:txBody>
      </p:sp>
      <p:sp>
        <p:nvSpPr>
          <p:cNvPr id="121" name="Google Shape;121;p22"/>
          <p:cNvSpPr txBox="1"/>
          <p:nvPr>
            <p:ph idx="1" type="body"/>
          </p:nvPr>
        </p:nvSpPr>
        <p:spPr>
          <a:xfrm>
            <a:off x="311700" y="1152475"/>
            <a:ext cx="43464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ru">
                <a:solidFill>
                  <a:schemeClr val="dk1"/>
                </a:solidFill>
              </a:rPr>
              <a:t>Логирование действий пользователя</a:t>
            </a:r>
            <a:endParaRPr>
              <a:solidFill>
                <a:schemeClr val="dk1"/>
              </a:solidFill>
            </a:endParaRPr>
          </a:p>
          <a:p>
            <a:pPr indent="0" lvl="0" marL="0" rtl="0" algn="l">
              <a:spcBef>
                <a:spcPts val="1200"/>
              </a:spcBef>
              <a:spcAft>
                <a:spcPts val="0"/>
              </a:spcAft>
              <a:buNone/>
            </a:pPr>
            <a:r>
              <a:rPr lang="ru">
                <a:solidFill>
                  <a:schemeClr val="dk1"/>
                </a:solidFill>
              </a:rPr>
              <a:t>Дает нам интерфейс IActionFilter и ActionFilterAttribute класс.</a:t>
            </a:r>
            <a:endParaRPr>
              <a:solidFill>
                <a:schemeClr val="dk1"/>
              </a:solidFill>
            </a:endParaRPr>
          </a:p>
          <a:p>
            <a:pPr indent="0" lvl="0" marL="0" rtl="0" algn="l">
              <a:spcBef>
                <a:spcPts val="1200"/>
              </a:spcBef>
              <a:spcAft>
                <a:spcPts val="0"/>
              </a:spcAft>
              <a:buNone/>
            </a:pPr>
            <a:r>
              <a:rPr lang="ru">
                <a:solidFill>
                  <a:schemeClr val="dk1"/>
                </a:solidFill>
              </a:rPr>
              <a:t>У них есть встроенные методы:</a:t>
            </a:r>
            <a:endParaRPr>
              <a:solidFill>
                <a:schemeClr val="dk1"/>
              </a:solidFill>
            </a:endParaRPr>
          </a:p>
          <a:p>
            <a:pPr indent="0" lvl="0" marL="0" rtl="0" algn="l">
              <a:spcBef>
                <a:spcPts val="1200"/>
              </a:spcBef>
              <a:spcAft>
                <a:spcPts val="1200"/>
              </a:spcAft>
              <a:buNone/>
            </a:pPr>
            <a:r>
              <a:rPr lang="ru">
                <a:solidFill>
                  <a:schemeClr val="dk1"/>
                </a:solidFill>
              </a:rPr>
              <a:t>OnActionExecuting, OnActionExecuted, OnResultExecuting, OnResultExecuted.</a:t>
            </a:r>
            <a:endParaRPr>
              <a:solidFill>
                <a:schemeClr val="dk1"/>
              </a:solidFill>
            </a:endParaRPr>
          </a:p>
        </p:txBody>
      </p:sp>
      <p:pic>
        <p:nvPicPr>
          <p:cNvPr id="122" name="Google Shape;122;p22"/>
          <p:cNvPicPr preferRelativeResize="0"/>
          <p:nvPr/>
        </p:nvPicPr>
        <p:blipFill>
          <a:blip r:embed="rId3">
            <a:alphaModFix/>
          </a:blip>
          <a:stretch>
            <a:fillRect/>
          </a:stretch>
        </p:blipFill>
        <p:spPr>
          <a:xfrm>
            <a:off x="4753050" y="1184500"/>
            <a:ext cx="4181101" cy="2521373"/>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3"/>
          <p:cNvSpPr txBox="1"/>
          <p:nvPr>
            <p:ph type="title"/>
          </p:nvPr>
        </p:nvSpPr>
        <p:spPr>
          <a:xfrm>
            <a:off x="19675" y="285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В чем их разница?</a:t>
            </a:r>
            <a:endParaRPr/>
          </a:p>
        </p:txBody>
      </p:sp>
      <p:sp>
        <p:nvSpPr>
          <p:cNvPr id="128" name="Google Shape;128;p23"/>
          <p:cNvSpPr txBox="1"/>
          <p:nvPr>
            <p:ph idx="1" type="body"/>
          </p:nvPr>
        </p:nvSpPr>
        <p:spPr>
          <a:xfrm>
            <a:off x="19675" y="7359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ru">
                <a:solidFill>
                  <a:schemeClr val="dk1"/>
                </a:solidFill>
              </a:rPr>
              <a:t>ActionFilterAttribute можно использовать, как </a:t>
            </a:r>
            <a:r>
              <a:rPr lang="ru">
                <a:solidFill>
                  <a:schemeClr val="dk1"/>
                </a:solidFill>
              </a:rPr>
              <a:t>атрибут, а IActionFilter нужно использовать через Service filter</a:t>
            </a:r>
            <a:endParaRPr>
              <a:solidFill>
                <a:schemeClr val="dk1"/>
              </a:solidFill>
            </a:endParaRPr>
          </a:p>
        </p:txBody>
      </p:sp>
      <p:pic>
        <p:nvPicPr>
          <p:cNvPr id="129" name="Google Shape;129;p23"/>
          <p:cNvPicPr preferRelativeResize="0"/>
          <p:nvPr/>
        </p:nvPicPr>
        <p:blipFill>
          <a:blip r:embed="rId3">
            <a:alphaModFix/>
          </a:blip>
          <a:stretch>
            <a:fillRect/>
          </a:stretch>
        </p:blipFill>
        <p:spPr>
          <a:xfrm>
            <a:off x="5788000" y="1244725"/>
            <a:ext cx="3297500" cy="3843001"/>
          </a:xfrm>
          <a:prstGeom prst="rect">
            <a:avLst/>
          </a:prstGeom>
          <a:noFill/>
          <a:ln>
            <a:noFill/>
          </a:ln>
        </p:spPr>
      </p:pic>
      <p:pic>
        <p:nvPicPr>
          <p:cNvPr id="130" name="Google Shape;130;p23"/>
          <p:cNvPicPr preferRelativeResize="0"/>
          <p:nvPr/>
        </p:nvPicPr>
        <p:blipFill>
          <a:blip r:embed="rId4">
            <a:alphaModFix/>
          </a:blip>
          <a:stretch>
            <a:fillRect/>
          </a:stretch>
        </p:blipFill>
        <p:spPr>
          <a:xfrm>
            <a:off x="708550" y="2281873"/>
            <a:ext cx="4489600" cy="1228125"/>
          </a:xfrm>
          <a:prstGeom prst="rect">
            <a:avLst/>
          </a:prstGeom>
          <a:noFill/>
          <a:ln>
            <a:noFill/>
          </a:ln>
        </p:spPr>
      </p:pic>
      <p:cxnSp>
        <p:nvCxnSpPr>
          <p:cNvPr id="131" name="Google Shape;131;p23"/>
          <p:cNvCxnSpPr>
            <a:stCxn id="129" idx="1"/>
            <a:endCxn id="130" idx="3"/>
          </p:cNvCxnSpPr>
          <p:nvPr/>
        </p:nvCxnSpPr>
        <p:spPr>
          <a:xfrm rot="10800000">
            <a:off x="5198200" y="2895925"/>
            <a:ext cx="589800" cy="270300"/>
          </a:xfrm>
          <a:prstGeom prst="straightConnector1">
            <a:avLst/>
          </a:prstGeom>
          <a:noFill/>
          <a:ln cap="flat" cmpd="sng" w="9525">
            <a:solidFill>
              <a:srgbClr val="FF0000"/>
            </a:solidFill>
            <a:prstDash val="solid"/>
            <a:round/>
            <a:headEnd len="med" w="med" type="none"/>
            <a:tailEnd len="med" w="med" type="triangle"/>
          </a:ln>
        </p:spPr>
      </p:cxn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Нооо</a:t>
            </a:r>
            <a:endParaRPr/>
          </a:p>
        </p:txBody>
      </p:sp>
      <p:sp>
        <p:nvSpPr>
          <p:cNvPr id="137" name="Google Shape;137;p24"/>
          <p:cNvSpPr txBox="1"/>
          <p:nvPr>
            <p:ph idx="1" type="body"/>
          </p:nvPr>
        </p:nvSpPr>
        <p:spPr>
          <a:xfrm>
            <a:off x="311700" y="1152475"/>
            <a:ext cx="43254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ru">
                <a:solidFill>
                  <a:schemeClr val="dk1"/>
                </a:solidFill>
              </a:rPr>
              <a:t>Вместе с IActionFilter можно еще наследоваться от Attribute. И тогда можно будет использовать </a:t>
            </a:r>
            <a:r>
              <a:rPr lang="ru">
                <a:solidFill>
                  <a:schemeClr val="dk1"/>
                </a:solidFill>
              </a:rPr>
              <a:t>фильтр</a:t>
            </a:r>
            <a:r>
              <a:rPr lang="ru">
                <a:solidFill>
                  <a:schemeClr val="dk1"/>
                </a:solidFill>
              </a:rPr>
              <a:t>, как атрибут и он не требует регистрацию в DI.</a:t>
            </a:r>
            <a:endParaRPr>
              <a:solidFill>
                <a:schemeClr val="dk1"/>
              </a:solidFill>
            </a:endParaRPr>
          </a:p>
        </p:txBody>
      </p:sp>
      <p:pic>
        <p:nvPicPr>
          <p:cNvPr id="138" name="Google Shape;138;p24"/>
          <p:cNvPicPr preferRelativeResize="0"/>
          <p:nvPr/>
        </p:nvPicPr>
        <p:blipFill>
          <a:blip r:embed="rId3">
            <a:alphaModFix/>
          </a:blip>
          <a:stretch>
            <a:fillRect/>
          </a:stretch>
        </p:blipFill>
        <p:spPr>
          <a:xfrm>
            <a:off x="4637126" y="612800"/>
            <a:ext cx="4466151" cy="4406226"/>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Разница?</a:t>
            </a:r>
            <a:endParaRPr/>
          </a:p>
        </p:txBody>
      </p:sp>
      <p:sp>
        <p:nvSpPr>
          <p:cNvPr id="144" name="Google Shape;144;p25"/>
          <p:cNvSpPr txBox="1"/>
          <p:nvPr>
            <p:ph idx="1" type="body"/>
          </p:nvPr>
        </p:nvSpPr>
        <p:spPr>
          <a:xfrm>
            <a:off x="144150" y="1138100"/>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ru">
                <a:solidFill>
                  <a:schemeClr val="dk1"/>
                </a:solidFill>
              </a:rPr>
              <a:t>ActionFilterAttribute содержит:</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rtl="0" algn="l">
              <a:spcBef>
                <a:spcPts val="1200"/>
              </a:spcBef>
              <a:spcAft>
                <a:spcPts val="1200"/>
              </a:spcAft>
              <a:buNone/>
            </a:pPr>
            <a:r>
              <a:rPr lang="ru">
                <a:solidFill>
                  <a:schemeClr val="dk1"/>
                </a:solidFill>
              </a:rPr>
              <a:t>Attribute + IActionFilter содержит:</a:t>
            </a:r>
            <a:endParaRPr>
              <a:solidFill>
                <a:schemeClr val="dk1"/>
              </a:solidFill>
            </a:endParaRPr>
          </a:p>
        </p:txBody>
      </p:sp>
      <p:pic>
        <p:nvPicPr>
          <p:cNvPr id="145" name="Google Shape;145;p25"/>
          <p:cNvPicPr preferRelativeResize="0"/>
          <p:nvPr/>
        </p:nvPicPr>
        <p:blipFill>
          <a:blip r:embed="rId3">
            <a:alphaModFix/>
          </a:blip>
          <a:stretch>
            <a:fillRect/>
          </a:stretch>
        </p:blipFill>
        <p:spPr>
          <a:xfrm>
            <a:off x="3825650" y="770301"/>
            <a:ext cx="5232075" cy="1834075"/>
          </a:xfrm>
          <a:prstGeom prst="rect">
            <a:avLst/>
          </a:prstGeom>
          <a:noFill/>
          <a:ln>
            <a:noFill/>
          </a:ln>
        </p:spPr>
      </p:pic>
      <p:pic>
        <p:nvPicPr>
          <p:cNvPr id="146" name="Google Shape;146;p25"/>
          <p:cNvPicPr preferRelativeResize="0"/>
          <p:nvPr/>
        </p:nvPicPr>
        <p:blipFill>
          <a:blip r:embed="rId4">
            <a:alphaModFix/>
          </a:blip>
          <a:stretch>
            <a:fillRect/>
          </a:stretch>
        </p:blipFill>
        <p:spPr>
          <a:xfrm>
            <a:off x="3825650" y="2724200"/>
            <a:ext cx="5232076" cy="1771537"/>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6"/>
          <p:cNvSpPr txBox="1"/>
          <p:nvPr>
            <p:ph type="title"/>
          </p:nvPr>
        </p:nvSpPr>
        <p:spPr>
          <a:xfrm>
            <a:off x="311700" y="220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Exception Filter</a:t>
            </a:r>
            <a:endParaRPr/>
          </a:p>
        </p:txBody>
      </p:sp>
      <p:pic>
        <p:nvPicPr>
          <p:cNvPr id="152" name="Google Shape;152;p26"/>
          <p:cNvPicPr preferRelativeResize="0"/>
          <p:nvPr/>
        </p:nvPicPr>
        <p:blipFill>
          <a:blip r:embed="rId3">
            <a:alphaModFix/>
          </a:blip>
          <a:stretch>
            <a:fillRect/>
          </a:stretch>
        </p:blipFill>
        <p:spPr>
          <a:xfrm>
            <a:off x="372625" y="1069600"/>
            <a:ext cx="2516252" cy="3820975"/>
          </a:xfrm>
          <a:prstGeom prst="rect">
            <a:avLst/>
          </a:prstGeom>
          <a:noFill/>
          <a:ln>
            <a:noFill/>
          </a:ln>
        </p:spPr>
      </p:pic>
      <p:pic>
        <p:nvPicPr>
          <p:cNvPr id="153" name="Google Shape;153;p26"/>
          <p:cNvPicPr preferRelativeResize="0"/>
          <p:nvPr/>
        </p:nvPicPr>
        <p:blipFill>
          <a:blip r:embed="rId4">
            <a:alphaModFix/>
          </a:blip>
          <a:stretch>
            <a:fillRect/>
          </a:stretch>
        </p:blipFill>
        <p:spPr>
          <a:xfrm>
            <a:off x="3022125" y="394575"/>
            <a:ext cx="3752076" cy="1921600"/>
          </a:xfrm>
          <a:prstGeom prst="rect">
            <a:avLst/>
          </a:prstGeom>
          <a:noFill/>
          <a:ln>
            <a:noFill/>
          </a:ln>
        </p:spPr>
      </p:pic>
      <p:pic>
        <p:nvPicPr>
          <p:cNvPr id="154" name="Google Shape;154;p26"/>
          <p:cNvPicPr preferRelativeResize="0"/>
          <p:nvPr/>
        </p:nvPicPr>
        <p:blipFill>
          <a:blip r:embed="rId5">
            <a:alphaModFix/>
          </a:blip>
          <a:stretch>
            <a:fillRect/>
          </a:stretch>
        </p:blipFill>
        <p:spPr>
          <a:xfrm>
            <a:off x="3041277" y="3357050"/>
            <a:ext cx="3457575" cy="1533525"/>
          </a:xfrm>
          <a:prstGeom prst="rect">
            <a:avLst/>
          </a:prstGeom>
          <a:noFill/>
          <a:ln>
            <a:noFill/>
          </a:ln>
        </p:spPr>
      </p:pic>
      <p:pic>
        <p:nvPicPr>
          <p:cNvPr id="155" name="Google Shape;155;p26"/>
          <p:cNvPicPr preferRelativeResize="0"/>
          <p:nvPr/>
        </p:nvPicPr>
        <p:blipFill>
          <a:blip r:embed="rId6">
            <a:alphaModFix/>
          </a:blip>
          <a:stretch>
            <a:fillRect/>
          </a:stretch>
        </p:blipFill>
        <p:spPr>
          <a:xfrm>
            <a:off x="3041275" y="2468575"/>
            <a:ext cx="3577424" cy="572700"/>
          </a:xfrm>
          <a:prstGeom prst="rect">
            <a:avLst/>
          </a:prstGeom>
          <a:noFill/>
          <a:ln>
            <a:noFill/>
          </a:ln>
        </p:spPr>
      </p:pic>
      <p:cxnSp>
        <p:nvCxnSpPr>
          <p:cNvPr id="156" name="Google Shape;156;p26"/>
          <p:cNvCxnSpPr>
            <a:stCxn id="155" idx="2"/>
            <a:endCxn id="154" idx="0"/>
          </p:cNvCxnSpPr>
          <p:nvPr/>
        </p:nvCxnSpPr>
        <p:spPr>
          <a:xfrm flipH="1">
            <a:off x="4769986" y="3041275"/>
            <a:ext cx="60000" cy="315900"/>
          </a:xfrm>
          <a:prstGeom prst="straightConnector1">
            <a:avLst/>
          </a:prstGeom>
          <a:noFill/>
          <a:ln cap="flat" cmpd="sng" w="19050">
            <a:solidFill>
              <a:srgbClr val="FF0000"/>
            </a:solidFill>
            <a:prstDash val="solid"/>
            <a:round/>
            <a:headEnd len="med" w="med" type="none"/>
            <a:tailEnd len="med" w="med" type="triangle"/>
          </a:ln>
        </p:spPr>
      </p:cxn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На что действует Exception Filter?</a:t>
            </a:r>
            <a:endParaRPr/>
          </a:p>
        </p:txBody>
      </p:sp>
      <p:sp>
        <p:nvSpPr>
          <p:cNvPr id="162" name="Google Shape;162;p2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ru">
                <a:solidFill>
                  <a:schemeClr val="dk1"/>
                </a:solidFill>
              </a:rPr>
              <a:t>На программу:								   На метод:</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rtl="0" algn="l">
              <a:spcBef>
                <a:spcPts val="1200"/>
              </a:spcBef>
              <a:spcAft>
                <a:spcPts val="1200"/>
              </a:spcAft>
              <a:buNone/>
            </a:pPr>
            <a:r>
              <a:rPr lang="ru">
                <a:solidFill>
                  <a:schemeClr val="dk1"/>
                </a:solidFill>
              </a:rPr>
              <a:t>На контроллер:</a:t>
            </a:r>
            <a:endParaRPr>
              <a:solidFill>
                <a:schemeClr val="dk1"/>
              </a:solidFill>
            </a:endParaRPr>
          </a:p>
        </p:txBody>
      </p:sp>
      <p:pic>
        <p:nvPicPr>
          <p:cNvPr id="163" name="Google Shape;163;p27"/>
          <p:cNvPicPr preferRelativeResize="0"/>
          <p:nvPr/>
        </p:nvPicPr>
        <p:blipFill>
          <a:blip r:embed="rId3">
            <a:alphaModFix/>
          </a:blip>
          <a:stretch>
            <a:fillRect/>
          </a:stretch>
        </p:blipFill>
        <p:spPr>
          <a:xfrm>
            <a:off x="2125625" y="1017725"/>
            <a:ext cx="3393950" cy="2046600"/>
          </a:xfrm>
          <a:prstGeom prst="rect">
            <a:avLst/>
          </a:prstGeom>
          <a:noFill/>
          <a:ln>
            <a:noFill/>
          </a:ln>
        </p:spPr>
      </p:pic>
      <p:pic>
        <p:nvPicPr>
          <p:cNvPr id="164" name="Google Shape;164;p27"/>
          <p:cNvPicPr preferRelativeResize="0"/>
          <p:nvPr/>
        </p:nvPicPr>
        <p:blipFill>
          <a:blip r:embed="rId4">
            <a:alphaModFix/>
          </a:blip>
          <a:stretch>
            <a:fillRect/>
          </a:stretch>
        </p:blipFill>
        <p:spPr>
          <a:xfrm>
            <a:off x="2125613" y="3236238"/>
            <a:ext cx="3209925" cy="1762125"/>
          </a:xfrm>
          <a:prstGeom prst="rect">
            <a:avLst/>
          </a:prstGeom>
          <a:noFill/>
          <a:ln>
            <a:noFill/>
          </a:ln>
        </p:spPr>
      </p:pic>
      <p:pic>
        <p:nvPicPr>
          <p:cNvPr id="165" name="Google Shape;165;p27"/>
          <p:cNvPicPr preferRelativeResize="0"/>
          <p:nvPr/>
        </p:nvPicPr>
        <p:blipFill>
          <a:blip r:embed="rId5">
            <a:alphaModFix/>
          </a:blip>
          <a:stretch>
            <a:fillRect/>
          </a:stretch>
        </p:blipFill>
        <p:spPr>
          <a:xfrm>
            <a:off x="5735572" y="1891022"/>
            <a:ext cx="2955700" cy="21840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Порядок выполнения</a:t>
            </a:r>
            <a:endParaRPr/>
          </a:p>
        </p:txBody>
      </p:sp>
      <p:sp>
        <p:nvSpPr>
          <p:cNvPr id="171" name="Google Shape;171;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AutoNum type="arabicPeriod"/>
            </a:pPr>
            <a:r>
              <a:rPr lang="ru">
                <a:solidFill>
                  <a:schemeClr val="dk1"/>
                </a:solidFill>
              </a:rPr>
              <a:t>MethodExceptionFilter - сначала методный фильтр</a:t>
            </a:r>
            <a:endParaRPr>
              <a:solidFill>
                <a:schemeClr val="dk1"/>
              </a:solidFill>
            </a:endParaRPr>
          </a:p>
          <a:p>
            <a:pPr indent="-342900" lvl="0" marL="457200" rtl="0" algn="l">
              <a:spcBef>
                <a:spcPts val="0"/>
              </a:spcBef>
              <a:spcAft>
                <a:spcPts val="0"/>
              </a:spcAft>
              <a:buClr>
                <a:schemeClr val="dk1"/>
              </a:buClr>
              <a:buSzPts val="1800"/>
              <a:buAutoNum type="arabicPeriod"/>
            </a:pPr>
            <a:r>
              <a:rPr lang="ru">
                <a:solidFill>
                  <a:schemeClr val="dk1"/>
                </a:solidFill>
              </a:rPr>
              <a:t>ControllerExceptionFilter - потом контроллерный</a:t>
            </a:r>
            <a:endParaRPr>
              <a:solidFill>
                <a:schemeClr val="dk1"/>
              </a:solidFill>
            </a:endParaRPr>
          </a:p>
          <a:p>
            <a:pPr indent="-342900" lvl="0" marL="457200" rtl="0" algn="l">
              <a:spcBef>
                <a:spcPts val="0"/>
              </a:spcBef>
              <a:spcAft>
                <a:spcPts val="0"/>
              </a:spcAft>
              <a:buClr>
                <a:schemeClr val="dk1"/>
              </a:buClr>
              <a:buSzPts val="1800"/>
              <a:buAutoNum type="arabicPeriod"/>
            </a:pPr>
            <a:r>
              <a:rPr lang="ru">
                <a:solidFill>
                  <a:schemeClr val="dk1"/>
                </a:solidFill>
              </a:rPr>
              <a:t>GlobalExceptionFilter - потом глобальный</a:t>
            </a:r>
            <a:endParaRPr>
              <a:solidFill>
                <a:schemeClr val="dk1"/>
              </a:solidFill>
            </a:endParaRPr>
          </a:p>
          <a:p>
            <a:pPr indent="-342900" lvl="0" marL="457200" rtl="0" algn="l">
              <a:spcBef>
                <a:spcPts val="0"/>
              </a:spcBef>
              <a:spcAft>
                <a:spcPts val="0"/>
              </a:spcAft>
              <a:buClr>
                <a:schemeClr val="dk1"/>
              </a:buClr>
              <a:buSzPts val="1800"/>
              <a:buAutoNum type="arabicPeriod"/>
            </a:pPr>
            <a:r>
              <a:rPr lang="ru">
                <a:solidFill>
                  <a:schemeClr val="dk1"/>
                </a:solidFill>
              </a:rPr>
              <a:t>Middleware - если никто не обработал</a:t>
            </a:r>
            <a:endParaRPr>
              <a:solidFill>
                <a:schemeClr val="dk1"/>
              </a:solidFill>
            </a:endParaRPr>
          </a:p>
        </p:txBody>
      </p:sp>
      <p:pic>
        <p:nvPicPr>
          <p:cNvPr id="172" name="Google Shape;172;p28"/>
          <p:cNvPicPr preferRelativeResize="0"/>
          <p:nvPr/>
        </p:nvPicPr>
        <p:blipFill>
          <a:blip r:embed="rId3">
            <a:alphaModFix/>
          </a:blip>
          <a:stretch>
            <a:fillRect/>
          </a:stretch>
        </p:blipFill>
        <p:spPr>
          <a:xfrm>
            <a:off x="5247024" y="2447925"/>
            <a:ext cx="3585274" cy="24801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Result Filter</a:t>
            </a:r>
            <a:endParaRPr/>
          </a:p>
        </p:txBody>
      </p:sp>
      <p:sp>
        <p:nvSpPr>
          <p:cNvPr id="178" name="Google Shape;178;p2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ru">
                <a:solidFill>
                  <a:schemeClr val="dk1"/>
                </a:solidFill>
              </a:rPr>
              <a:t>Result Filters работают с </a:t>
            </a:r>
            <a:r>
              <a:rPr lang="ru">
                <a:solidFill>
                  <a:schemeClr val="dk1"/>
                </a:solidFill>
              </a:rPr>
              <a:t>результатом</a:t>
            </a:r>
            <a:r>
              <a:rPr lang="ru">
                <a:solidFill>
                  <a:schemeClr val="dk1"/>
                </a:solidFill>
              </a:rPr>
              <a:t> действия:</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rtl="0" algn="l">
              <a:spcBef>
                <a:spcPts val="1200"/>
              </a:spcBef>
              <a:spcAft>
                <a:spcPts val="0"/>
              </a:spcAft>
              <a:buNone/>
            </a:pPr>
            <a:r>
              <a:rPr lang="ru">
                <a:solidFill>
                  <a:schemeClr val="dk1"/>
                </a:solidFill>
              </a:rPr>
              <a:t>Result</a:t>
            </a:r>
            <a:r>
              <a:rPr lang="ru">
                <a:solidFill>
                  <a:schemeClr val="dk1"/>
                </a:solidFill>
              </a:rPr>
              <a:t> Filter перехватывает момент:</a:t>
            </a:r>
            <a:endParaRPr>
              <a:solidFill>
                <a:schemeClr val="dk1"/>
              </a:solidFill>
            </a:endParaRPr>
          </a:p>
          <a:p>
            <a:pPr indent="-342900" lvl="0" marL="457200" rtl="0" algn="l">
              <a:spcBef>
                <a:spcPts val="1200"/>
              </a:spcBef>
              <a:spcAft>
                <a:spcPts val="0"/>
              </a:spcAft>
              <a:buClr>
                <a:schemeClr val="dk1"/>
              </a:buClr>
              <a:buSzPts val="1800"/>
              <a:buChar char="●"/>
            </a:pPr>
            <a:r>
              <a:rPr lang="ru">
                <a:solidFill>
                  <a:schemeClr val="dk1"/>
                </a:solidFill>
              </a:rPr>
              <a:t>После выполнения метода контроллера</a:t>
            </a:r>
            <a:endParaRPr>
              <a:solidFill>
                <a:schemeClr val="dk1"/>
              </a:solidFill>
            </a:endParaRPr>
          </a:p>
          <a:p>
            <a:pPr indent="-342900" lvl="0" marL="457200" rtl="0" algn="l">
              <a:spcBef>
                <a:spcPts val="0"/>
              </a:spcBef>
              <a:spcAft>
                <a:spcPts val="0"/>
              </a:spcAft>
              <a:buClr>
                <a:schemeClr val="dk1"/>
              </a:buClr>
              <a:buSzPts val="1800"/>
              <a:buChar char="●"/>
            </a:pPr>
            <a:r>
              <a:rPr lang="ru">
                <a:solidFill>
                  <a:schemeClr val="dk1"/>
                </a:solidFill>
              </a:rPr>
              <a:t>До отправки результата пользователю</a:t>
            </a:r>
            <a:endParaRPr>
              <a:solidFill>
                <a:schemeClr val="dk1"/>
              </a:solidFill>
            </a:endParaRPr>
          </a:p>
          <a:p>
            <a:pPr indent="-342900" lvl="0" marL="457200" rtl="0" algn="l">
              <a:spcBef>
                <a:spcPts val="0"/>
              </a:spcBef>
              <a:spcAft>
                <a:spcPts val="0"/>
              </a:spcAft>
              <a:buClr>
                <a:schemeClr val="dk1"/>
              </a:buClr>
              <a:buSzPts val="1800"/>
              <a:buChar char="●"/>
            </a:pPr>
            <a:r>
              <a:rPr lang="ru">
                <a:solidFill>
                  <a:schemeClr val="dk1"/>
                </a:solidFill>
              </a:rPr>
              <a:t>В момент когда результат УЖЕ известен, но ЕЩЁ не обработан</a:t>
            </a:r>
            <a:endParaRPr>
              <a:solidFill>
                <a:schemeClr val="dk1"/>
              </a:solidFill>
            </a:endParaRPr>
          </a:p>
        </p:txBody>
      </p:sp>
      <p:pic>
        <p:nvPicPr>
          <p:cNvPr id="179" name="Google Shape;179;p29"/>
          <p:cNvPicPr preferRelativeResize="0"/>
          <p:nvPr/>
        </p:nvPicPr>
        <p:blipFill>
          <a:blip r:embed="rId3">
            <a:alphaModFix/>
          </a:blip>
          <a:stretch>
            <a:fillRect/>
          </a:stretch>
        </p:blipFill>
        <p:spPr>
          <a:xfrm>
            <a:off x="417588" y="1803625"/>
            <a:ext cx="4067175" cy="10096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Методы Result Filter</a:t>
            </a:r>
            <a:endParaRPr/>
          </a:p>
        </p:txBody>
      </p:sp>
      <p:pic>
        <p:nvPicPr>
          <p:cNvPr id="185" name="Google Shape;185;p30"/>
          <p:cNvPicPr preferRelativeResize="0"/>
          <p:nvPr/>
        </p:nvPicPr>
        <p:blipFill>
          <a:blip r:embed="rId3">
            <a:alphaModFix/>
          </a:blip>
          <a:stretch>
            <a:fillRect/>
          </a:stretch>
        </p:blipFill>
        <p:spPr>
          <a:xfrm>
            <a:off x="107649" y="1100700"/>
            <a:ext cx="4230750" cy="2944675"/>
          </a:xfrm>
          <a:prstGeom prst="rect">
            <a:avLst/>
          </a:prstGeom>
          <a:noFill/>
          <a:ln>
            <a:noFill/>
          </a:ln>
        </p:spPr>
      </p:pic>
      <p:pic>
        <p:nvPicPr>
          <p:cNvPr id="186" name="Google Shape;186;p30"/>
          <p:cNvPicPr preferRelativeResize="0"/>
          <p:nvPr/>
        </p:nvPicPr>
        <p:blipFill>
          <a:blip r:embed="rId4">
            <a:alphaModFix/>
          </a:blip>
          <a:stretch>
            <a:fillRect/>
          </a:stretch>
        </p:blipFill>
        <p:spPr>
          <a:xfrm>
            <a:off x="5074650" y="218701"/>
            <a:ext cx="3462125" cy="2381875"/>
          </a:xfrm>
          <a:prstGeom prst="rect">
            <a:avLst/>
          </a:prstGeom>
          <a:noFill/>
          <a:ln>
            <a:noFill/>
          </a:ln>
        </p:spPr>
      </p:pic>
      <p:pic>
        <p:nvPicPr>
          <p:cNvPr id="187" name="Google Shape;187;p30"/>
          <p:cNvPicPr preferRelativeResize="0"/>
          <p:nvPr/>
        </p:nvPicPr>
        <p:blipFill>
          <a:blip r:embed="rId5">
            <a:alphaModFix/>
          </a:blip>
          <a:stretch>
            <a:fillRect/>
          </a:stretch>
        </p:blipFill>
        <p:spPr>
          <a:xfrm>
            <a:off x="5074650" y="2647650"/>
            <a:ext cx="3018552" cy="2447975"/>
          </a:xfrm>
          <a:prstGeom prst="rect">
            <a:avLst/>
          </a:prstGeom>
          <a:noFill/>
          <a:ln>
            <a:noFill/>
          </a:ln>
        </p:spPr>
      </p:pic>
      <p:cxnSp>
        <p:nvCxnSpPr>
          <p:cNvPr id="188" name="Google Shape;188;p30"/>
          <p:cNvCxnSpPr>
            <a:stCxn id="185" idx="3"/>
            <a:endCxn id="186" idx="1"/>
          </p:cNvCxnSpPr>
          <p:nvPr/>
        </p:nvCxnSpPr>
        <p:spPr>
          <a:xfrm flipH="1" rot="10800000">
            <a:off x="4338399" y="1409637"/>
            <a:ext cx="736200" cy="1163400"/>
          </a:xfrm>
          <a:prstGeom prst="straightConnector1">
            <a:avLst/>
          </a:prstGeom>
          <a:noFill/>
          <a:ln cap="flat" cmpd="sng" w="9525">
            <a:solidFill>
              <a:srgbClr val="FF0000"/>
            </a:solidFill>
            <a:prstDash val="solid"/>
            <a:round/>
            <a:headEnd len="med" w="med" type="none"/>
            <a:tailEnd len="med" w="med" type="triangle"/>
          </a:ln>
        </p:spPr>
      </p:cxnSp>
      <p:cxnSp>
        <p:nvCxnSpPr>
          <p:cNvPr id="189" name="Google Shape;189;p30"/>
          <p:cNvCxnSpPr>
            <a:stCxn id="185" idx="3"/>
            <a:endCxn id="187" idx="1"/>
          </p:cNvCxnSpPr>
          <p:nvPr/>
        </p:nvCxnSpPr>
        <p:spPr>
          <a:xfrm>
            <a:off x="4338399" y="2573037"/>
            <a:ext cx="736200" cy="1298700"/>
          </a:xfrm>
          <a:prstGeom prst="straightConnector1">
            <a:avLst/>
          </a:prstGeom>
          <a:noFill/>
          <a:ln cap="flat" cmpd="sng" w="9525">
            <a:solidFill>
              <a:srgbClr val="FF0000"/>
            </a:solidFill>
            <a:prstDash val="solid"/>
            <a:round/>
            <a:headEnd len="med" w="med" type="none"/>
            <a:tailEnd len="med" w="med" type="triangle"/>
          </a:ln>
        </p:spPr>
      </p:cxnSp>
      <p:sp>
        <p:nvSpPr>
          <p:cNvPr id="190" name="Google Shape;190;p30"/>
          <p:cNvSpPr txBox="1"/>
          <p:nvPr/>
        </p:nvSpPr>
        <p:spPr>
          <a:xfrm>
            <a:off x="138825" y="4160275"/>
            <a:ext cx="1761900" cy="38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ru" sz="1800">
                <a:solidFill>
                  <a:schemeClr val="dk1"/>
                </a:solidFill>
              </a:rPr>
              <a:t>Типы Results</a:t>
            </a:r>
            <a:endParaRPr sz="1800">
              <a:solidFill>
                <a:schemeClr val="dk1"/>
              </a:solidFill>
            </a:endParaRPr>
          </a:p>
        </p:txBody>
      </p:sp>
      <p:pic>
        <p:nvPicPr>
          <p:cNvPr id="191" name="Google Shape;191;p30"/>
          <p:cNvPicPr preferRelativeResize="0"/>
          <p:nvPr/>
        </p:nvPicPr>
        <p:blipFill>
          <a:blip r:embed="rId6">
            <a:alphaModFix/>
          </a:blip>
          <a:stretch>
            <a:fillRect/>
          </a:stretch>
        </p:blipFill>
        <p:spPr>
          <a:xfrm>
            <a:off x="1765371" y="4094825"/>
            <a:ext cx="2217779" cy="102792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Другие фильтры</a:t>
            </a:r>
            <a:endParaRPr/>
          </a:p>
        </p:txBody>
      </p:sp>
      <p:sp>
        <p:nvSpPr>
          <p:cNvPr id="197" name="Google Shape;197;p3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ru" sz="1400">
                <a:solidFill>
                  <a:schemeClr val="dk1"/>
                </a:solidFill>
              </a:rPr>
              <a:t>[AllowAnonymous] - "игнорируй авторизацию"     </a:t>
            </a:r>
            <a:endParaRPr sz="1400">
              <a:solidFill>
                <a:schemeClr val="dk1"/>
              </a:solidFill>
            </a:endParaRPr>
          </a:p>
        </p:txBody>
      </p:sp>
      <p:pic>
        <p:nvPicPr>
          <p:cNvPr id="198" name="Google Shape;198;p31"/>
          <p:cNvPicPr preferRelativeResize="0"/>
          <p:nvPr/>
        </p:nvPicPr>
        <p:blipFill>
          <a:blip r:embed="rId3">
            <a:alphaModFix/>
          </a:blip>
          <a:stretch>
            <a:fillRect/>
          </a:stretch>
        </p:blipFill>
        <p:spPr>
          <a:xfrm>
            <a:off x="406949" y="1519699"/>
            <a:ext cx="3929025" cy="25099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pic>
        <p:nvPicPr>
          <p:cNvPr id="203" name="Google Shape;203;p32"/>
          <p:cNvPicPr preferRelativeResize="0"/>
          <p:nvPr/>
        </p:nvPicPr>
        <p:blipFill>
          <a:blip r:embed="rId3">
            <a:alphaModFix/>
          </a:blip>
          <a:stretch>
            <a:fillRect/>
          </a:stretch>
        </p:blipFill>
        <p:spPr>
          <a:xfrm>
            <a:off x="3935350" y="1851350"/>
            <a:ext cx="4596900" cy="1916532"/>
          </a:xfrm>
          <a:prstGeom prst="rect">
            <a:avLst/>
          </a:prstGeom>
          <a:noFill/>
          <a:ln>
            <a:noFill/>
          </a:ln>
        </p:spPr>
      </p:pic>
      <p:sp>
        <p:nvSpPr>
          <p:cNvPr id="204" name="Google Shape;204;p3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ru">
                <a:solidFill>
                  <a:schemeClr val="dk1"/>
                </a:solidFill>
              </a:rPr>
              <a:t>Использование:				   Внутри:</a:t>
            </a:r>
            <a:endParaRPr>
              <a:solidFill>
                <a:schemeClr val="dk1"/>
              </a:solidFill>
            </a:endParaRPr>
          </a:p>
        </p:txBody>
      </p:sp>
      <p:sp>
        <p:nvSpPr>
          <p:cNvPr id="205" name="Google Shape;205;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RequireHttps</a:t>
            </a:r>
            <a:endParaRPr/>
          </a:p>
        </p:txBody>
      </p:sp>
      <p:pic>
        <p:nvPicPr>
          <p:cNvPr id="206" name="Google Shape;206;p32"/>
          <p:cNvPicPr preferRelativeResize="0"/>
          <p:nvPr/>
        </p:nvPicPr>
        <p:blipFill>
          <a:blip r:embed="rId4">
            <a:alphaModFix/>
          </a:blip>
          <a:stretch>
            <a:fillRect/>
          </a:stretch>
        </p:blipFill>
        <p:spPr>
          <a:xfrm>
            <a:off x="95338" y="1851350"/>
            <a:ext cx="3495675" cy="2143125"/>
          </a:xfrm>
          <a:prstGeom prst="rect">
            <a:avLst/>
          </a:prstGeom>
          <a:noFill/>
          <a:ln>
            <a:noFill/>
          </a:ln>
        </p:spPr>
      </p:pic>
      <p:cxnSp>
        <p:nvCxnSpPr>
          <p:cNvPr id="207" name="Google Shape;207;p32"/>
          <p:cNvCxnSpPr>
            <a:stCxn id="206" idx="2"/>
            <a:endCxn id="203" idx="2"/>
          </p:cNvCxnSpPr>
          <p:nvPr/>
        </p:nvCxnSpPr>
        <p:spPr>
          <a:xfrm flipH="1" rot="10800000">
            <a:off x="1843175" y="3767975"/>
            <a:ext cx="4390500" cy="226500"/>
          </a:xfrm>
          <a:prstGeom prst="straightConnector1">
            <a:avLst/>
          </a:prstGeom>
          <a:noFill/>
          <a:ln cap="flat" cmpd="sng" w="9525">
            <a:solidFill>
              <a:srgbClr val="FF0000"/>
            </a:solidFill>
            <a:prstDash val="solid"/>
            <a:round/>
            <a:headEnd len="med" w="med" type="none"/>
            <a:tailEnd len="med" w="med" type="triangle"/>
          </a:ln>
        </p:spPr>
      </p:cxn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33"/>
          <p:cNvSpPr txBox="1"/>
          <p:nvPr>
            <p:ph type="title"/>
          </p:nvPr>
        </p:nvSpPr>
        <p:spPr>
          <a:xfrm>
            <a:off x="24450" y="42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[ValidateAntiForgeryToken] - "защита от хакеров"</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213" name="Google Shape;213;p33"/>
          <p:cNvSpPr txBox="1"/>
          <p:nvPr>
            <p:ph idx="1" type="body"/>
          </p:nvPr>
        </p:nvSpPr>
        <p:spPr>
          <a:xfrm>
            <a:off x="43600" y="635488"/>
            <a:ext cx="5270400" cy="2844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ru" sz="1100">
                <a:solidFill>
                  <a:schemeClr val="dk1"/>
                </a:solidFill>
              </a:rPr>
              <a:t>Аналогия с подписью в банке:</a:t>
            </a:r>
            <a:endParaRPr sz="1100">
              <a:solidFill>
                <a:schemeClr val="dk1"/>
              </a:solidFill>
            </a:endParaRPr>
          </a:p>
          <a:p>
            <a:pPr indent="-298450" lvl="0" marL="457200" rtl="0" algn="l">
              <a:spcBef>
                <a:spcPts val="1200"/>
              </a:spcBef>
              <a:spcAft>
                <a:spcPts val="0"/>
              </a:spcAft>
              <a:buClr>
                <a:schemeClr val="dk1"/>
              </a:buClr>
              <a:buSzPts val="1100"/>
              <a:buChar char="●"/>
            </a:pPr>
            <a:r>
              <a:rPr lang="ru" sz="1100">
                <a:solidFill>
                  <a:schemeClr val="dk1"/>
                </a:solidFill>
              </a:rPr>
              <a:t>Вы даете поручение банку перевести деньги</a:t>
            </a:r>
            <a:endParaRPr sz="1100">
              <a:solidFill>
                <a:schemeClr val="dk1"/>
              </a:solidFill>
            </a:endParaRPr>
          </a:p>
          <a:p>
            <a:pPr indent="-298450" lvl="0" marL="457200" rtl="0" algn="l">
              <a:spcBef>
                <a:spcPts val="0"/>
              </a:spcBef>
              <a:spcAft>
                <a:spcPts val="0"/>
              </a:spcAft>
              <a:buClr>
                <a:schemeClr val="dk1"/>
              </a:buClr>
              <a:buSzPts val="1100"/>
              <a:buChar char="●"/>
            </a:pPr>
            <a:r>
              <a:rPr lang="ru" sz="1100">
                <a:solidFill>
                  <a:schemeClr val="dk1"/>
                </a:solidFill>
              </a:rPr>
              <a:t>Банк проверяет вашу подпись</a:t>
            </a:r>
            <a:endParaRPr sz="1100">
              <a:solidFill>
                <a:schemeClr val="dk1"/>
              </a:solidFill>
            </a:endParaRPr>
          </a:p>
          <a:p>
            <a:pPr indent="-298450" lvl="0" marL="457200" rtl="0" algn="l">
              <a:spcBef>
                <a:spcPts val="0"/>
              </a:spcBef>
              <a:spcAft>
                <a:spcPts val="0"/>
              </a:spcAft>
              <a:buClr>
                <a:schemeClr val="dk1"/>
              </a:buClr>
              <a:buSzPts val="1100"/>
              <a:buChar char="●"/>
            </a:pPr>
            <a:r>
              <a:rPr lang="ru" sz="1100">
                <a:solidFill>
                  <a:schemeClr val="dk1"/>
                </a:solidFill>
              </a:rPr>
              <a:t>Без подписи - любой может перевести ваши деньги!</a:t>
            </a:r>
            <a:endParaRPr sz="1100">
              <a:solidFill>
                <a:schemeClr val="dk1"/>
              </a:solidFill>
            </a:endParaRPr>
          </a:p>
          <a:p>
            <a:pPr indent="0" lvl="0" marL="0" rtl="0" algn="l">
              <a:spcBef>
                <a:spcPts val="1200"/>
              </a:spcBef>
              <a:spcAft>
                <a:spcPts val="0"/>
              </a:spcAft>
              <a:buNone/>
            </a:pPr>
            <a:r>
              <a:rPr lang="ru" sz="1100">
                <a:solidFill>
                  <a:schemeClr val="dk1"/>
                </a:solidFill>
              </a:rPr>
              <a:t>При показе формы генерируется 2 части:</a:t>
            </a:r>
            <a:endParaRPr sz="1100">
              <a:solidFill>
                <a:schemeClr val="dk1"/>
              </a:solidFill>
            </a:endParaRPr>
          </a:p>
          <a:p>
            <a:pPr indent="-298450" lvl="0" marL="457200" rtl="0" algn="l">
              <a:spcBef>
                <a:spcPts val="1200"/>
              </a:spcBef>
              <a:spcAft>
                <a:spcPts val="0"/>
              </a:spcAft>
              <a:buClr>
                <a:schemeClr val="dk1"/>
              </a:buClr>
              <a:buSzPts val="1100"/>
              <a:buChar char="●"/>
            </a:pPr>
            <a:r>
              <a:rPr lang="ru" sz="1100">
                <a:solidFill>
                  <a:schemeClr val="dk1"/>
                </a:solidFill>
              </a:rPr>
              <a:t>Одна в Cookies (HttpOnly)</a:t>
            </a:r>
            <a:endParaRPr sz="1100">
              <a:solidFill>
                <a:schemeClr val="dk1"/>
              </a:solidFill>
            </a:endParaRPr>
          </a:p>
          <a:p>
            <a:pPr indent="-298450" lvl="0" marL="457200" marR="152400" rtl="0" algn="l">
              <a:lnSpc>
                <a:spcPct val="165000"/>
              </a:lnSpc>
              <a:spcBef>
                <a:spcPts val="0"/>
              </a:spcBef>
              <a:spcAft>
                <a:spcPts val="0"/>
              </a:spcAft>
              <a:buClr>
                <a:schemeClr val="dk1"/>
              </a:buClr>
              <a:buSzPts val="1100"/>
              <a:buChar char="●"/>
            </a:pPr>
            <a:r>
              <a:rPr lang="ru" sz="1100">
                <a:solidFill>
                  <a:schemeClr val="dk1"/>
                </a:solidFill>
              </a:rPr>
              <a:t>Одна в скрытом поле формы</a:t>
            </a:r>
            <a:endParaRPr sz="1100">
              <a:solidFill>
                <a:schemeClr val="dk1"/>
              </a:solidFill>
            </a:endParaRPr>
          </a:p>
          <a:p>
            <a:pPr indent="0" lvl="0" marL="457200" rtl="0" algn="l">
              <a:spcBef>
                <a:spcPts val="0"/>
              </a:spcBef>
              <a:spcAft>
                <a:spcPts val="1200"/>
              </a:spcAft>
              <a:buNone/>
            </a:pPr>
            <a:r>
              <a:t/>
            </a:r>
            <a:endParaRPr sz="1100">
              <a:solidFill>
                <a:schemeClr val="dk1"/>
              </a:solidFill>
            </a:endParaRPr>
          </a:p>
        </p:txBody>
      </p:sp>
      <p:pic>
        <p:nvPicPr>
          <p:cNvPr id="214" name="Google Shape;214;p33"/>
          <p:cNvPicPr preferRelativeResize="0"/>
          <p:nvPr/>
        </p:nvPicPr>
        <p:blipFill>
          <a:blip r:embed="rId3">
            <a:alphaModFix/>
          </a:blip>
          <a:stretch>
            <a:fillRect/>
          </a:stretch>
        </p:blipFill>
        <p:spPr>
          <a:xfrm>
            <a:off x="68250" y="3463675"/>
            <a:ext cx="3937850" cy="1581800"/>
          </a:xfrm>
          <a:prstGeom prst="rect">
            <a:avLst/>
          </a:prstGeom>
          <a:noFill/>
          <a:ln>
            <a:noFill/>
          </a:ln>
        </p:spPr>
      </p:pic>
      <p:pic>
        <p:nvPicPr>
          <p:cNvPr id="215" name="Google Shape;215;p33"/>
          <p:cNvPicPr preferRelativeResize="0"/>
          <p:nvPr/>
        </p:nvPicPr>
        <p:blipFill>
          <a:blip r:embed="rId4">
            <a:alphaModFix/>
          </a:blip>
          <a:stretch>
            <a:fillRect/>
          </a:stretch>
        </p:blipFill>
        <p:spPr>
          <a:xfrm>
            <a:off x="5170425" y="3500300"/>
            <a:ext cx="3550450" cy="1508550"/>
          </a:xfrm>
          <a:prstGeom prst="rect">
            <a:avLst/>
          </a:prstGeom>
          <a:noFill/>
          <a:ln>
            <a:noFill/>
          </a:ln>
        </p:spPr>
      </p:pic>
      <p:cxnSp>
        <p:nvCxnSpPr>
          <p:cNvPr id="216" name="Google Shape;216;p33"/>
          <p:cNvCxnSpPr>
            <a:stCxn id="214" idx="3"/>
            <a:endCxn id="215" idx="1"/>
          </p:cNvCxnSpPr>
          <p:nvPr/>
        </p:nvCxnSpPr>
        <p:spPr>
          <a:xfrm>
            <a:off x="4006100" y="4254575"/>
            <a:ext cx="1164300" cy="0"/>
          </a:xfrm>
          <a:prstGeom prst="straightConnector1">
            <a:avLst/>
          </a:prstGeom>
          <a:noFill/>
          <a:ln cap="flat" cmpd="sng" w="9525">
            <a:solidFill>
              <a:srgbClr val="CC0000"/>
            </a:solidFill>
            <a:prstDash val="solid"/>
            <a:round/>
            <a:headEnd len="med" w="med" type="none"/>
            <a:tailEnd len="med" w="med" type="triangle"/>
          </a:ln>
        </p:spPr>
      </p:cxnSp>
      <p:pic>
        <p:nvPicPr>
          <p:cNvPr id="217" name="Google Shape;217;p33"/>
          <p:cNvPicPr preferRelativeResize="0"/>
          <p:nvPr/>
        </p:nvPicPr>
        <p:blipFill>
          <a:blip r:embed="rId5">
            <a:alphaModFix/>
          </a:blip>
          <a:stretch>
            <a:fillRect/>
          </a:stretch>
        </p:blipFill>
        <p:spPr>
          <a:xfrm>
            <a:off x="5510275" y="999416"/>
            <a:ext cx="3094400" cy="1216908"/>
          </a:xfrm>
          <a:prstGeom prst="rect">
            <a:avLst/>
          </a:prstGeom>
          <a:noFill/>
          <a:ln>
            <a:noFill/>
          </a:ln>
        </p:spPr>
      </p:pic>
      <p:cxnSp>
        <p:nvCxnSpPr>
          <p:cNvPr id="218" name="Google Shape;218;p33"/>
          <p:cNvCxnSpPr>
            <a:stCxn id="217" idx="2"/>
            <a:endCxn id="215" idx="0"/>
          </p:cNvCxnSpPr>
          <p:nvPr/>
        </p:nvCxnSpPr>
        <p:spPr>
          <a:xfrm flipH="1">
            <a:off x="6945575" y="2216325"/>
            <a:ext cx="111900" cy="1284000"/>
          </a:xfrm>
          <a:prstGeom prst="straightConnector1">
            <a:avLst/>
          </a:prstGeom>
          <a:noFill/>
          <a:ln cap="flat" cmpd="sng" w="9525">
            <a:solidFill>
              <a:srgbClr val="00FF00"/>
            </a:solidFill>
            <a:prstDash val="solid"/>
            <a:round/>
            <a:headEnd len="med" w="med" type="none"/>
            <a:tailEnd len="med" w="med" type="triangle"/>
          </a:ln>
        </p:spPr>
      </p:cxn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Validation Filter</a:t>
            </a:r>
            <a:endParaRPr/>
          </a:p>
        </p:txBody>
      </p:sp>
      <p:sp>
        <p:nvSpPr>
          <p:cNvPr id="224" name="Google Shape;224;p3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ru">
                <a:solidFill>
                  <a:schemeClr val="dk1"/>
                </a:solidFill>
              </a:rPr>
              <a:t>ValidationFilter - это фильтр в ASP.NET Core, который автоматически проверяет валидность модели перед выполнением действия контроллера. Он обеспечивает централизованную обработку валидации данных.</a:t>
            </a:r>
            <a:endParaRPr>
              <a:solidFill>
                <a:schemeClr val="dk1"/>
              </a:solidFill>
            </a:endParaRPr>
          </a:p>
        </p:txBody>
      </p:sp>
      <p:pic>
        <p:nvPicPr>
          <p:cNvPr id="225" name="Google Shape;225;p34"/>
          <p:cNvPicPr preferRelativeResize="0"/>
          <p:nvPr/>
        </p:nvPicPr>
        <p:blipFill>
          <a:blip r:embed="rId3">
            <a:alphaModFix/>
          </a:blip>
          <a:stretch>
            <a:fillRect/>
          </a:stretch>
        </p:blipFill>
        <p:spPr>
          <a:xfrm>
            <a:off x="311700" y="2252375"/>
            <a:ext cx="3887925" cy="2150250"/>
          </a:xfrm>
          <a:prstGeom prst="rect">
            <a:avLst/>
          </a:prstGeom>
          <a:noFill/>
          <a:ln>
            <a:noFill/>
          </a:ln>
        </p:spPr>
      </p:pic>
      <p:pic>
        <p:nvPicPr>
          <p:cNvPr id="226" name="Google Shape;226;p34"/>
          <p:cNvPicPr preferRelativeResize="0"/>
          <p:nvPr/>
        </p:nvPicPr>
        <p:blipFill>
          <a:blip r:embed="rId4">
            <a:alphaModFix/>
          </a:blip>
          <a:stretch>
            <a:fillRect/>
          </a:stretch>
        </p:blipFill>
        <p:spPr>
          <a:xfrm>
            <a:off x="4647225" y="2252375"/>
            <a:ext cx="2503721" cy="2150250"/>
          </a:xfrm>
          <a:prstGeom prst="rect">
            <a:avLst/>
          </a:prstGeom>
          <a:noFill/>
          <a:ln>
            <a:noFill/>
          </a:ln>
        </p:spPr>
      </p:pic>
      <p:cxnSp>
        <p:nvCxnSpPr>
          <p:cNvPr id="227" name="Google Shape;227;p34"/>
          <p:cNvCxnSpPr>
            <a:stCxn id="225" idx="3"/>
            <a:endCxn id="226" idx="1"/>
          </p:cNvCxnSpPr>
          <p:nvPr/>
        </p:nvCxnSpPr>
        <p:spPr>
          <a:xfrm>
            <a:off x="4199625" y="3327500"/>
            <a:ext cx="447600" cy="0"/>
          </a:xfrm>
          <a:prstGeom prst="straightConnector1">
            <a:avLst/>
          </a:prstGeom>
          <a:noFill/>
          <a:ln cap="flat" cmpd="sng" w="28575">
            <a:solidFill>
              <a:srgbClr val="FF0000"/>
            </a:solidFill>
            <a:prstDash val="solid"/>
            <a:round/>
            <a:headEnd len="med" w="med" type="none"/>
            <a:tailEnd len="med" w="med" type="triangle"/>
          </a:ln>
        </p:spPr>
      </p:cxn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Dark">
  <a:themeElements>
    <a:clrScheme name="Simple Dark">
      <a:dk1>
        <a:srgbClr val="FFFFFF"/>
      </a:dk1>
      <a:lt1>
        <a:srgbClr val="212121"/>
      </a:lt1>
      <a:dk2>
        <a:srgbClr val="303030"/>
      </a:dk2>
      <a:lt2>
        <a:srgbClr val="ADADAD"/>
      </a:lt2>
      <a:accent1>
        <a:srgbClr val="009688"/>
      </a:accent1>
      <a:accent2>
        <a:srgbClr val="EEEEEE"/>
      </a:accent2>
      <a:accent3>
        <a:srgbClr val="78909C"/>
      </a:accent3>
      <a:accent4>
        <a:srgbClr val="FFAB40"/>
      </a:accent4>
      <a:accent5>
        <a:srgbClr val="4DD0E1"/>
      </a:accent5>
      <a:accent6>
        <a:srgbClr val="EEFF41"/>
      </a:accent6>
      <a:hlink>
        <a:srgbClr val="4DD0E1"/>
      </a:hlink>
      <a:folHlink>
        <a:srgbClr val="4DD0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