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  <p:embeddedFont>
      <p:font typeface="Tahoma"/>
      <p:regular r:id="rId24"/>
      <p:bold r:id="rId25"/>
    </p:embeddedFont>
    <p:embeddedFont>
      <p:font typeface="Montserrat ExtraBold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22" Type="http://schemas.openxmlformats.org/officeDocument/2006/relationships/font" Target="fonts/MontserratMedium-italic.fntdata"/><Relationship Id="rId21" Type="http://schemas.openxmlformats.org/officeDocument/2006/relationships/font" Target="fonts/MontserratMedium-bold.fntdata"/><Relationship Id="rId24" Type="http://schemas.openxmlformats.org/officeDocument/2006/relationships/font" Target="fonts/Tahoma-regular.fntdata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ExtraBold-bold.fntdata"/><Relationship Id="rId25" Type="http://schemas.openxmlformats.org/officeDocument/2006/relationships/font" Target="fonts/Tahoma-bold.fntdata"/><Relationship Id="rId27" Type="http://schemas.openxmlformats.org/officeDocument/2006/relationships/font" Target="fonts/MontserratExtra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ADEFF"/>
              </a:buClr>
              <a:buSzPts val="2400"/>
              <a:buNone/>
              <a:defRPr sz="2400">
                <a:solidFill>
                  <a:srgbClr val="8ADE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DEFF"/>
              </a:buClr>
              <a:buSzPts val="2000"/>
              <a:buNone/>
              <a:defRPr sz="2000">
                <a:solidFill>
                  <a:srgbClr val="8ADEF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DEFF"/>
              </a:buClr>
              <a:buSzPts val="1800"/>
              <a:buNone/>
              <a:defRPr sz="1800">
                <a:solidFill>
                  <a:srgbClr val="8ADEF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DEFF"/>
              </a:buClr>
              <a:buSzPts val="1600"/>
              <a:buNone/>
              <a:defRPr sz="1600">
                <a:solidFill>
                  <a:srgbClr val="8ADEF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DEFF"/>
              </a:buClr>
              <a:buSzPts val="1600"/>
              <a:buNone/>
              <a:defRPr sz="1600">
                <a:solidFill>
                  <a:srgbClr val="8ADEF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DEFF"/>
              </a:buClr>
              <a:buSzPts val="1600"/>
              <a:buNone/>
              <a:defRPr sz="1600">
                <a:solidFill>
                  <a:srgbClr val="8ADEF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DEFF"/>
              </a:buClr>
              <a:buSzPts val="1600"/>
              <a:buNone/>
              <a:defRPr sz="1600">
                <a:solidFill>
                  <a:srgbClr val="8ADEF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DEFF"/>
              </a:buClr>
              <a:buSzPts val="1600"/>
              <a:buNone/>
              <a:defRPr sz="1600">
                <a:solidFill>
                  <a:srgbClr val="8ADEF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DEFF"/>
              </a:buClr>
              <a:buSzPts val="1600"/>
              <a:buNone/>
              <a:defRPr sz="1600">
                <a:solidFill>
                  <a:srgbClr val="8ADEFF"/>
                </a:solidFill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A18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2192000" y="6858000"/>
            <a:ext cx="381000" cy="247760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yJEZXNpZ25Db25jZXB0Ijp7IlByaW1hcnlTaGFwZSI6eyJDb25jZXB0X1NoYXBlIjo5LCJIZWlnaHQiOjEuMCwiQkdDb2xvciI6NSwiQnJpZ2h0bmVzcyI6MC4wLCJSYW5kb21BZGp1c3RtZW50cyI6bnVsbCwiQm9yZGVyV2lkdGgiOjAuMCwiQm9yZGVyU3R5bGUiOjEsIkJvcmRlckNvbG9yIjo1LCJCb3JkZXJUcmFuc3BlcmFuY3kiOjAuMCwiUG9zaXRpb24iOjE4LCJTY2FsZSI6MSwiUm90YXRpb24iOjAuMCwiTWluaW11bSI6MSwiTWF4aW11bSI6MSwiVGV4dHVyZVNoYXBlIjpudWxsLCJQYXR0ZXJuVHlwZSI6MCwiVHJhbnNwYXJlbmN5IjowLjAsIk5ld1NoYXBlTmV3U2xpZGUiOmZhbHNlLCJTb2Z0RWRnZXMiOmZhbHNlLCJXaWR0aEZhY3QiOjAuMCwiSGVpZ2h0RmFjdCI6MC4wLCJPdmVybGF5UGFyZW50Ijp0cnVlfSwiUHJpbWFyeV9BZGRTaGFwZXMiOlt7IkNvbmNlcHRfU2hhcGUiOjksIkhlaWdodCI6MS4wLCJCR0NvbG9yIjo2LCJCcmlnaHRuZXNzIjowLjAsIlJhbmRvbUFkanVzdG1lbnRzIjpudWxsLCJCb3JkZXJXaWR0aCI6MC4wLCJCb3JkZXJTdHlsZSI6MSwiQm9yZGVyQ29sb3IiOjUsIkJvcmRlclRyYW5zcGVyYW5jeSI6MC4wLCJQb3NpdGlvbiI6MjIsIlNjYWxlIjoyLCJSb3RhdGlvbiI6MC4wLCJNaW5pbXVtIjoxLCJNYXhpbXVtIjoxLCJUZXh0dXJlU2hhcGUiOm51bGwsIlBhdHRlcm5UeXBlIjowLCJUcmFuc3BhcmVuY3kiOjAuMCwiTmV3U2hhcGVOZXdTbGlkZSI6ZmFsc2UsIlNvZnRFZGdlcyI6dHJ1ZSwiV2lkdGhGYWN0IjowLjAsIkhlaWdodEZhY3QiOjAuMCwiT3ZlcmxheVBhcmVudCI6dHJ1ZX0seyJDb25jZXB0X1NoYXBlIjo5LCJIZWlnaHQiOjEuMCwiQkdDb2xvciI6NiwiQnJpZ2h0bmVzcyI6MC4wLCJSYW5kb21BZGp1c3RtZW50cyI6bnVsbCwiQm9yZGVyV2lkdGgiOjEuMCwiQm9yZGVyU3R5bGUiOjEsIkJvcmRlckNvbG9yIjo1LCJCb3JkZXJUcmFuc3BlcmFuY3kiOjAuMCwiUG9zaXRpb24iOjQsIlNjYWxlIjo3LCJSb3RhdGlvbiI6MC4wLCJNaW5pbXVtIjoxLCJNYXhpbXVtIjoxLCJUZXh0dXJlU2hhcGUiOm51bGwsIlBhdHRlcm5UeXBlIjowLCJUcmFuc3BhcmVuY3kiOjEuMCwiTmV3U2hhcGVOZXdTbGlkZSI6ZmFsc2UsIlNvZnRFZGdlcyI6ZmFsc2UsIldpZHRoRmFjdCI6MC4wLCJIZWlnaHRGYWN0IjowLjAsIk92ZXJsYXlQYXJlbnQiOnRydWV9LHsiQ29uY2VwdF9TaGFwZSI6OSwiSGVpZ2h0IjoxLjAsIkJHQ29sb3IiOjUsIkJyaWdodG5lc3MiOjAuMCwiUmFuZG9tQWRqdXN0bWVudHMiOm51bGwsIkJvcmRlcldpZHRoIjowLjAsIkJvcmRlclN0eWxlIjoxLCJCb3JkZXJDb2xvciI6NSwiQm9yZGVyVHJhbnNwZXJhbmN5IjowLjAsIlBvc2l0aW9uIjoyMCwiU2NhbGUiOjcsIlJvdGF0aW9uIjowLjAsIk1pbmltdW0iOjEsIk1heGltdW0iOjEsIlRleHR1cmVTaGFwZSI6bnVsbCwiUGF0dGVyblR5cGUiOjAsIlRyYW5zcGFyZW5jeSI6MC4wLCJOZXdTaGFwZU5ld1NsaWRlIjpmYWxzZSwiU29mdEVkZ2VzIjp0cnVlLCJXaWR0aEZhY3QiOjAuMCwiSGVpZ2h0RmFjdCI6MC4wLCJPdmVybGF5UGFyZW50Ijp0cnVlfSx7IkNvbmNlcHRfU2hhcGUiOjksIkhlaWdodCI6MS4wLCJCR0NvbG9yIjo2LCJCcmlnaHRuZXNzIjowLjAsIlJhbmRvbUFkanVzdG1lbnRzIjpudWxsLCJCb3JkZXJXaWR0aCI6MC4wLCJCb3JkZXJTdHlsZSI6MSwiQm9yZGVyQ29sb3IiOjUsIkJvcmRlclRyYW5zcGVyYW5jeSI6MC4wLCJQb3NpdGlvbiI6MTcsIlNjYWxlIjozLCJSb3RhdGlvbiI6MC4wLCJNaW5pbXVtIjoxLCJNYXhpbXVtIjoxLCJUZXh0dXJlU2hhcGUiOm51bGwsIlBhdHRlcm5UeXBlIjowLCJUcmFuc3BhcmVuY3kiOjAuMCwiTmV3U2hhcGVOZXdTbGlkZSI6ZmFsc2UsIlNvZnRFZGdlcyI6dHJ1ZSwiV2lkdGhGYWN0IjowLjAsIkhlaWdodEZhY3QiOjAuMCwiT3ZlcmxheVBhcmVudCI6dHJ1ZX1dLCJTZWNvbmRhcnlTaGFwZSI6bnVsbCwiTW9kdWxlU2hhcGUiOjksIk1vZHVsZV9BZGRTaGFwZXMiOlt7IkNvbmNlcHRfU2hhcGUiOjE4LCJIZWlnaHQiOjEuMCwiQkdDb2xvciI6NSwiQnJpZ2h0bmVzcyI6MC4wLCJSYW5kb21BZGp1c3RtZW50cyI6W1swLjAwMjI2LDAuMjYxMDVdXSwiQm9yZGVyV2lkdGgiOjAuMCwiQm9yZGVyU3R5bGUiOjEsIkJvcmRlckNvbG9yIjo1LCJCb3JkZXJUcmFuc3BlcmFuY3kiOjAuMCwiUG9zaXRpb24iOjI3LCJTY2FsZSI6NSwiUm90YXRpb24iOjAuMCwiTWluaW11bSI6MSwiTWF4aW11bSI6MSwiVGV4dHVyZVNoYXBlIjpudWxsLCJQYXR0ZXJuVHlwZSI6MCwiVHJhbnNwYXJlbmN5IjowLjAsIk5ld1NoYXBlTmV3U2xpZGUiOmZhbHNlLCJTb2Z0RWRnZXMiOmZhbHNlLCJXaWR0aEZhY3QiOjAuMCwiSGVpZ2h0RmFjdCI6MC4wLCJPdmVybGF5UGFyZW50Ijp0cnVlfV0sIk92ZXJsYXlNb2R1bGUiOjAsIk1vZHVsZUFkanVzdG1lbnRzIjpudWxsLCJSZWN0YW5nbGVTbW9vdGgiOnRydWUsIlJlY3RhbmdsZVNtb290aFJhZGl1cyI6MC4wMTExLCJCb3JkZXJTdHlsZSI6MCwiU2V0QkdCbG9ja3MiOmZhbHNlLCJNZXJnZU1vZHVsZSI6MH0sIkdyYWRpZW50IjoyLCJGb250VGl0bGUiOiJBcmlhbCIsIkZvbnRUZXh0IjoiQXJpYWwgTmFycm93IiwiRm9udFVwcGVyY2FzZSI6dHJ1ZSwiU2hhcGVDb25jZXB0IjoyLCJEb05vdENyb3BCeUNvbmNlcHRTaGFwZSI6ZmFsc2UsIkNyZWF0aXZlTGV2ZWwiOjMsIkluc2VydEZsYXRpY29ucyI6ZmFsc2UsIkxUV0hfZm9yX3RpdGxlIjpbMC4wNDAwMDAwMDI4LDAuMDM3MzIzNzEsMC43ODc1LDAuMDYwOTA2NDVdLCJMVFdIX2Zvcl9mcmVlX3NwYWNlIjpbMC4wMzk5OTk5MTcxLDAuMTMzMzMzMzQsMC45MjAwMDAxLDAuNzY4ODg4OV0sIkxUV0hfZm9yX3NsaWRlX251bWVyYXRpb24iOm51bGwsIkZvbnRTaXplIjowLjAzMzMzMzMzNTEsImJnX2NvbG9yIjpbMjU1LDI1NSwyNTVdLCJhY2NlbnRfY29sb3IiOlswLDUyLDE4OV0sImFjY2VudDJfY29sb3IiOlswLDE3NiwyNDBdLCJhY2NlbnQzX2NvbG9yIjpudWxsLCJhY2NlbnQ0X2NvbG9yIjpudWxsLCJhY2NlbnQ1X2NvbG9yIjpudWxsLCJhY2NlbnQ2X2NvbG9yIjpudWxsLCJDdXN0b21Db25jZXB0U2hhcGUiOmZhbHNlLCJDb3Jwb3JhdGVTdHlsZSI6ZmFsc2V9</a:t>
            </a: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slow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346">
          <p15:clr>
            <a:srgbClr val="F26B43"/>
          </p15:clr>
        </p15:guide>
        <p15:guide id="4" orient="horz" pos="3952">
          <p15:clr>
            <a:srgbClr val="F26B43"/>
          </p15:clr>
        </p15:guide>
        <p15:guide id="5" pos="7310">
          <p15:clr>
            <a:srgbClr val="F26B43"/>
          </p15:clr>
        </p15:guide>
        <p15:guide id="6" pos="34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A18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ADE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ADE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ADE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ADE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ADE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ADE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ADE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ADE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ADE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ADE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ADE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12192000" y="6858000"/>
            <a:ext cx="381000" cy="19236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yJEZXNpZ25Db25jZXB0Ijp7IlByaW1hcnlTaGFwZSI6eyJDb25jZXB0X1NoYXBlIjo5LCJIZWlnaHQiOjEuMCwiQkdDb2xvciI6NSwiQnJpZ2h0bmVzcyI6MC4wLCJSYW5kb21BZGp1c3RtZW50cyI6bnVsbCwiQm9yZGVyV2lkdGgiOjAuMCwiQm9yZGVyU3R5bGUiOjEsIkJvcmRlckNvbG9yIjo1LCJCb3JkZXJUcmFuc3BlcmFuY3kiOjAuMCwiUG9zaXRpb24iOjE4LCJTY2FsZSI6NSwiUm90YXRpb24iOjAuMCwiTWluaW11bSI6MSwiTWF4aW11bSI6MSwiVGV4dHVyZVNoYXBlIjpudWxsLCJQYXR0ZXJuVHlwZSI6MCwiVHJhbnNwYXJlbmN5IjowLjAsIk5ld1NoYXBlTmV3U2xpZGUiOmZhbHNlLCJTb2Z0RWRnZXMiOmZhbHNlLCJXaWR0aEZhY3QiOjAuMCwiSGVpZ2h0RmFjdCI6MC4wLCJPdmVybGF5UGFyZW50Ijp0cnVlfSwiUHJpbWFyeV9BZGRTaGFwZXMiOlt7IkNvbmNlcHRfU2hhcGUiOjE4LCJIZWlnaHQiOjEuMCwiQkdDb2xvciI6NSwiQnJpZ2h0bmVzcyI6MC4wLCJSYW5kb21BZGp1c3RtZW50cyI6W1swLjAwMjI2LDAuMjYxMDVdXSwiQm9yZGVyV2lkdGgiOjEuMCwiQm9yZGVyU3R5bGUiOjEsIkJvcmRlckNvbG9yIjo1LCJCb3JkZXJUcmFuc3BlcmFuY3kiOjAuMCwiUG9zaXRpb24iOjEwLCJTY2FsZSI6MiwiUm90YXRpb24iOjAuMCwiTWluaW11bSI6MSwiTWF4aW11bSI6MSwiVGV4dHVyZVNoYXBlIjpudWxsLCJQYXR0ZXJuVHlwZSI6MCwiVHJhbnNwYXJlbmN5IjoxLjAsIk5ld1NoYXBlTmV3U2xpZGUiOmZhbHNlLCJTb2Z0RWRnZXMiOmZhbHNlLCJXaWR0aEZhY3QiOjAuMCwiSGVpZ2h0RmFjdCI6MC4wLCJPdmVybGF5UGFyZW50Ijp0cnVlfV0sIlNlY29uZGFyeVNoYXBlIjpudWxsLCJNb2R1bGVTaGFwZSI6OSwiTW9kdWxlX0FkZFNoYXBlcyI6W3siQ29uY2VwdF9TaGFwZSI6OSwiSGVpZ2h0IjoxLjAsIkJHQ29sb3IiOjYsIkJyaWdodG5lc3MiOjAuMCwiUmFuZG9tQWRqdXN0bWVudHMiOm51bGwsIkJvcmRlcldpZHRoIjowLjAsIkJvcmRlclN0eWxlIjoxLCJCb3JkZXJDb2xvciI6NSwiQm9yZGVyVHJhbnNwZXJhbmN5IjowLjAsIlBvc2l0aW9uIjozMCwiU2NhbGUiOjEsIlJvdGF0aW9uIjowLjAsIk1pbmltdW0iOjEsIk1heGltdW0iOjEsIlRleHR1cmVTaGFwZSI6bnVsbCwiUGF0dGVyblR5cGUiOjAsIlRyYW5zcGFyZW5jeSI6MC4wLCJOZXdTaGFwZU5ld1NsaWRlIjpmYWxzZSwiU29mdEVkZ2VzIjp0cnVlLCJXaWR0aEZhY3QiOjAuMCwiSGVpZ2h0RmFjdCI6MC4wLCJPdmVybGF5UGFyZW50Ijp0cnVlfSx7IkNvbmNlcHRfU2hhcGUiOjksIkhlaWdodCI6MS4wLCJCR0NvbG9yIjo2LCJCcmlnaHRuZXNzIjowLjAsIlJhbmRvbUFkanVzdG1lbnRzIjpudWxsLCJCb3JkZXJXaWR0aCI6MC4wLCJCb3JkZXJTdHlsZSI6MSwiQm9yZGVyQ29sb3IiOjUsIkJvcmRlclRyYW5zcGVyYW5jeSI6MC4wLCJQb3NpdGlvbiI6MTEsIlNjYWxlIjoyOSwiUm90YXRpb24iOjAuMCwiTWluaW11bSI6MSwiTWF4aW11bSI6MSwiVGV4dHVyZVNoYXBlIjpudWxsLCJQYXR0ZXJuVHlwZSI6MCwiVHJhbnNwYXJlbmN5IjowLjAsIk5ld1NoYXBlTmV3U2xpZGUiOmZhbHNlLCJTb2Z0RWRnZXMiOmZhbHNlLCJXaWR0aEZhY3QiOjAuMCwiSGVpZ2h0RmFjdCI6MC4wLCJPdmVybGF5UGFyZW50IjpmYWxzZX1dLCJPdmVybGF5TW9kdWxlIjowLCJNb2R1bGVBZGp1c3RtZW50cyI6bnVsbCwiUmVjdGFuZ2xlU21vb3RoIjp0cnVlLCJSZWN0YW5nbGVTbW9vdGhSYWRpdXMiOjAuMDExMSwiQm9yZGVyU3R5bGUiOjAsIlNldEJHQmxvY2tzIjpmYWxzZSwiTWVyZ2VNb2R1bGUiOjB9LCJHcmFkaWVudCI6MiwiRm9udFRpdGxlIjoiQXJpYWwiLCJGb250VGV4dCI6IkFyaWFsIE5hcnJvdyIsIkZvbnRVcHBlcmNhc2UiOnRydWUsIlNoYXBlQ29uY2VwdCI6MSwiRG9Ob3RDcm9wQnlDb25jZXB0U2hhcGUiOmZhbHNlLCJDcmVhdGl2ZUxldmVsIjoxLCJJbnNlcnRGbGF0aWNvbnMiOmZhbHNlLCJMVFdIX2Zvcl90aXRsZSI6WzAuMDQwMDAwMDAyOCwwLjAzNzMyMzcxLDAuNzg3NSwwLjA2MDkwNjQ1XSwiTFRXSF9mb3JfZnJlZV9zcGFjZSI6WzAuMDM5OTk5OTE3MSwwLjEzMzMzMzM0LDAuOTIwMDAwMSwwLjc2ODg4ODldLCJMVFdIX2Zvcl9zbGlkZV9udW1lcmF0aW9uIjpudWxsLCJGb250U2l6ZSI6MC4wMzMzMzMzMzUxLCJiZ19jb2xvciI6WzI1NSwyNTUsMjU1XSwiYWNjZW50X2NvbG9yIjpbMCw1MiwxODldLCJhY2NlbnQyX2NvbG9yIjpbMCwxNzYsMjQwXSwiYWNjZW50M19jb2xvciI6bnVsbCwiYWNjZW50NF9jb2xvciI6bnVsbCwiYWNjZW50NV9jb2xvciI6bnVsbCwiYWNjZW50Nl9jb2xvciI6bnVsbCwiQ3VzdG9tQ29uY2VwdFNoYXBlIjpmYWxzZSwiQ29ycG9yYXRlU3R5bGUiOmZhbHNlfQ==</a:t>
            </a:r>
            <a:endParaRPr sz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6">
          <p15:clr>
            <a:srgbClr val="F26B43"/>
          </p15:clr>
        </p15:guide>
        <p15:guide id="2" orient="horz" pos="3952">
          <p15:clr>
            <a:srgbClr val="F26B43"/>
          </p15:clr>
        </p15:guide>
        <p15:guide id="3" pos="7310">
          <p15:clr>
            <a:srgbClr val="F26B43"/>
          </p15:clr>
        </p15:guide>
        <p15:guide id="4" pos="34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Relationship Id="rId4" Type="http://schemas.openxmlformats.org/officeDocument/2006/relationships/image" Target="../media/image8.jpg"/><Relationship Id="rId5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6"/>
          <p:cNvGrpSpPr/>
          <p:nvPr/>
        </p:nvGrpSpPr>
        <p:grpSpPr>
          <a:xfrm>
            <a:off x="-101600" y="-114752"/>
            <a:ext cx="12380685" cy="7053879"/>
            <a:chOff x="-101600" y="-114752"/>
            <a:chExt cx="12380685" cy="7053879"/>
          </a:xfrm>
        </p:grpSpPr>
        <p:sp>
          <p:nvSpPr>
            <p:cNvPr id="95" name="Google Shape;95;p16"/>
            <p:cNvSpPr/>
            <p:nvPr/>
          </p:nvSpPr>
          <p:spPr>
            <a:xfrm rot="10800000">
              <a:off x="6802994" y="1837581"/>
              <a:ext cx="5476091" cy="5101546"/>
            </a:xfrm>
            <a:custGeom>
              <a:rect b="b" l="l" r="r" t="t"/>
              <a:pathLst>
                <a:path extrusionOk="0" h="6515552" w="6993911">
                  <a:moveTo>
                    <a:pt x="0" y="0"/>
                  </a:moveTo>
                  <a:lnTo>
                    <a:pt x="6236365" y="0"/>
                  </a:lnTo>
                  <a:lnTo>
                    <a:pt x="6287723" y="68680"/>
                  </a:lnTo>
                  <a:cubicBezTo>
                    <a:pt x="6733574" y="728626"/>
                    <a:pt x="6993911" y="1524201"/>
                    <a:pt x="6993911" y="2380581"/>
                  </a:cubicBezTo>
                  <a:cubicBezTo>
                    <a:pt x="6993911" y="4664262"/>
                    <a:pt x="5142621" y="6515552"/>
                    <a:pt x="2858940" y="6515552"/>
                  </a:cubicBezTo>
                  <a:cubicBezTo>
                    <a:pt x="1859830" y="6515552"/>
                    <a:pt x="943482" y="6161204"/>
                    <a:pt x="228715" y="5571326"/>
                  </a:cubicBezTo>
                  <a:lnTo>
                    <a:pt x="0" y="5363456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>
                  <a:alpha val="4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-101600" y="-114752"/>
              <a:ext cx="6993911" cy="6515552"/>
            </a:xfrm>
            <a:custGeom>
              <a:rect b="b" l="l" r="r" t="t"/>
              <a:pathLst>
                <a:path extrusionOk="0" h="6515552" w="6993911">
                  <a:moveTo>
                    <a:pt x="0" y="0"/>
                  </a:moveTo>
                  <a:lnTo>
                    <a:pt x="6236365" y="0"/>
                  </a:lnTo>
                  <a:lnTo>
                    <a:pt x="6287723" y="68680"/>
                  </a:lnTo>
                  <a:cubicBezTo>
                    <a:pt x="6733574" y="728626"/>
                    <a:pt x="6993911" y="1524201"/>
                    <a:pt x="6993911" y="2380581"/>
                  </a:cubicBezTo>
                  <a:cubicBezTo>
                    <a:pt x="6993911" y="4664262"/>
                    <a:pt x="5142621" y="6515552"/>
                    <a:pt x="2858940" y="6515552"/>
                  </a:cubicBezTo>
                  <a:cubicBezTo>
                    <a:pt x="1859830" y="6515552"/>
                    <a:pt x="943482" y="6161204"/>
                    <a:pt x="228715" y="5571326"/>
                  </a:cubicBezTo>
                  <a:lnTo>
                    <a:pt x="0" y="5363456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>
                  <a:alpha val="4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489030" y="-114752"/>
              <a:ext cx="6906244" cy="6906240"/>
            </a:xfrm>
            <a:prstGeom prst="ellipse">
              <a:avLst/>
            </a:prstGeom>
            <a:noFill/>
            <a:ln cap="flat" cmpd="sng" w="19050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98" name="Google Shape;98;p16"/>
          <p:cNvSpPr/>
          <p:nvPr/>
        </p:nvSpPr>
        <p:spPr>
          <a:xfrm>
            <a:off x="2181623" y="6232308"/>
            <a:ext cx="293794" cy="293794"/>
          </a:xfrm>
          <a:prstGeom prst="ellipse">
            <a:avLst/>
          </a:prstGeom>
          <a:gradFill>
            <a:gsLst>
              <a:gs pos="0">
                <a:srgbClr val="28B3B4"/>
              </a:gs>
              <a:gs pos="100000">
                <a:srgbClr val="124B45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6703786" y="5675631"/>
            <a:ext cx="501259" cy="501259"/>
          </a:xfrm>
          <a:prstGeom prst="ellipse">
            <a:avLst/>
          </a:prstGeom>
          <a:gradFill>
            <a:gsLst>
              <a:gs pos="0">
                <a:srgbClr val="28B3B4"/>
              </a:gs>
              <a:gs pos="100000">
                <a:srgbClr val="124B45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0" name="Google Shape;100;p16"/>
          <p:cNvPicPr preferRelativeResize="0"/>
          <p:nvPr/>
        </p:nvPicPr>
        <p:blipFill rotWithShape="1">
          <a:blip r:embed="rId3">
            <a:alphaModFix/>
          </a:blip>
          <a:srcRect b="10972" l="24448" r="0" t="0"/>
          <a:stretch/>
        </p:blipFill>
        <p:spPr>
          <a:xfrm>
            <a:off x="6892311" y="-868067"/>
            <a:ext cx="5819859" cy="6857999"/>
          </a:xfrm>
          <a:prstGeom prst="rect">
            <a:avLst/>
          </a:prstGeom>
          <a:noFill/>
          <a:ln>
            <a:noFill/>
          </a:ln>
          <a:effectLst>
            <a:outerShdw blurRad="209853" rotWithShape="0" algn="tr" dir="8100000" dist="38100">
              <a:srgbClr val="000000">
                <a:alpha val="12156"/>
              </a:srgbClr>
            </a:outerShdw>
          </a:effectLst>
        </p:spPr>
      </p:pic>
      <p:grpSp>
        <p:nvGrpSpPr>
          <p:cNvPr id="101" name="Google Shape;101;p16"/>
          <p:cNvGrpSpPr/>
          <p:nvPr/>
        </p:nvGrpSpPr>
        <p:grpSpPr>
          <a:xfrm>
            <a:off x="307876" y="1338228"/>
            <a:ext cx="7087398" cy="4238902"/>
            <a:chOff x="817723" y="1541957"/>
            <a:chExt cx="6655945" cy="3615046"/>
          </a:xfrm>
        </p:grpSpPr>
        <p:sp>
          <p:nvSpPr>
            <p:cNvPr id="102" name="Google Shape;102;p16"/>
            <p:cNvSpPr txBox="1"/>
            <p:nvPr/>
          </p:nvSpPr>
          <p:spPr>
            <a:xfrm>
              <a:off x="817723" y="3660868"/>
              <a:ext cx="5806025" cy="14961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6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Выполнили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6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Кочмарёв Александр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6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Богдалов Тимур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3" name="Google Shape;103;p16"/>
            <p:cNvSpPr txBox="1"/>
            <p:nvPr/>
          </p:nvSpPr>
          <p:spPr>
            <a:xfrm>
              <a:off x="817723" y="1541957"/>
              <a:ext cx="6655945" cy="2047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50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RESTful API в .NET: Основы, Практика, Применение</a:t>
              </a:r>
              <a:endParaRPr/>
            </a:p>
          </p:txBody>
        </p:sp>
      </p:grp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/>
          <p:nvPr/>
        </p:nvSpPr>
        <p:spPr>
          <a:xfrm rot="983341">
            <a:off x="1485523" y="6164401"/>
            <a:ext cx="2997200" cy="1809892"/>
          </a:xfrm>
          <a:prstGeom prst="ellipse">
            <a:avLst/>
          </a:prstGeom>
          <a:solidFill>
            <a:srgbClr val="071A18"/>
          </a:solidFill>
          <a:ln cap="sq" cmpd="sng" w="25400">
            <a:solidFill>
              <a:srgbClr val="D9F9F9">
                <a:alpha val="60000"/>
              </a:srgbClr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7"/>
          <p:cNvSpPr/>
          <p:nvPr/>
        </p:nvSpPr>
        <p:spPr>
          <a:xfrm flipH="1">
            <a:off x="5964322" y="-3132345"/>
            <a:ext cx="6178622" cy="3923012"/>
          </a:xfrm>
          <a:custGeom>
            <a:rect b="b" l="l" r="r" t="t"/>
            <a:pathLst>
              <a:path extrusionOk="0" h="2571153" w="4049486">
                <a:moveTo>
                  <a:pt x="76710" y="0"/>
                </a:moveTo>
                <a:lnTo>
                  <a:pt x="3972776" y="0"/>
                </a:lnTo>
                <a:lnTo>
                  <a:pt x="4008351" y="138354"/>
                </a:lnTo>
                <a:cubicBezTo>
                  <a:pt x="4035322" y="270160"/>
                  <a:pt x="4049486" y="406631"/>
                  <a:pt x="4049486" y="546410"/>
                </a:cubicBezTo>
                <a:cubicBezTo>
                  <a:pt x="4049486" y="1664645"/>
                  <a:pt x="3142978" y="2571153"/>
                  <a:pt x="2024743" y="2571153"/>
                </a:cubicBezTo>
                <a:cubicBezTo>
                  <a:pt x="906508" y="2571153"/>
                  <a:pt x="0" y="1664645"/>
                  <a:pt x="0" y="546410"/>
                </a:cubicBezTo>
                <a:cubicBezTo>
                  <a:pt x="0" y="406631"/>
                  <a:pt x="14164" y="270160"/>
                  <a:pt x="41136" y="138354"/>
                </a:cubicBezTo>
                <a:close/>
              </a:path>
            </a:pathLst>
          </a:custGeom>
          <a:noFill/>
          <a:ln cap="flat" cmpd="sng" w="19050">
            <a:solidFill>
              <a:schemeClr val="dk1">
                <a:alpha val="20000"/>
              </a:scheme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7"/>
          <p:cNvSpPr/>
          <p:nvPr/>
        </p:nvSpPr>
        <p:spPr>
          <a:xfrm flipH="1">
            <a:off x="4324344" y="-1950971"/>
            <a:ext cx="8052040" cy="10276637"/>
          </a:xfrm>
          <a:custGeom>
            <a:rect b="b" l="l" r="r" t="t"/>
            <a:pathLst>
              <a:path extrusionOk="0" h="6735336" w="5277329">
                <a:moveTo>
                  <a:pt x="1677329" y="0"/>
                </a:moveTo>
                <a:cubicBezTo>
                  <a:pt x="3665554" y="0"/>
                  <a:pt x="5277329" y="1611775"/>
                  <a:pt x="5277329" y="3600000"/>
                </a:cubicBezTo>
                <a:cubicBezTo>
                  <a:pt x="5277329" y="4842641"/>
                  <a:pt x="4647730" y="5938231"/>
                  <a:pt x="3690123" y="6585177"/>
                </a:cubicBezTo>
                <a:lnTo>
                  <a:pt x="3442953" y="6735336"/>
                </a:lnTo>
                <a:lnTo>
                  <a:pt x="0" y="6735336"/>
                </a:lnTo>
                <a:lnTo>
                  <a:pt x="0" y="414708"/>
                </a:lnTo>
                <a:lnTo>
                  <a:pt x="116580" y="354999"/>
                </a:lnTo>
                <a:cubicBezTo>
                  <a:pt x="588731" y="127494"/>
                  <a:pt x="1118141" y="0"/>
                  <a:pt x="1677329" y="0"/>
                </a:cubicBezTo>
                <a:close/>
              </a:path>
            </a:pathLst>
          </a:custGeom>
          <a:noFill/>
          <a:ln cap="flat" cmpd="sng" w="19050">
            <a:solidFill>
              <a:schemeClr val="dk1">
                <a:alpha val="400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8941172" y="-3132345"/>
            <a:ext cx="224922" cy="224922"/>
          </a:xfrm>
          <a:prstGeom prst="rect">
            <a:avLst/>
          </a:prstGeom>
          <a:gradFill>
            <a:gsLst>
              <a:gs pos="0">
                <a:srgbClr val="28B3B4"/>
              </a:gs>
              <a:gs pos="100000">
                <a:srgbClr val="124B45"/>
              </a:gs>
            </a:gsLst>
            <a:lin ang="2700000" scaled="0"/>
          </a:gradFill>
          <a:ln>
            <a:noFill/>
          </a:ln>
          <a:effectLst>
            <a:outerShdw blurRad="503413" sx="98000" rotWithShape="0" algn="ctr" dir="1500000" dist="279400" sy="98000">
              <a:srgbClr val="12595A">
                <a:alpha val="1215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2" name="Google Shape;112;p17"/>
          <p:cNvGrpSpPr/>
          <p:nvPr/>
        </p:nvGrpSpPr>
        <p:grpSpPr>
          <a:xfrm>
            <a:off x="49056" y="0"/>
            <a:ext cx="12277278" cy="6858000"/>
            <a:chOff x="1" y="0"/>
            <a:chExt cx="12277278" cy="6858000"/>
          </a:xfrm>
        </p:grpSpPr>
        <p:pic>
          <p:nvPicPr>
            <p:cNvPr descr="-Cropped" id="113" name="Google Shape;113;p17"/>
            <p:cNvPicPr preferRelativeResize="0"/>
            <p:nvPr/>
          </p:nvPicPr>
          <p:blipFill rotWithShape="1">
            <a:blip r:embed="rId3">
              <a:alphaModFix/>
            </a:blip>
            <a:srcRect b="0" l="30872" r="30872" t="0"/>
            <a:stretch/>
          </p:blipFill>
          <p:spPr>
            <a:xfrm>
              <a:off x="1" y="0"/>
              <a:ext cx="3498168" cy="6858000"/>
            </a:xfrm>
            <a:custGeom>
              <a:rect b="b" l="l" r="r" t="t"/>
              <a:pathLst>
                <a:path extrusionOk="0" h="6858000" w="3498168">
                  <a:moveTo>
                    <a:pt x="0" y="0"/>
                  </a:moveTo>
                  <a:lnTo>
                    <a:pt x="2516206" y="0"/>
                  </a:lnTo>
                  <a:lnTo>
                    <a:pt x="2605757" y="122944"/>
                  </a:lnTo>
                  <a:cubicBezTo>
                    <a:pt x="3120520" y="865111"/>
                    <a:pt x="3458998" y="1967113"/>
                    <a:pt x="3495018" y="3208525"/>
                  </a:cubicBezTo>
                  <a:lnTo>
                    <a:pt x="3498168" y="3426203"/>
                  </a:lnTo>
                  <a:lnTo>
                    <a:pt x="3498168" y="3431798"/>
                  </a:lnTo>
                  <a:lnTo>
                    <a:pt x="3495018" y="3649475"/>
                  </a:lnTo>
                  <a:cubicBezTo>
                    <a:pt x="3458998" y="4890887"/>
                    <a:pt x="3120520" y="5992890"/>
                    <a:pt x="2605757" y="6735056"/>
                  </a:cubicBezTo>
                  <a:lnTo>
                    <a:pt x="2516206" y="6858000"/>
                  </a:lnTo>
                  <a:lnTo>
                    <a:pt x="0" y="685800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pic>
        <p:sp>
          <p:nvSpPr>
            <p:cNvPr id="114" name="Google Shape;114;p17"/>
            <p:cNvSpPr txBox="1"/>
            <p:nvPr/>
          </p:nvSpPr>
          <p:spPr>
            <a:xfrm>
              <a:off x="3751269" y="110321"/>
              <a:ext cx="8328877" cy="938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55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Что такое API?</a:t>
              </a:r>
              <a:endParaRPr sz="5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15" name="Google Shape;115;p17"/>
            <p:cNvSpPr txBox="1"/>
            <p:nvPr/>
          </p:nvSpPr>
          <p:spPr>
            <a:xfrm>
              <a:off x="3751269" y="1240902"/>
              <a:ext cx="8526010" cy="50321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rial"/>
                <a:buChar char="•"/>
              </a:pPr>
              <a:r>
                <a:rPr b="1" lang="ru-RU" sz="3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Определение API</a:t>
              </a:r>
              <a:r>
                <a:rPr lang="ru-RU" sz="3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(Application Programming Interface)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rial"/>
                <a:buChar char="•"/>
              </a:pPr>
              <a:r>
                <a:rPr b="1" lang="ru-RU" sz="3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Пример из жизни</a:t>
              </a:r>
              <a:r>
                <a:rPr lang="ru-RU" sz="3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меню в ресторане → кухня</a:t>
              </a:r>
              <a:endParaRPr/>
            </a:p>
            <a:p>
              <a:pPr indent="-1524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rial"/>
                <a:buNone/>
              </a:pPr>
              <a:r>
                <a:t/>
              </a:r>
              <a:endPara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rial"/>
                <a:buChar char="•"/>
              </a:pPr>
              <a:r>
                <a:rPr b="1" lang="ru-RU" sz="3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Виды API</a:t>
              </a:r>
              <a:r>
                <a:rPr lang="ru-RU" sz="3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SOAP, GraphQL, REST, gRPC</a:t>
              </a:r>
              <a:endPara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1524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rial"/>
                <a:buNone/>
              </a:pPr>
              <a:r>
                <a:t/>
              </a:r>
              <a:endPara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rial"/>
                <a:buChar char="•"/>
              </a:pPr>
              <a:r>
                <a:rPr b="1" lang="ru-RU" sz="3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Кратко</a:t>
              </a:r>
              <a:r>
                <a:rPr lang="ru-RU" sz="3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REST — один из самых популярных подходов</a:t>
              </a:r>
              <a:endParaRPr/>
            </a:p>
            <a:p>
              <a:pPr indent="-20955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t/>
              </a:r>
              <a:endParaRPr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96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95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/>
          <p:nvPr/>
        </p:nvSpPr>
        <p:spPr>
          <a:xfrm flipH="1">
            <a:off x="7674088" y="289932"/>
            <a:ext cx="5277329" cy="6735336"/>
          </a:xfrm>
          <a:custGeom>
            <a:rect b="b" l="l" r="r" t="t"/>
            <a:pathLst>
              <a:path extrusionOk="0" h="6735336" w="5277329">
                <a:moveTo>
                  <a:pt x="1677329" y="0"/>
                </a:moveTo>
                <a:cubicBezTo>
                  <a:pt x="3665554" y="0"/>
                  <a:pt x="5277329" y="1611775"/>
                  <a:pt x="5277329" y="3600000"/>
                </a:cubicBezTo>
                <a:cubicBezTo>
                  <a:pt x="5277329" y="4842641"/>
                  <a:pt x="4647730" y="5938231"/>
                  <a:pt x="3690123" y="6585177"/>
                </a:cubicBezTo>
                <a:lnTo>
                  <a:pt x="3442953" y="6735336"/>
                </a:lnTo>
                <a:lnTo>
                  <a:pt x="0" y="6735336"/>
                </a:lnTo>
                <a:lnTo>
                  <a:pt x="0" y="414708"/>
                </a:lnTo>
                <a:lnTo>
                  <a:pt x="116580" y="354999"/>
                </a:lnTo>
                <a:cubicBezTo>
                  <a:pt x="588731" y="127494"/>
                  <a:pt x="1118141" y="0"/>
                  <a:pt x="1677329" y="0"/>
                </a:cubicBezTo>
                <a:close/>
              </a:path>
            </a:pathLst>
          </a:custGeom>
          <a:noFill/>
          <a:ln cap="flat" cmpd="sng" w="19050">
            <a:solidFill>
              <a:schemeClr val="dk1">
                <a:alpha val="400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8"/>
          <p:cNvSpPr/>
          <p:nvPr/>
        </p:nvSpPr>
        <p:spPr>
          <a:xfrm flipH="1">
            <a:off x="8545094" y="-89210"/>
            <a:ext cx="4049486" cy="2571153"/>
          </a:xfrm>
          <a:custGeom>
            <a:rect b="b" l="l" r="r" t="t"/>
            <a:pathLst>
              <a:path extrusionOk="0" h="2571153" w="4049486">
                <a:moveTo>
                  <a:pt x="76710" y="0"/>
                </a:moveTo>
                <a:lnTo>
                  <a:pt x="3972776" y="0"/>
                </a:lnTo>
                <a:lnTo>
                  <a:pt x="4008351" y="138354"/>
                </a:lnTo>
                <a:cubicBezTo>
                  <a:pt x="4035322" y="270160"/>
                  <a:pt x="4049486" y="406631"/>
                  <a:pt x="4049486" y="546410"/>
                </a:cubicBezTo>
                <a:cubicBezTo>
                  <a:pt x="4049486" y="1664645"/>
                  <a:pt x="3142978" y="2571153"/>
                  <a:pt x="2024743" y="2571153"/>
                </a:cubicBezTo>
                <a:cubicBezTo>
                  <a:pt x="906508" y="2571153"/>
                  <a:pt x="0" y="1664645"/>
                  <a:pt x="0" y="546410"/>
                </a:cubicBezTo>
                <a:cubicBezTo>
                  <a:pt x="0" y="406631"/>
                  <a:pt x="14164" y="270160"/>
                  <a:pt x="41136" y="138354"/>
                </a:cubicBezTo>
                <a:close/>
              </a:path>
            </a:pathLst>
          </a:custGeom>
          <a:noFill/>
          <a:ln cap="flat" cmpd="sng" w="19050">
            <a:solidFill>
              <a:schemeClr val="dk1">
                <a:alpha val="20000"/>
              </a:scheme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8621767" y="1253090"/>
            <a:ext cx="206911" cy="206911"/>
          </a:xfrm>
          <a:prstGeom prst="ellipse">
            <a:avLst/>
          </a:prstGeom>
          <a:gradFill>
            <a:gsLst>
              <a:gs pos="0">
                <a:srgbClr val="28B3B4"/>
              </a:gs>
              <a:gs pos="100000">
                <a:srgbClr val="124B45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-1143000" y="-835276"/>
            <a:ext cx="1891853" cy="1891853"/>
          </a:xfrm>
          <a:prstGeom prst="ellipse">
            <a:avLst/>
          </a:prstGeom>
          <a:noFill/>
          <a:ln cap="flat" cmpd="sng" w="12700">
            <a:solidFill>
              <a:schemeClr val="dk1">
                <a:alpha val="40000"/>
              </a:scheme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-385672" y="-1218380"/>
            <a:ext cx="293794" cy="293794"/>
          </a:xfrm>
          <a:prstGeom prst="ellipse">
            <a:avLst/>
          </a:prstGeom>
          <a:gradFill>
            <a:gsLst>
              <a:gs pos="0">
                <a:srgbClr val="28B3B4"/>
              </a:gs>
              <a:gs pos="100000">
                <a:srgbClr val="124B45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5" name="Google Shape;125;p18"/>
          <p:cNvGrpSpPr/>
          <p:nvPr/>
        </p:nvGrpSpPr>
        <p:grpSpPr>
          <a:xfrm>
            <a:off x="550863" y="1402003"/>
            <a:ext cx="11504275" cy="4906723"/>
            <a:chOff x="550863" y="1402003"/>
            <a:chExt cx="11504275" cy="4906723"/>
          </a:xfrm>
        </p:grpSpPr>
        <p:grpSp>
          <p:nvGrpSpPr>
            <p:cNvPr id="126" name="Google Shape;126;p18"/>
            <p:cNvGrpSpPr/>
            <p:nvPr/>
          </p:nvGrpSpPr>
          <p:grpSpPr>
            <a:xfrm>
              <a:off x="6170628" y="2988307"/>
              <a:ext cx="5884510" cy="3320419"/>
              <a:chOff x="6170628" y="2988307"/>
              <a:chExt cx="5884510" cy="3320419"/>
            </a:xfrm>
          </p:grpSpPr>
          <p:sp>
            <p:nvSpPr>
              <p:cNvPr id="127" name="Google Shape;127;p18"/>
              <p:cNvSpPr/>
              <p:nvPr/>
            </p:nvSpPr>
            <p:spPr>
              <a:xfrm>
                <a:off x="6252795" y="3186350"/>
                <a:ext cx="5269664" cy="3122376"/>
              </a:xfrm>
              <a:prstGeom prst="roundRect">
                <a:avLst>
                  <a:gd fmla="val 6173" name="adj"/>
                </a:avLst>
              </a:prstGeom>
              <a:solidFill>
                <a:srgbClr val="07191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3413" sx="98000" rotWithShape="0" algn="ctr" dir="1500000" dist="279400" sy="98000">
                  <a:srgbClr val="12595A">
                    <a:alpha val="12156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8" name="Google Shape;128;p18"/>
              <p:cNvSpPr/>
              <p:nvPr/>
            </p:nvSpPr>
            <p:spPr>
              <a:xfrm>
                <a:off x="6170628" y="2988307"/>
                <a:ext cx="5433997" cy="883576"/>
              </a:xfrm>
              <a:prstGeom prst="roundRect">
                <a:avLst>
                  <a:gd fmla="val 12900" name="adj"/>
                </a:avLst>
              </a:prstGeom>
              <a:gradFill>
                <a:gsLst>
                  <a:gs pos="0">
                    <a:srgbClr val="28B3B4"/>
                  </a:gs>
                  <a:gs pos="100000">
                    <a:srgbClr val="124B45"/>
                  </a:gs>
                </a:gsLst>
                <a:lin ang="2700000" scaled="0"/>
              </a:gradFill>
              <a:ln>
                <a:noFill/>
              </a:ln>
              <a:effectLst>
                <a:outerShdw blurRad="503413" sx="98000" rotWithShape="0" algn="ctr" dir="1500000" dist="279400" sy="98000">
                  <a:srgbClr val="12595A">
                    <a:alpha val="12156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9" name="Google Shape;129;p18"/>
              <p:cNvSpPr txBox="1"/>
              <p:nvPr/>
            </p:nvSpPr>
            <p:spPr>
              <a:xfrm>
                <a:off x="7138218" y="3161823"/>
                <a:ext cx="4916920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-RU" sz="2600">
                    <a:solidFill>
                      <a:schemeClr val="dk1"/>
                    </a:solidFill>
                    <a:latin typeface="Montserrat ExtraBold"/>
                    <a:ea typeface="Montserrat ExtraBold"/>
                    <a:cs typeface="Montserrat ExtraBold"/>
                    <a:sym typeface="Montserrat ExtraBold"/>
                  </a:rPr>
                  <a:t>Примеры в действии</a:t>
                </a:r>
                <a:endParaRPr b="1" sz="26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endParaRPr>
              </a:p>
            </p:txBody>
          </p:sp>
        </p:grpSp>
        <p:grpSp>
          <p:nvGrpSpPr>
            <p:cNvPr id="130" name="Google Shape;130;p18"/>
            <p:cNvGrpSpPr/>
            <p:nvPr/>
          </p:nvGrpSpPr>
          <p:grpSpPr>
            <a:xfrm>
              <a:off x="550863" y="2988307"/>
              <a:ext cx="5969867" cy="3320419"/>
              <a:chOff x="550863" y="2988307"/>
              <a:chExt cx="5969867" cy="3320419"/>
            </a:xfrm>
          </p:grpSpPr>
          <p:sp>
            <p:nvSpPr>
              <p:cNvPr id="131" name="Google Shape;131;p18"/>
              <p:cNvSpPr/>
              <p:nvPr/>
            </p:nvSpPr>
            <p:spPr>
              <a:xfrm>
                <a:off x="633030" y="3186350"/>
                <a:ext cx="5269664" cy="3122376"/>
              </a:xfrm>
              <a:prstGeom prst="roundRect">
                <a:avLst>
                  <a:gd fmla="val 6173" name="adj"/>
                </a:avLst>
              </a:prstGeom>
              <a:solidFill>
                <a:srgbClr val="07191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3413" sx="98000" rotWithShape="0" algn="ctr" dir="1500000" dist="279400" sy="98000">
                  <a:srgbClr val="12595A">
                    <a:alpha val="12156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2" name="Google Shape;132;p18"/>
              <p:cNvSpPr/>
              <p:nvPr/>
            </p:nvSpPr>
            <p:spPr>
              <a:xfrm>
                <a:off x="550863" y="2988307"/>
                <a:ext cx="5433997" cy="883576"/>
              </a:xfrm>
              <a:prstGeom prst="roundRect">
                <a:avLst>
                  <a:gd fmla="val 12900" name="adj"/>
                </a:avLst>
              </a:prstGeom>
              <a:gradFill>
                <a:gsLst>
                  <a:gs pos="0">
                    <a:srgbClr val="28B3B4"/>
                  </a:gs>
                  <a:gs pos="100000">
                    <a:srgbClr val="124B45"/>
                  </a:gs>
                </a:gsLst>
                <a:lin ang="2700000" scaled="0"/>
              </a:gradFill>
              <a:ln>
                <a:noFill/>
              </a:ln>
              <a:effectLst>
                <a:outerShdw blurRad="503413" sx="98000" rotWithShape="0" algn="ctr" dir="1500000" dist="279400" sy="98000">
                  <a:srgbClr val="12595A">
                    <a:alpha val="12156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3" name="Google Shape;133;p18"/>
              <p:cNvSpPr txBox="1"/>
              <p:nvPr/>
            </p:nvSpPr>
            <p:spPr>
              <a:xfrm>
                <a:off x="639393" y="3981649"/>
                <a:ext cx="5189800" cy="22467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20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Архитектурный стиль, основанный на HTTP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20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Работает с ресурсами: пользователи, заказы, товары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20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Использует стандартные HTTP-методы: GET, POST, PUT, DELETE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20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Ответы — в JSON (или XML)</a:t>
                </a:r>
                <a:endParaRPr sz="2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4" name="Google Shape;134;p18"/>
              <p:cNvSpPr txBox="1"/>
              <p:nvPr/>
            </p:nvSpPr>
            <p:spPr>
              <a:xfrm>
                <a:off x="836516" y="3182778"/>
                <a:ext cx="5684214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6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endParaRPr>
              </a:p>
            </p:txBody>
          </p:sp>
        </p:grpSp>
        <p:sp>
          <p:nvSpPr>
            <p:cNvPr id="135" name="Google Shape;135;p18"/>
            <p:cNvSpPr txBox="1"/>
            <p:nvPr/>
          </p:nvSpPr>
          <p:spPr>
            <a:xfrm>
              <a:off x="2159206" y="1402003"/>
              <a:ext cx="8187178" cy="1754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7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REST = Representational State Transfer («передача состояния представления» или «передача репрезентативного состояния»)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6" name="Google Shape;136;p18"/>
          <p:cNvSpPr txBox="1"/>
          <p:nvPr/>
        </p:nvSpPr>
        <p:spPr>
          <a:xfrm>
            <a:off x="0" y="180166"/>
            <a:ext cx="1219200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7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Что такое REST? </a:t>
            </a:r>
            <a:endParaRPr b="1" sz="70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7250486" y="3981649"/>
            <a:ext cx="3505200" cy="1026160"/>
          </a:xfrm>
          <a:prstGeom prst="roundRect">
            <a:avLst>
              <a:gd fmla="val 16667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7250486" y="5088762"/>
            <a:ext cx="3660869" cy="1139011"/>
          </a:xfrm>
          <a:prstGeom prst="roundRect">
            <a:avLst>
              <a:gd fmla="val 31531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/>
          <p:nvPr/>
        </p:nvSpPr>
        <p:spPr>
          <a:xfrm flipH="1">
            <a:off x="5867401" y="1841187"/>
            <a:ext cx="6819405" cy="5405307"/>
          </a:xfrm>
          <a:custGeom>
            <a:rect b="b" l="l" r="r" t="t"/>
            <a:pathLst>
              <a:path extrusionOk="0" h="5405982" w="7016536">
                <a:moveTo>
                  <a:pt x="3176644" y="0"/>
                </a:moveTo>
                <a:cubicBezTo>
                  <a:pt x="5297359" y="0"/>
                  <a:pt x="7016536" y="1719178"/>
                  <a:pt x="7016536" y="3839892"/>
                </a:cubicBezTo>
                <a:cubicBezTo>
                  <a:pt x="7016536" y="4370071"/>
                  <a:pt x="6909088" y="4875153"/>
                  <a:pt x="6714779" y="5334552"/>
                </a:cubicBezTo>
                <a:lnTo>
                  <a:pt x="6680369" y="5405982"/>
                </a:lnTo>
                <a:lnTo>
                  <a:pt x="0" y="5405982"/>
                </a:lnTo>
                <a:lnTo>
                  <a:pt x="0" y="1683003"/>
                </a:lnTo>
                <a:lnTo>
                  <a:pt x="213597" y="1397364"/>
                </a:lnTo>
                <a:cubicBezTo>
                  <a:pt x="917890" y="543959"/>
                  <a:pt x="1983743" y="0"/>
                  <a:pt x="3176644" y="0"/>
                </a:cubicBezTo>
                <a:close/>
              </a:path>
            </a:pathLst>
          </a:custGeom>
          <a:noFill/>
          <a:ln cap="flat" cmpd="sng" w="19050">
            <a:solidFill>
              <a:srgbClr val="FFFFFF">
                <a:alpha val="4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9279251" y="7894320"/>
            <a:ext cx="180000" cy="180000"/>
          </a:xfrm>
          <a:prstGeom prst="ellipse">
            <a:avLst/>
          </a:prstGeom>
          <a:gradFill>
            <a:gsLst>
              <a:gs pos="0">
                <a:srgbClr val="66D2ED"/>
              </a:gs>
              <a:gs pos="4000">
                <a:srgbClr val="66D2ED"/>
              </a:gs>
              <a:gs pos="100000">
                <a:srgbClr val="002060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-1143000" y="-835276"/>
            <a:ext cx="1891853" cy="1891853"/>
          </a:xfrm>
          <a:prstGeom prst="ellipse">
            <a:avLst/>
          </a:prstGeom>
          <a:noFill/>
          <a:ln cap="flat" cmpd="sng" w="19050">
            <a:solidFill>
              <a:srgbClr val="FFFFFF">
                <a:alpha val="20000"/>
              </a:srgb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5867401" y="2218097"/>
            <a:ext cx="1891853" cy="1891853"/>
          </a:xfrm>
          <a:prstGeom prst="ellipse">
            <a:avLst/>
          </a:prstGeom>
          <a:noFill/>
          <a:ln cap="flat" cmpd="sng" w="19050">
            <a:solidFill>
              <a:srgbClr val="FFFFFF">
                <a:alpha val="20000"/>
              </a:srgb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8" name="Google Shape;148;p19"/>
          <p:cNvGrpSpPr/>
          <p:nvPr/>
        </p:nvGrpSpPr>
        <p:grpSpPr>
          <a:xfrm>
            <a:off x="354806" y="452403"/>
            <a:ext cx="6383031" cy="6504480"/>
            <a:chOff x="398462" y="452403"/>
            <a:chExt cx="6383031" cy="6504480"/>
          </a:xfrm>
        </p:grpSpPr>
        <p:sp>
          <p:nvSpPr>
            <p:cNvPr id="149" name="Google Shape;149;p19"/>
            <p:cNvSpPr/>
            <p:nvPr/>
          </p:nvSpPr>
          <p:spPr>
            <a:xfrm>
              <a:off x="398462" y="452403"/>
              <a:ext cx="6005205" cy="1388784"/>
            </a:xfrm>
            <a:prstGeom prst="roundRect">
              <a:avLst>
                <a:gd fmla="val 15215" name="adj"/>
              </a:avLst>
            </a:prstGeom>
            <a:gradFill>
              <a:gsLst>
                <a:gs pos="0">
                  <a:srgbClr val="1FD1FF">
                    <a:alpha val="20000"/>
                  </a:srgbClr>
                </a:gs>
                <a:gs pos="100000">
                  <a:srgbClr val="09FB60"/>
                </a:gs>
              </a:gsLst>
              <a:lin ang="2700000" scaled="0"/>
            </a:gradFill>
            <a:ln cap="flat" cmpd="sng" w="12700">
              <a:solidFill>
                <a:srgbClr val="1698BA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587375" y="785397"/>
              <a:ext cx="5845096" cy="707886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cap="flat" cmpd="sng" w="12700">
              <a:solidFill>
                <a:srgbClr val="1698BA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587375" y="2063236"/>
              <a:ext cx="6194118" cy="4893647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cap="flat" cmpd="sng" w="12700">
              <a:solidFill>
                <a:srgbClr val="1698BA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Архитектурный стиль (не протокол!)</a:t>
              </a:r>
              <a:endParaRPr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Создан Роем Филдингом (2000)</a:t>
              </a:r>
              <a:endParaRPr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Основные принципы:</a:t>
              </a:r>
              <a:endParaRPr/>
            </a:p>
            <a:p>
              <a:pPr indent="-342900" lvl="1" marL="800065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Arial"/>
                <a:buChar char="•"/>
              </a:pPr>
              <a:r>
                <a:rPr b="0" i="0" lang="ru-RU" sz="2400" u="none" cap="none" strike="noStrike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Клиент-сервер</a:t>
              </a:r>
              <a:endParaRPr/>
            </a:p>
            <a:p>
              <a:pPr indent="-342900" lvl="1" marL="800065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Arial"/>
                <a:buChar char="•"/>
              </a:pPr>
              <a:r>
                <a:rPr b="0" i="0" lang="ru-RU" sz="2400" u="none" cap="none" strike="noStrike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Без состояния (stateless)</a:t>
              </a:r>
              <a:endParaRPr/>
            </a:p>
            <a:p>
              <a:pPr indent="-342900" lvl="1" marL="800065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Arial"/>
                <a:buChar char="•"/>
              </a:pPr>
              <a:r>
                <a:rPr b="0" i="0" lang="ru-RU" sz="2400" u="none" cap="none" strike="noStrike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Кэширование</a:t>
              </a:r>
              <a:endParaRPr/>
            </a:p>
            <a:p>
              <a:pPr indent="-342900" lvl="1" marL="800065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Arial"/>
                <a:buChar char="•"/>
              </a:pPr>
              <a:r>
                <a:rPr b="0" i="0" lang="ru-RU" sz="2400" u="none" cap="none" strike="noStrike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Единообразие интерфейса</a:t>
              </a:r>
              <a:endParaRPr/>
            </a:p>
            <a:p>
              <a:pPr indent="-342900" lvl="1" marL="800065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Arial"/>
                <a:buChar char="•"/>
              </a:pPr>
              <a:r>
                <a:rPr b="0" i="0" lang="ru-RU" sz="2400" u="none" cap="none" strike="noStrike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Слоистая система</a:t>
              </a:r>
              <a:endParaRPr/>
            </a:p>
            <a:p>
              <a:pPr indent="-342900" lvl="1" marL="800065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Arial"/>
                <a:buChar char="•"/>
              </a:pPr>
              <a:r>
                <a:rPr b="0" i="0" lang="ru-RU" sz="2400" u="none" cap="none" strike="noStrike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Код по требованию (опционально)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2" name="Google Shape;152;p19"/>
          <p:cNvSpPr/>
          <p:nvPr/>
        </p:nvSpPr>
        <p:spPr>
          <a:xfrm>
            <a:off x="-385672" y="-1218380"/>
            <a:ext cx="293794" cy="293794"/>
          </a:xfrm>
          <a:prstGeom prst="ellipse">
            <a:avLst/>
          </a:prstGeom>
          <a:gradFill>
            <a:gsLst>
              <a:gs pos="0">
                <a:srgbClr val="28B3B4"/>
              </a:gs>
              <a:gs pos="100000">
                <a:srgbClr val="124B45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6577728" y="701336"/>
            <a:ext cx="5483791" cy="5841704"/>
          </a:xfrm>
          <a:prstGeom prst="roundRect">
            <a:avLst>
              <a:gd fmla="val 16667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0D586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6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/>
          <p:nvPr/>
        </p:nvSpPr>
        <p:spPr>
          <a:xfrm flipH="1">
            <a:off x="8545094" y="-89210"/>
            <a:ext cx="4049486" cy="2571153"/>
          </a:xfrm>
          <a:custGeom>
            <a:rect b="b" l="l" r="r" t="t"/>
            <a:pathLst>
              <a:path extrusionOk="0" h="2571153" w="4049486">
                <a:moveTo>
                  <a:pt x="76710" y="0"/>
                </a:moveTo>
                <a:lnTo>
                  <a:pt x="3972776" y="0"/>
                </a:lnTo>
                <a:lnTo>
                  <a:pt x="4008351" y="138354"/>
                </a:lnTo>
                <a:cubicBezTo>
                  <a:pt x="4035322" y="270160"/>
                  <a:pt x="4049486" y="406631"/>
                  <a:pt x="4049486" y="546410"/>
                </a:cubicBezTo>
                <a:cubicBezTo>
                  <a:pt x="4049486" y="1664645"/>
                  <a:pt x="3142978" y="2571153"/>
                  <a:pt x="2024743" y="2571153"/>
                </a:cubicBezTo>
                <a:cubicBezTo>
                  <a:pt x="906508" y="2571153"/>
                  <a:pt x="0" y="1664645"/>
                  <a:pt x="0" y="546410"/>
                </a:cubicBezTo>
                <a:cubicBezTo>
                  <a:pt x="0" y="406631"/>
                  <a:pt x="14164" y="270160"/>
                  <a:pt x="41136" y="138354"/>
                </a:cubicBezTo>
                <a:close/>
              </a:path>
            </a:pathLst>
          </a:custGeom>
          <a:noFill/>
          <a:ln cap="flat" cmpd="sng" w="19050">
            <a:solidFill>
              <a:schemeClr val="dk1">
                <a:alpha val="20000"/>
              </a:scheme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0"/>
          <p:cNvSpPr/>
          <p:nvPr/>
        </p:nvSpPr>
        <p:spPr>
          <a:xfrm flipH="1">
            <a:off x="7674088" y="289932"/>
            <a:ext cx="5277329" cy="6735336"/>
          </a:xfrm>
          <a:custGeom>
            <a:rect b="b" l="l" r="r" t="t"/>
            <a:pathLst>
              <a:path extrusionOk="0" h="6735336" w="5277329">
                <a:moveTo>
                  <a:pt x="1677329" y="0"/>
                </a:moveTo>
                <a:cubicBezTo>
                  <a:pt x="3665554" y="0"/>
                  <a:pt x="5277329" y="1611775"/>
                  <a:pt x="5277329" y="3600000"/>
                </a:cubicBezTo>
                <a:cubicBezTo>
                  <a:pt x="5277329" y="4842641"/>
                  <a:pt x="4647730" y="5938231"/>
                  <a:pt x="3690123" y="6585177"/>
                </a:cubicBezTo>
                <a:lnTo>
                  <a:pt x="3442953" y="6735336"/>
                </a:lnTo>
                <a:lnTo>
                  <a:pt x="0" y="6735336"/>
                </a:lnTo>
                <a:lnTo>
                  <a:pt x="0" y="414708"/>
                </a:lnTo>
                <a:lnTo>
                  <a:pt x="116580" y="354999"/>
                </a:lnTo>
                <a:cubicBezTo>
                  <a:pt x="588731" y="127494"/>
                  <a:pt x="1118141" y="0"/>
                  <a:pt x="1677329" y="0"/>
                </a:cubicBezTo>
                <a:close/>
              </a:path>
            </a:pathLst>
          </a:custGeom>
          <a:noFill/>
          <a:ln cap="flat" cmpd="sng" w="19050">
            <a:solidFill>
              <a:schemeClr val="dk1">
                <a:alpha val="400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-1143000" y="-835276"/>
            <a:ext cx="1891853" cy="1891853"/>
          </a:xfrm>
          <a:prstGeom prst="ellipse">
            <a:avLst/>
          </a:prstGeom>
          <a:noFill/>
          <a:ln cap="flat" cmpd="sng" w="12700">
            <a:solidFill>
              <a:schemeClr val="dk1">
                <a:alpha val="40000"/>
              </a:scheme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-343971" y="-982173"/>
            <a:ext cx="293794" cy="293794"/>
          </a:xfrm>
          <a:prstGeom prst="ellipse">
            <a:avLst/>
          </a:prstGeom>
          <a:gradFill>
            <a:gsLst>
              <a:gs pos="0">
                <a:srgbClr val="28B3B4"/>
              </a:gs>
              <a:gs pos="100000">
                <a:srgbClr val="124B45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8659394" y="1247343"/>
            <a:ext cx="206911" cy="206911"/>
          </a:xfrm>
          <a:prstGeom prst="ellipse">
            <a:avLst/>
          </a:prstGeom>
          <a:gradFill>
            <a:gsLst>
              <a:gs pos="0">
                <a:srgbClr val="28B3B4"/>
              </a:gs>
              <a:gs pos="100000">
                <a:srgbClr val="124B45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3" name="Google Shape;163;p20"/>
          <p:cNvGrpSpPr/>
          <p:nvPr/>
        </p:nvGrpSpPr>
        <p:grpSpPr>
          <a:xfrm>
            <a:off x="5743721" y="228229"/>
            <a:ext cx="6454843" cy="6080496"/>
            <a:chOff x="5743721" y="228229"/>
            <a:chExt cx="6454843" cy="6080496"/>
          </a:xfrm>
        </p:grpSpPr>
        <p:sp>
          <p:nvSpPr>
            <p:cNvPr id="164" name="Google Shape;164;p20"/>
            <p:cNvSpPr/>
            <p:nvPr/>
          </p:nvSpPr>
          <p:spPr>
            <a:xfrm>
              <a:off x="5743721" y="1891854"/>
              <a:ext cx="5860903" cy="4416871"/>
            </a:xfrm>
            <a:prstGeom prst="roundRect">
              <a:avLst>
                <a:gd fmla="val 3682" name="adj"/>
              </a:avLst>
            </a:prstGeom>
            <a:gradFill>
              <a:gsLst>
                <a:gs pos="0">
                  <a:srgbClr val="28B3B4"/>
                </a:gs>
                <a:gs pos="100000">
                  <a:srgbClr val="124B45"/>
                </a:gs>
              </a:gsLst>
              <a:lin ang="2700000" scaled="0"/>
            </a:gradFill>
            <a:ln>
              <a:noFill/>
            </a:ln>
            <a:effectLst>
              <a:outerShdw blurRad="503413" sx="98000" rotWithShape="0" algn="ctr" dir="1500000" dist="279400" sy="98000">
                <a:srgbClr val="12595A">
                  <a:alpha val="1215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5" name="Google Shape;165;p20"/>
            <p:cNvSpPr/>
            <p:nvPr/>
          </p:nvSpPr>
          <p:spPr>
            <a:xfrm>
              <a:off x="5927933" y="2741285"/>
              <a:ext cx="5492478" cy="3328211"/>
            </a:xfrm>
            <a:prstGeom prst="roundRect">
              <a:avLst>
                <a:gd fmla="val 5299" name="adj"/>
              </a:avLst>
            </a:prstGeom>
            <a:solidFill>
              <a:srgbClr val="071918"/>
            </a:solidFill>
            <a:ln>
              <a:noFill/>
            </a:ln>
            <a:effectLst>
              <a:outerShdw blurRad="503413" sx="98000" rotWithShape="0" algn="ctr" dir="1500000" dist="279400" sy="98000">
                <a:srgbClr val="12595A">
                  <a:alpha val="1215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66" name="Google Shape;166;p20"/>
            <p:cNvPicPr preferRelativeResize="0"/>
            <p:nvPr/>
          </p:nvPicPr>
          <p:blipFill rotWithShape="1">
            <a:blip r:embed="rId3">
              <a:alphaModFix/>
            </a:blip>
            <a:srcRect b="0" l="2" r="2" t="0"/>
            <a:stretch/>
          </p:blipFill>
          <p:spPr>
            <a:xfrm>
              <a:off x="9435722" y="228229"/>
              <a:ext cx="2762842" cy="5429968"/>
            </a:xfrm>
            <a:custGeom>
              <a:rect b="b" l="l" r="r" t="t"/>
              <a:pathLst>
                <a:path extrusionOk="0" h="5429968" w="2762842">
                  <a:moveTo>
                    <a:pt x="638389" y="2591171"/>
                  </a:moveTo>
                  <a:cubicBezTo>
                    <a:pt x="647914" y="2586408"/>
                    <a:pt x="672256" y="2598050"/>
                    <a:pt x="682839" y="2607046"/>
                  </a:cubicBezTo>
                  <a:cubicBezTo>
                    <a:pt x="693422" y="2616042"/>
                    <a:pt x="695539" y="2634563"/>
                    <a:pt x="701889" y="2645146"/>
                  </a:cubicBezTo>
                  <a:cubicBezTo>
                    <a:pt x="708239" y="2655729"/>
                    <a:pt x="702947" y="2652025"/>
                    <a:pt x="720939" y="2670546"/>
                  </a:cubicBezTo>
                  <a:cubicBezTo>
                    <a:pt x="738931" y="2689067"/>
                    <a:pt x="778618" y="2730871"/>
                    <a:pt x="809839" y="2756271"/>
                  </a:cubicBezTo>
                  <a:cubicBezTo>
                    <a:pt x="841060" y="2781671"/>
                    <a:pt x="874927" y="2809188"/>
                    <a:pt x="908264" y="2822946"/>
                  </a:cubicBezTo>
                  <a:cubicBezTo>
                    <a:pt x="933267" y="2833265"/>
                    <a:pt x="964520" y="2827510"/>
                    <a:pt x="988631" y="2831132"/>
                  </a:cubicBezTo>
                  <a:lnTo>
                    <a:pt x="988781" y="2831186"/>
                  </a:lnTo>
                  <a:lnTo>
                    <a:pt x="1112887" y="2831186"/>
                  </a:lnTo>
                  <a:lnTo>
                    <a:pt x="1112887" y="3079635"/>
                  </a:lnTo>
                  <a:lnTo>
                    <a:pt x="995983" y="3079635"/>
                  </a:lnTo>
                  <a:lnTo>
                    <a:pt x="987952" y="3100406"/>
                  </a:lnTo>
                  <a:lnTo>
                    <a:pt x="987952" y="3543252"/>
                  </a:lnTo>
                  <a:lnTo>
                    <a:pt x="593940" y="3543252"/>
                  </a:lnTo>
                  <a:lnTo>
                    <a:pt x="593940" y="3377807"/>
                  </a:lnTo>
                  <a:lnTo>
                    <a:pt x="593940" y="2896808"/>
                  </a:lnTo>
                  <a:lnTo>
                    <a:pt x="593940" y="2600911"/>
                  </a:lnTo>
                  <a:lnTo>
                    <a:pt x="627192" y="2600911"/>
                  </a:lnTo>
                  <a:lnTo>
                    <a:pt x="628665" y="2592957"/>
                  </a:lnTo>
                  <a:cubicBezTo>
                    <a:pt x="630584" y="2589848"/>
                    <a:pt x="633626" y="2593553"/>
                    <a:pt x="638389" y="2591171"/>
                  </a:cubicBezTo>
                  <a:close/>
                  <a:moveTo>
                    <a:pt x="2762842" y="0"/>
                  </a:moveTo>
                  <a:lnTo>
                    <a:pt x="0" y="0"/>
                  </a:lnTo>
                  <a:lnTo>
                    <a:pt x="0" y="5429968"/>
                  </a:lnTo>
                  <a:lnTo>
                    <a:pt x="2762842" y="5429968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167" name="Google Shape;167;p20"/>
            <p:cNvSpPr txBox="1"/>
            <p:nvPr/>
          </p:nvSpPr>
          <p:spPr>
            <a:xfrm>
              <a:off x="5823620" y="1899334"/>
              <a:ext cx="4794073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Когда использовать RESTful API?</a:t>
              </a:r>
              <a:endParaRPr b="1"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sp>
        <p:nvSpPr>
          <p:cNvPr id="168" name="Google Shape;168;p20"/>
          <p:cNvSpPr txBox="1"/>
          <p:nvPr/>
        </p:nvSpPr>
        <p:spPr>
          <a:xfrm>
            <a:off x="0" y="289932"/>
            <a:ext cx="12192000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Почему именно .NET для REST API?</a:t>
            </a:r>
            <a:endParaRPr/>
          </a:p>
        </p:txBody>
      </p:sp>
      <p:pic>
        <p:nvPicPr>
          <p:cNvPr id="169" name="Google Shape;16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4103" y="2689069"/>
            <a:ext cx="4957492" cy="343264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5927933" y="2843215"/>
            <a:ext cx="7053308" cy="2908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C"/>
              </a:buClr>
              <a:buSzPts val="1800"/>
              <a:buFont typeface="Montserrat"/>
              <a:buNone/>
            </a:pPr>
            <a:r>
              <a:rPr b="0" i="0" lang="ru-RU" sz="1800">
                <a:solidFill>
                  <a:srgbClr val="FAFAFC"/>
                </a:solidFill>
                <a:latin typeface="Montserrat"/>
                <a:ea typeface="Montserrat"/>
                <a:cs typeface="Montserrat"/>
                <a:sym typeface="Montserrat"/>
              </a:rPr>
              <a:t>✅ Хорошо подходит: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rgbClr val="FAFAFC"/>
              </a:buClr>
              <a:buSzPts val="1800"/>
              <a:buFont typeface="Arial"/>
              <a:buChar char="•"/>
            </a:pPr>
            <a:r>
              <a:rPr b="0" i="0" lang="ru-RU" sz="1800">
                <a:solidFill>
                  <a:srgbClr val="FAFAFC"/>
                </a:solidFill>
                <a:latin typeface="Montserrat"/>
                <a:ea typeface="Montserrat"/>
                <a:cs typeface="Montserrat"/>
                <a:sym typeface="Montserrat"/>
              </a:rPr>
              <a:t> Для веб-приложений (фронтенд + бэкенд)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rgbClr val="FAFAFC"/>
              </a:buClr>
              <a:buSzPts val="1800"/>
              <a:buFont typeface="Arial"/>
              <a:buChar char="•"/>
            </a:pPr>
            <a:r>
              <a:rPr b="0" i="0" lang="ru-RU" sz="1800">
                <a:solidFill>
                  <a:srgbClr val="FAFAFC"/>
                </a:solidFill>
                <a:latin typeface="Montserrat"/>
                <a:ea typeface="Montserrat"/>
                <a:cs typeface="Montserrat"/>
                <a:sym typeface="Montserrat"/>
              </a:rPr>
              <a:t> Мобильных приложений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rgbClr val="FAFAFC"/>
              </a:buClr>
              <a:buSzPts val="1800"/>
              <a:buFont typeface="Arial"/>
              <a:buChar char="•"/>
            </a:pPr>
            <a:r>
              <a:rPr b="0" i="0" lang="ru-RU" sz="1800">
                <a:solidFill>
                  <a:srgbClr val="FAFAFC"/>
                </a:solidFill>
                <a:latin typeface="Montserrat"/>
                <a:ea typeface="Montserrat"/>
                <a:cs typeface="Montserrat"/>
                <a:sym typeface="Montserrat"/>
              </a:rPr>
              <a:t> Интеграции между системами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rgbClr val="FAFAFC"/>
              </a:buClr>
              <a:buSzPts val="1800"/>
              <a:buFont typeface="Arial"/>
              <a:buChar char="•"/>
            </a:pPr>
            <a:r>
              <a:rPr b="0" i="0" lang="ru-RU" sz="1800">
                <a:solidFill>
                  <a:srgbClr val="FAFAFC"/>
                </a:solidFill>
                <a:latin typeface="Montserrat"/>
                <a:ea typeface="Montserrat"/>
                <a:cs typeface="Montserrat"/>
                <a:sym typeface="Montserrat"/>
              </a:rPr>
              <a:t> Микросервисной архитектуры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rgbClr val="FAFAFC"/>
              </a:buClr>
              <a:buSzPts val="1800"/>
              <a:buFont typeface="Arial"/>
              <a:buChar char="•"/>
            </a:pPr>
            <a:r>
              <a:rPr b="0" i="0" lang="ru-RU" sz="1800">
                <a:solidFill>
                  <a:srgbClr val="FAFAFC"/>
                </a:solidFill>
                <a:latin typeface="Montserrat"/>
                <a:ea typeface="Montserrat"/>
                <a:cs typeface="Montserrat"/>
                <a:sym typeface="Montserrat"/>
              </a:rPr>
              <a:t> Когда нужна простота и совместимость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169765" y="1868600"/>
            <a:ext cx="5653855" cy="4570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0175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C"/>
              </a:buClr>
              <a:buSzPts val="2050"/>
              <a:buFont typeface="Arial"/>
              <a:buChar char="•"/>
            </a:pPr>
            <a:r>
              <a:rPr b="0" i="0" lang="ru-RU" sz="2050">
                <a:solidFill>
                  <a:srgbClr val="FAFAFC"/>
                </a:solidFill>
                <a:latin typeface="Montserrat"/>
                <a:ea typeface="Montserrat"/>
                <a:cs typeface="Montserrat"/>
                <a:sym typeface="Montserrat"/>
              </a:rPr>
              <a:t> ASP.NET Core — мощная, производительная, кроссплатформенная платформа</a:t>
            </a:r>
            <a:endParaRPr/>
          </a:p>
          <a:p>
            <a:pPr indent="-130175" lvl="0" marL="0" marR="0" rtl="0" algn="l">
              <a:spcBef>
                <a:spcPts val="1800"/>
              </a:spcBef>
              <a:spcAft>
                <a:spcPts val="0"/>
              </a:spcAft>
              <a:buClr>
                <a:srgbClr val="FAFAFC"/>
              </a:buClr>
              <a:buSzPts val="2050"/>
              <a:buFont typeface="Arial"/>
              <a:buChar char="•"/>
            </a:pPr>
            <a:r>
              <a:rPr b="0" i="0" lang="ru-RU" sz="2050">
                <a:solidFill>
                  <a:srgbClr val="FAFAFC"/>
                </a:solidFill>
                <a:latin typeface="Montserrat"/>
                <a:ea typeface="Montserrat"/>
                <a:cs typeface="Montserrat"/>
                <a:sym typeface="Montserrat"/>
              </a:rPr>
              <a:t> Поддержка современных стандартов (OpenAPI/Swagger, JWT, CORS)</a:t>
            </a:r>
            <a:endParaRPr/>
          </a:p>
          <a:p>
            <a:pPr indent="-130175" lvl="0" marL="0" marR="0" rtl="0" algn="l">
              <a:spcBef>
                <a:spcPts val="1800"/>
              </a:spcBef>
              <a:spcAft>
                <a:spcPts val="0"/>
              </a:spcAft>
              <a:buClr>
                <a:srgbClr val="FAFAFC"/>
              </a:buClr>
              <a:buSzPts val="2050"/>
              <a:buFont typeface="Arial"/>
              <a:buChar char="•"/>
            </a:pPr>
            <a:r>
              <a:rPr b="0" i="0" lang="ru-RU" sz="2050">
                <a:solidFill>
                  <a:srgbClr val="FAFAFC"/>
                </a:solidFill>
                <a:latin typeface="Montserrat"/>
                <a:ea typeface="Montserrat"/>
                <a:cs typeface="Montserrat"/>
                <a:sym typeface="Montserrat"/>
              </a:rPr>
              <a:t> Высокая производительность (одна из самых быстрых по бенчмаркам)</a:t>
            </a:r>
            <a:endParaRPr/>
          </a:p>
          <a:p>
            <a:pPr indent="-130175" lvl="0" marL="0" marR="0" rtl="0" algn="l">
              <a:spcBef>
                <a:spcPts val="1800"/>
              </a:spcBef>
              <a:spcAft>
                <a:spcPts val="0"/>
              </a:spcAft>
              <a:buClr>
                <a:srgbClr val="FAFAFC"/>
              </a:buClr>
              <a:buSzPts val="2050"/>
              <a:buFont typeface="Arial"/>
              <a:buChar char="•"/>
            </a:pPr>
            <a:r>
              <a:rPr b="0" i="0" lang="ru-RU" sz="2050">
                <a:solidFill>
                  <a:srgbClr val="FAFAFC"/>
                </a:solidFill>
                <a:latin typeface="Montserrat"/>
                <a:ea typeface="Montserrat"/>
                <a:cs typeface="Montserrat"/>
                <a:sym typeface="Montserrat"/>
              </a:rPr>
              <a:t> Отличная интеграция с базами данных (Entity Framework)</a:t>
            </a:r>
            <a:endParaRPr/>
          </a:p>
          <a:p>
            <a:pPr indent="-130175" lvl="0" marL="0" marR="0" rtl="0" algn="l">
              <a:spcBef>
                <a:spcPts val="1800"/>
              </a:spcBef>
              <a:spcAft>
                <a:spcPts val="0"/>
              </a:spcAft>
              <a:buClr>
                <a:srgbClr val="FAFAFC"/>
              </a:buClr>
              <a:buSzPts val="2050"/>
              <a:buFont typeface="Arial"/>
              <a:buChar char="•"/>
            </a:pPr>
            <a:r>
              <a:rPr b="0" i="0" lang="ru-RU" sz="2050">
                <a:solidFill>
                  <a:srgbClr val="FAFAFC"/>
                </a:solidFill>
                <a:latin typeface="Montserrat"/>
                <a:ea typeface="Montserrat"/>
                <a:cs typeface="Montserrat"/>
                <a:sym typeface="Montserrat"/>
              </a:rPr>
              <a:t> Поддержка Docker, Kubernetes, микросервисов</a:t>
            </a:r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2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4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/>
          <p:nvPr/>
        </p:nvSpPr>
        <p:spPr>
          <a:xfrm flipH="1">
            <a:off x="8545094" y="-89210"/>
            <a:ext cx="4049486" cy="2571153"/>
          </a:xfrm>
          <a:custGeom>
            <a:rect b="b" l="l" r="r" t="t"/>
            <a:pathLst>
              <a:path extrusionOk="0" h="2571153" w="4049486">
                <a:moveTo>
                  <a:pt x="76710" y="0"/>
                </a:moveTo>
                <a:lnTo>
                  <a:pt x="3972776" y="0"/>
                </a:lnTo>
                <a:lnTo>
                  <a:pt x="4008351" y="138354"/>
                </a:lnTo>
                <a:cubicBezTo>
                  <a:pt x="4035322" y="270160"/>
                  <a:pt x="4049486" y="406631"/>
                  <a:pt x="4049486" y="546410"/>
                </a:cubicBezTo>
                <a:cubicBezTo>
                  <a:pt x="4049486" y="1664645"/>
                  <a:pt x="3142978" y="2571153"/>
                  <a:pt x="2024743" y="2571153"/>
                </a:cubicBezTo>
                <a:cubicBezTo>
                  <a:pt x="906508" y="2571153"/>
                  <a:pt x="0" y="1664645"/>
                  <a:pt x="0" y="546410"/>
                </a:cubicBezTo>
                <a:cubicBezTo>
                  <a:pt x="0" y="406631"/>
                  <a:pt x="14164" y="270160"/>
                  <a:pt x="41136" y="138354"/>
                </a:cubicBezTo>
                <a:close/>
              </a:path>
            </a:pathLst>
          </a:custGeom>
          <a:noFill/>
          <a:ln cap="flat" cmpd="sng" w="19050">
            <a:solidFill>
              <a:schemeClr val="dk1">
                <a:alpha val="20000"/>
              </a:scheme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1"/>
          <p:cNvSpPr/>
          <p:nvPr/>
        </p:nvSpPr>
        <p:spPr>
          <a:xfrm flipH="1">
            <a:off x="7674088" y="289932"/>
            <a:ext cx="5277329" cy="6735336"/>
          </a:xfrm>
          <a:custGeom>
            <a:rect b="b" l="l" r="r" t="t"/>
            <a:pathLst>
              <a:path extrusionOk="0" h="6735336" w="5277329">
                <a:moveTo>
                  <a:pt x="1677329" y="0"/>
                </a:moveTo>
                <a:cubicBezTo>
                  <a:pt x="3665554" y="0"/>
                  <a:pt x="5277329" y="1611775"/>
                  <a:pt x="5277329" y="3600000"/>
                </a:cubicBezTo>
                <a:cubicBezTo>
                  <a:pt x="5277329" y="4842641"/>
                  <a:pt x="4647730" y="5938231"/>
                  <a:pt x="3690123" y="6585177"/>
                </a:cubicBezTo>
                <a:lnTo>
                  <a:pt x="3442953" y="6735336"/>
                </a:lnTo>
                <a:lnTo>
                  <a:pt x="0" y="6735336"/>
                </a:lnTo>
                <a:lnTo>
                  <a:pt x="0" y="414708"/>
                </a:lnTo>
                <a:lnTo>
                  <a:pt x="116580" y="354999"/>
                </a:lnTo>
                <a:cubicBezTo>
                  <a:pt x="588731" y="127494"/>
                  <a:pt x="1118141" y="0"/>
                  <a:pt x="1677329" y="0"/>
                </a:cubicBezTo>
                <a:close/>
              </a:path>
            </a:pathLst>
          </a:custGeom>
          <a:noFill/>
          <a:ln cap="flat" cmpd="sng" w="19050">
            <a:solidFill>
              <a:schemeClr val="dk1">
                <a:alpha val="400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-1143000" y="-835276"/>
            <a:ext cx="1891853" cy="1891853"/>
          </a:xfrm>
          <a:prstGeom prst="ellipse">
            <a:avLst/>
          </a:prstGeom>
          <a:noFill/>
          <a:ln cap="flat" cmpd="sng" w="12700">
            <a:solidFill>
              <a:schemeClr val="dk1">
                <a:alpha val="40000"/>
              </a:scheme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-385672" y="-982173"/>
            <a:ext cx="293794" cy="293794"/>
          </a:xfrm>
          <a:prstGeom prst="ellipse">
            <a:avLst/>
          </a:prstGeom>
          <a:gradFill>
            <a:gsLst>
              <a:gs pos="0">
                <a:srgbClr val="28B3B4"/>
              </a:gs>
              <a:gs pos="100000">
                <a:srgbClr val="124B45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11148594" y="208348"/>
            <a:ext cx="206911" cy="206911"/>
          </a:xfrm>
          <a:prstGeom prst="ellipse">
            <a:avLst/>
          </a:prstGeom>
          <a:gradFill>
            <a:gsLst>
              <a:gs pos="0">
                <a:srgbClr val="28B3B4"/>
              </a:gs>
              <a:gs pos="100000">
                <a:srgbClr val="124B45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1" name="Google Shape;181;p21"/>
          <p:cNvGrpSpPr/>
          <p:nvPr/>
        </p:nvGrpSpPr>
        <p:grpSpPr>
          <a:xfrm>
            <a:off x="175227" y="1069597"/>
            <a:ext cx="2663736" cy="4727936"/>
            <a:chOff x="342513" y="1051498"/>
            <a:chExt cx="2663736" cy="4754083"/>
          </a:xfrm>
        </p:grpSpPr>
        <p:sp>
          <p:nvSpPr>
            <p:cNvPr id="182" name="Google Shape;182;p21"/>
            <p:cNvSpPr/>
            <p:nvPr/>
          </p:nvSpPr>
          <p:spPr>
            <a:xfrm>
              <a:off x="353933" y="1051498"/>
              <a:ext cx="2652316" cy="4754083"/>
            </a:xfrm>
            <a:prstGeom prst="roundRect">
              <a:avLst>
                <a:gd fmla="val 5517" name="adj"/>
              </a:avLst>
            </a:prstGeom>
            <a:gradFill>
              <a:gsLst>
                <a:gs pos="0">
                  <a:srgbClr val="156566"/>
                </a:gs>
                <a:gs pos="100000">
                  <a:srgbClr val="072D26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83" name="Google Shape;183;p21"/>
            <p:cNvSpPr txBox="1"/>
            <p:nvPr/>
          </p:nvSpPr>
          <p:spPr>
            <a:xfrm>
              <a:off x="467041" y="3599860"/>
              <a:ext cx="2426081" cy="402316"/>
            </a:xfrm>
            <a:prstGeom prst="rect">
              <a:avLst/>
            </a:prstGeom>
            <a:gradFill>
              <a:gsLst>
                <a:gs pos="0">
                  <a:srgbClr val="156566"/>
                </a:gs>
                <a:gs pos="100000">
                  <a:srgbClr val="072D26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 cap="flat" cmpd="sng" w="19050">
              <a:solidFill>
                <a:srgbClr val="7EFF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Cоздать проект</a:t>
              </a:r>
              <a:endParaRPr/>
            </a:p>
          </p:txBody>
        </p:sp>
        <p:sp>
          <p:nvSpPr>
            <p:cNvPr id="184" name="Google Shape;184;p21"/>
            <p:cNvSpPr txBox="1"/>
            <p:nvPr/>
          </p:nvSpPr>
          <p:spPr>
            <a:xfrm>
              <a:off x="342513" y="4091287"/>
              <a:ext cx="2652300" cy="1485600"/>
            </a:xfrm>
            <a:prstGeom prst="rect">
              <a:avLst/>
            </a:prstGeom>
            <a:gradFill>
              <a:gsLst>
                <a:gs pos="0">
                  <a:srgbClr val="156566"/>
                </a:gs>
                <a:gs pos="100000">
                  <a:srgbClr val="072D26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Создайте новый проект с шаблоном Web API.</a:t>
              </a:r>
              <a:br>
                <a:rPr lang="ru-RU" sz="16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ru-RU"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Это база для любого REST-сервера.</a:t>
              </a:r>
              <a:endParaRPr sz="14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85" name="Google Shape;185;p21"/>
          <p:cNvGrpSpPr/>
          <p:nvPr/>
        </p:nvGrpSpPr>
        <p:grpSpPr>
          <a:xfrm>
            <a:off x="3007966" y="1069614"/>
            <a:ext cx="2819388" cy="4728009"/>
            <a:chOff x="3180179" y="1082652"/>
            <a:chExt cx="2819388" cy="4691774"/>
          </a:xfrm>
        </p:grpSpPr>
        <p:sp>
          <p:nvSpPr>
            <p:cNvPr id="186" name="Google Shape;186;p21"/>
            <p:cNvSpPr/>
            <p:nvPr/>
          </p:nvSpPr>
          <p:spPr>
            <a:xfrm>
              <a:off x="3180179" y="1082652"/>
              <a:ext cx="2819388" cy="4691774"/>
            </a:xfrm>
            <a:prstGeom prst="roundRect">
              <a:avLst>
                <a:gd fmla="val 5517" name="adj"/>
              </a:avLst>
            </a:prstGeom>
            <a:gradFill>
              <a:gsLst>
                <a:gs pos="0">
                  <a:srgbClr val="156566"/>
                </a:gs>
                <a:gs pos="100000">
                  <a:srgbClr val="072D26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87" name="Google Shape;187;p21"/>
            <p:cNvSpPr txBox="1"/>
            <p:nvPr/>
          </p:nvSpPr>
          <p:spPr>
            <a:xfrm>
              <a:off x="3306132" y="3532848"/>
              <a:ext cx="2578800" cy="549900"/>
            </a:xfrm>
            <a:prstGeom prst="rect">
              <a:avLst/>
            </a:prstGeom>
            <a:gradFill>
              <a:gsLst>
                <a:gs pos="0">
                  <a:srgbClr val="156566"/>
                </a:gs>
                <a:gs pos="100000">
                  <a:srgbClr val="072D26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 cap="flat" cmpd="sng" w="19050">
              <a:solidFill>
                <a:srgbClr val="92E7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5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Подключить Entity Framework</a:t>
              </a:r>
              <a:endParaRPr b="1" sz="1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88" name="Google Shape;188;p21"/>
            <p:cNvSpPr txBox="1"/>
            <p:nvPr/>
          </p:nvSpPr>
          <p:spPr>
            <a:xfrm>
              <a:off x="3180179" y="4323743"/>
              <a:ext cx="2819388" cy="335959"/>
            </a:xfrm>
            <a:prstGeom prst="rect">
              <a:avLst/>
            </a:prstGeom>
            <a:gradFill>
              <a:gsLst>
                <a:gs pos="0">
                  <a:srgbClr val="156566"/>
                </a:gs>
                <a:gs pos="100000">
                  <a:srgbClr val="072D26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89" name="Google Shape;189;p21"/>
          <p:cNvGrpSpPr/>
          <p:nvPr/>
        </p:nvGrpSpPr>
        <p:grpSpPr>
          <a:xfrm>
            <a:off x="5996338" y="1056577"/>
            <a:ext cx="2881388" cy="4738506"/>
            <a:chOff x="6147277" y="1051497"/>
            <a:chExt cx="2881388" cy="4754084"/>
          </a:xfrm>
        </p:grpSpPr>
        <p:sp>
          <p:nvSpPr>
            <p:cNvPr id="190" name="Google Shape;190;p21"/>
            <p:cNvSpPr/>
            <p:nvPr/>
          </p:nvSpPr>
          <p:spPr>
            <a:xfrm>
              <a:off x="6158717" y="1051497"/>
              <a:ext cx="2869947" cy="4754084"/>
            </a:xfrm>
            <a:prstGeom prst="roundRect">
              <a:avLst>
                <a:gd fmla="val 5517" name="adj"/>
              </a:avLst>
            </a:prstGeom>
            <a:gradFill>
              <a:gsLst>
                <a:gs pos="0">
                  <a:srgbClr val="156566"/>
                </a:gs>
                <a:gs pos="100000">
                  <a:srgbClr val="072D26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91" name="Google Shape;191;p21"/>
            <p:cNvSpPr txBox="1"/>
            <p:nvPr/>
          </p:nvSpPr>
          <p:spPr>
            <a:xfrm>
              <a:off x="6147277" y="3543133"/>
              <a:ext cx="2785800" cy="370500"/>
            </a:xfrm>
            <a:prstGeom prst="rect">
              <a:avLst/>
            </a:prstGeom>
            <a:gradFill>
              <a:gsLst>
                <a:gs pos="0">
                  <a:srgbClr val="156566"/>
                </a:gs>
                <a:gs pos="100000">
                  <a:srgbClr val="072D26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 cap="flat" cmpd="sng" w="19050">
              <a:solidFill>
                <a:srgbClr val="00FE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8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Создать DbContext</a:t>
              </a:r>
              <a:endParaRPr b="1"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92" name="Google Shape;192;p21"/>
            <p:cNvSpPr txBox="1"/>
            <p:nvPr/>
          </p:nvSpPr>
          <p:spPr>
            <a:xfrm>
              <a:off x="6158717" y="4348773"/>
              <a:ext cx="2869948" cy="378265"/>
            </a:xfrm>
            <a:prstGeom prst="rect">
              <a:avLst/>
            </a:prstGeom>
            <a:gradFill>
              <a:gsLst>
                <a:gs pos="0">
                  <a:srgbClr val="156566"/>
                </a:gs>
                <a:gs pos="100000">
                  <a:srgbClr val="072D26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93" name="Google Shape;193;p21"/>
          <p:cNvGrpSpPr/>
          <p:nvPr/>
        </p:nvGrpSpPr>
        <p:grpSpPr>
          <a:xfrm>
            <a:off x="9035308" y="1056577"/>
            <a:ext cx="2981852" cy="4738506"/>
            <a:chOff x="9202594" y="1046417"/>
            <a:chExt cx="2874528" cy="4764244"/>
          </a:xfrm>
        </p:grpSpPr>
        <p:sp>
          <p:nvSpPr>
            <p:cNvPr id="194" name="Google Shape;194;p21"/>
            <p:cNvSpPr/>
            <p:nvPr/>
          </p:nvSpPr>
          <p:spPr>
            <a:xfrm>
              <a:off x="9202595" y="1046417"/>
              <a:ext cx="2863145" cy="4764244"/>
            </a:xfrm>
            <a:prstGeom prst="roundRect">
              <a:avLst>
                <a:gd fmla="val 5517" name="adj"/>
              </a:avLst>
            </a:prstGeom>
            <a:gradFill>
              <a:gsLst>
                <a:gs pos="0">
                  <a:srgbClr val="156566"/>
                </a:gs>
                <a:gs pos="100000">
                  <a:srgbClr val="072D26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95" name="Google Shape;195;p21"/>
            <p:cNvSpPr txBox="1"/>
            <p:nvPr/>
          </p:nvSpPr>
          <p:spPr>
            <a:xfrm>
              <a:off x="9213922" y="3646578"/>
              <a:ext cx="2863200" cy="681000"/>
            </a:xfrm>
            <a:prstGeom prst="rect">
              <a:avLst/>
            </a:prstGeom>
            <a:gradFill>
              <a:gsLst>
                <a:gs pos="0">
                  <a:srgbClr val="156566"/>
                </a:gs>
                <a:gs pos="100000">
                  <a:srgbClr val="072D26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 cap="flat" cmpd="sng" w="9525">
              <a:solidFill>
                <a:srgbClr val="DCD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8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Добавить эндпоинты</a:t>
              </a:r>
              <a:endParaRPr b="1"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96" name="Google Shape;196;p21"/>
            <p:cNvSpPr txBox="1"/>
            <p:nvPr/>
          </p:nvSpPr>
          <p:spPr>
            <a:xfrm>
              <a:off x="9202594" y="4295116"/>
              <a:ext cx="2863144" cy="363601"/>
            </a:xfrm>
            <a:prstGeom prst="rect">
              <a:avLst/>
            </a:prstGeom>
            <a:gradFill>
              <a:gsLst>
                <a:gs pos="0">
                  <a:srgbClr val="156566"/>
                </a:gs>
                <a:gs pos="100000">
                  <a:srgbClr val="072D26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197" name="Google Shape;197;p21"/>
          <p:cNvSpPr txBox="1"/>
          <p:nvPr/>
        </p:nvSpPr>
        <p:spPr>
          <a:xfrm>
            <a:off x="-91878" y="262746"/>
            <a:ext cx="1228387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AFC"/>
              </a:buClr>
              <a:buSzPts val="3000"/>
              <a:buFont typeface="Montserrat ExtraBold"/>
              <a:buNone/>
            </a:pPr>
            <a:r>
              <a:rPr b="1" i="0" lang="ru-RU" sz="3000">
                <a:solidFill>
                  <a:srgbClr val="FA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Как создать REST API в .NET? (Краткий обзор)</a:t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336784" y="1291940"/>
            <a:ext cx="2329200" cy="2127600"/>
          </a:xfrm>
          <a:prstGeom prst="roundRect">
            <a:avLst>
              <a:gd fmla="val 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6329064" y="1255854"/>
            <a:ext cx="2329200" cy="2127600"/>
          </a:xfrm>
          <a:prstGeom prst="roundRect">
            <a:avLst>
              <a:gd fmla="val 1236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9379435" y="1257234"/>
            <a:ext cx="2329200" cy="2127600"/>
          </a:xfrm>
          <a:prstGeom prst="roundRect">
            <a:avLst>
              <a:gd fmla="val 1236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3091524" y="4231050"/>
            <a:ext cx="2663700" cy="1477500"/>
          </a:xfrm>
          <a:prstGeom prst="rect">
            <a:avLst/>
          </a:prstGeom>
          <a:gradFill>
            <a:gsLst>
              <a:gs pos="0">
                <a:srgbClr val="156566"/>
              </a:gs>
              <a:gs pos="100000">
                <a:srgbClr val="072D26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Создайте базу данных postgres, создайте </a:t>
            </a: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соответствующие</a:t>
            </a: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модели</a:t>
            </a:r>
            <a:endParaRPr sz="145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9243677" y="4320017"/>
            <a:ext cx="2652300" cy="1477500"/>
          </a:xfrm>
          <a:prstGeom prst="rect">
            <a:avLst/>
          </a:prstGeom>
          <a:gradFill>
            <a:gsLst>
              <a:gs pos="0">
                <a:srgbClr val="156566"/>
              </a:gs>
              <a:gs pos="100000">
                <a:srgbClr val="072D26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Создайте новый проект с шаблоном Web API.</a:t>
            </a:r>
            <a:b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Это база для любого REST-сервера.</a:t>
            </a:r>
            <a:endParaRPr sz="145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03" name="Google Shape;20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5775" y="1255850"/>
            <a:ext cx="2162175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75850" y="1205888"/>
            <a:ext cx="2587974" cy="2230275"/>
          </a:xfrm>
          <a:prstGeom prst="rect">
            <a:avLst/>
          </a:prstGeom>
          <a:solidFill>
            <a:schemeClr val="dk1"/>
          </a:solidFill>
          <a:ln>
            <a:noFill/>
          </a:ln>
        </p:spPr>
      </p:pic>
      <p:pic>
        <p:nvPicPr>
          <p:cNvPr id="205" name="Google Shape;20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9350" y="1205900"/>
            <a:ext cx="2819375" cy="22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6099311" y="4173075"/>
            <a:ext cx="2663700" cy="923400"/>
          </a:xfrm>
          <a:prstGeom prst="rect">
            <a:avLst/>
          </a:prstGeom>
          <a:gradFill>
            <a:gsLst>
              <a:gs pos="0">
                <a:srgbClr val="156566"/>
              </a:gs>
              <a:gs pos="100000">
                <a:srgbClr val="072D26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Создать DbContext, добавить модели и провести миграции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9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3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4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8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4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7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/>
          <p:nvPr/>
        </p:nvSpPr>
        <p:spPr>
          <a:xfrm>
            <a:off x="-775622" y="3323534"/>
            <a:ext cx="6819405" cy="5405307"/>
          </a:xfrm>
          <a:custGeom>
            <a:rect b="b" l="l" r="r" t="t"/>
            <a:pathLst>
              <a:path extrusionOk="0" h="5405982" w="7016536">
                <a:moveTo>
                  <a:pt x="3176644" y="0"/>
                </a:moveTo>
                <a:cubicBezTo>
                  <a:pt x="5297359" y="0"/>
                  <a:pt x="7016536" y="1719178"/>
                  <a:pt x="7016536" y="3839892"/>
                </a:cubicBezTo>
                <a:cubicBezTo>
                  <a:pt x="7016536" y="4370071"/>
                  <a:pt x="6909088" y="4875153"/>
                  <a:pt x="6714779" y="5334552"/>
                </a:cubicBezTo>
                <a:lnTo>
                  <a:pt x="6680369" y="5405982"/>
                </a:lnTo>
                <a:lnTo>
                  <a:pt x="0" y="5405982"/>
                </a:lnTo>
                <a:lnTo>
                  <a:pt x="0" y="1683003"/>
                </a:lnTo>
                <a:lnTo>
                  <a:pt x="213597" y="1397364"/>
                </a:lnTo>
                <a:cubicBezTo>
                  <a:pt x="917890" y="543959"/>
                  <a:pt x="1983743" y="0"/>
                  <a:pt x="3176644" y="0"/>
                </a:cubicBezTo>
                <a:close/>
              </a:path>
            </a:pathLst>
          </a:custGeom>
          <a:noFill/>
          <a:ln cap="flat" cmpd="sng" w="19050">
            <a:solidFill>
              <a:schemeClr val="dk1">
                <a:alpha val="400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5170810" y="1034904"/>
            <a:ext cx="1774432" cy="1774432"/>
          </a:xfrm>
          <a:prstGeom prst="ellipse">
            <a:avLst/>
          </a:prstGeom>
          <a:noFill/>
          <a:ln cap="flat" cmpd="sng" w="19050">
            <a:solidFill>
              <a:schemeClr val="dk1">
                <a:alpha val="20000"/>
              </a:scheme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10753921" y="-400632"/>
            <a:ext cx="1774432" cy="1774432"/>
          </a:xfrm>
          <a:prstGeom prst="ellipse">
            <a:avLst/>
          </a:prstGeom>
          <a:noFill/>
          <a:ln cap="flat" cmpd="sng" w="19050">
            <a:solidFill>
              <a:schemeClr val="dk1">
                <a:alpha val="400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10665964" y="461318"/>
            <a:ext cx="175913" cy="175913"/>
          </a:xfrm>
          <a:prstGeom prst="ellipse">
            <a:avLst/>
          </a:prstGeom>
          <a:gradFill>
            <a:gsLst>
              <a:gs pos="0">
                <a:srgbClr val="28B3B4"/>
              </a:gs>
              <a:gs pos="100000">
                <a:srgbClr val="124B45"/>
              </a:gs>
            </a:gsLst>
            <a:lin ang="27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-1143000" y="-835276"/>
            <a:ext cx="1891853" cy="1891853"/>
          </a:xfrm>
          <a:prstGeom prst="ellipse">
            <a:avLst/>
          </a:prstGeom>
          <a:noFill/>
          <a:ln cap="flat" cmpd="sng" w="19050">
            <a:solidFill>
              <a:schemeClr val="dk1">
                <a:alpha val="20000"/>
              </a:scheme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-385672" y="-982173"/>
            <a:ext cx="293794" cy="293794"/>
          </a:xfrm>
          <a:prstGeom prst="ellipse">
            <a:avLst/>
          </a:prstGeom>
          <a:gradFill>
            <a:gsLst>
              <a:gs pos="0">
                <a:srgbClr val="28B3B4"/>
              </a:gs>
              <a:gs pos="100000">
                <a:srgbClr val="124B45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17" name="Google Shape;217;p22"/>
          <p:cNvGrpSpPr/>
          <p:nvPr/>
        </p:nvGrpSpPr>
        <p:grpSpPr>
          <a:xfrm>
            <a:off x="6106630" y="5156721"/>
            <a:ext cx="6085369" cy="1154162"/>
            <a:chOff x="6106630" y="5156721"/>
            <a:chExt cx="6085369" cy="1154162"/>
          </a:xfrm>
        </p:grpSpPr>
        <p:sp>
          <p:nvSpPr>
            <p:cNvPr id="218" name="Google Shape;218;p22"/>
            <p:cNvSpPr/>
            <p:nvPr/>
          </p:nvSpPr>
          <p:spPr>
            <a:xfrm>
              <a:off x="6106630" y="5193800"/>
              <a:ext cx="1080000" cy="10800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31000">
                  <a:schemeClr val="accent1"/>
                </a:gs>
                <a:gs pos="81000">
                  <a:srgbClr val="00B0F0">
                    <a:alpha val="75686"/>
                  </a:srgbClr>
                </a:gs>
                <a:gs pos="100000">
                  <a:srgbClr val="00B0F0">
                    <a:alpha val="75686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19" name="Google Shape;219;p22"/>
            <p:cNvSpPr txBox="1"/>
            <p:nvPr/>
          </p:nvSpPr>
          <p:spPr>
            <a:xfrm>
              <a:off x="6232324" y="5441413"/>
              <a:ext cx="828612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32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/>
            </a:p>
          </p:txBody>
        </p:sp>
        <p:sp>
          <p:nvSpPr>
            <p:cNvPr id="220" name="Google Shape;220;p22"/>
            <p:cNvSpPr txBox="1"/>
            <p:nvPr/>
          </p:nvSpPr>
          <p:spPr>
            <a:xfrm>
              <a:off x="7486948" y="5156721"/>
              <a:ext cx="4705051" cy="11541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3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FluentValidation</a:t>
              </a:r>
              <a:r>
                <a:rPr lang="ru-RU" sz="23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— расширенная валидация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21" name="Google Shape;221;p22"/>
          <p:cNvGrpSpPr/>
          <p:nvPr/>
        </p:nvGrpSpPr>
        <p:grpSpPr>
          <a:xfrm>
            <a:off x="6106630" y="3582352"/>
            <a:ext cx="5996230" cy="1080000"/>
            <a:chOff x="6106630" y="3582352"/>
            <a:chExt cx="5996230" cy="1080000"/>
          </a:xfrm>
        </p:grpSpPr>
        <p:sp>
          <p:nvSpPr>
            <p:cNvPr id="222" name="Google Shape;222;p22"/>
            <p:cNvSpPr/>
            <p:nvPr/>
          </p:nvSpPr>
          <p:spPr>
            <a:xfrm>
              <a:off x="6106630" y="3582352"/>
              <a:ext cx="1080000" cy="1080000"/>
            </a:xfrm>
            <a:prstGeom prst="ellipse">
              <a:avLst/>
            </a:prstGeom>
            <a:gradFill>
              <a:gsLst>
                <a:gs pos="0">
                  <a:srgbClr val="00B0F0">
                    <a:alpha val="91764"/>
                  </a:srgbClr>
                </a:gs>
                <a:gs pos="6000">
                  <a:srgbClr val="00B0F0">
                    <a:alpha val="91764"/>
                  </a:srgbClr>
                </a:gs>
                <a:gs pos="64000">
                  <a:srgbClr val="002078">
                    <a:alpha val="80784"/>
                  </a:srgbClr>
                </a:gs>
                <a:gs pos="100000">
                  <a:srgbClr val="002078">
                    <a:alpha val="80784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23" name="Google Shape;223;p22"/>
            <p:cNvSpPr txBox="1"/>
            <p:nvPr/>
          </p:nvSpPr>
          <p:spPr>
            <a:xfrm>
              <a:off x="6232324" y="3829965"/>
              <a:ext cx="828612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32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endParaRPr/>
            </a:p>
          </p:txBody>
        </p:sp>
        <p:sp>
          <p:nvSpPr>
            <p:cNvPr id="224" name="Google Shape;224;p22"/>
            <p:cNvSpPr txBox="1"/>
            <p:nvPr/>
          </p:nvSpPr>
          <p:spPr>
            <a:xfrm>
              <a:off x="7486950" y="3722245"/>
              <a:ext cx="4615910" cy="8002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3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AutoMapper</a:t>
              </a:r>
              <a:r>
                <a:rPr lang="ru-RU" sz="23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— маппинг DTO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25" name="Google Shape;225;p22"/>
          <p:cNvGrpSpPr/>
          <p:nvPr/>
        </p:nvGrpSpPr>
        <p:grpSpPr>
          <a:xfrm>
            <a:off x="6106630" y="1970903"/>
            <a:ext cx="5996229" cy="1080000"/>
            <a:chOff x="6106630" y="1970903"/>
            <a:chExt cx="5996229" cy="1080000"/>
          </a:xfrm>
        </p:grpSpPr>
        <p:sp>
          <p:nvSpPr>
            <p:cNvPr id="226" name="Google Shape;226;p22"/>
            <p:cNvSpPr/>
            <p:nvPr/>
          </p:nvSpPr>
          <p:spPr>
            <a:xfrm>
              <a:off x="6106630" y="1970903"/>
              <a:ext cx="1080000" cy="1080000"/>
            </a:xfrm>
            <a:prstGeom prst="ellipse">
              <a:avLst/>
            </a:prstGeom>
            <a:gradFill>
              <a:gsLst>
                <a:gs pos="0">
                  <a:srgbClr val="28B3B4"/>
                </a:gs>
                <a:gs pos="100000">
                  <a:srgbClr val="124B45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27" name="Google Shape;227;p22"/>
            <p:cNvSpPr txBox="1"/>
            <p:nvPr/>
          </p:nvSpPr>
          <p:spPr>
            <a:xfrm>
              <a:off x="6232324" y="2218516"/>
              <a:ext cx="828612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32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1</a:t>
              </a:r>
              <a:endParaRPr/>
            </a:p>
          </p:txBody>
        </p:sp>
        <p:sp>
          <p:nvSpPr>
            <p:cNvPr id="228" name="Google Shape;228;p22"/>
            <p:cNvSpPr txBox="1"/>
            <p:nvPr/>
          </p:nvSpPr>
          <p:spPr>
            <a:xfrm>
              <a:off x="7486948" y="2141573"/>
              <a:ext cx="4615911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Entity Framework Core </a:t>
              </a:r>
              <a:r>
                <a:rPr lang="ru-RU" sz="2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— работа с БД</a:t>
              </a:r>
              <a:endParaRPr/>
            </a:p>
          </p:txBody>
        </p:sp>
      </p:grpSp>
      <p:pic>
        <p:nvPicPr>
          <p:cNvPr descr=" -Cropped"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13452" r="13452" t="0"/>
          <a:stretch/>
        </p:blipFill>
        <p:spPr>
          <a:xfrm>
            <a:off x="564309" y="1970903"/>
            <a:ext cx="5032385" cy="4302897"/>
          </a:xfrm>
          <a:prstGeom prst="roundRect">
            <a:avLst>
              <a:gd fmla="val 13806" name="adj"/>
            </a:avLst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0" y="309497"/>
            <a:ext cx="1219200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Полезные инструменты и библиотеки (.NET)</a:t>
            </a:r>
            <a:endParaRPr b="1" sz="40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9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6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97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99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3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95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/>
          <p:nvPr/>
        </p:nvSpPr>
        <p:spPr>
          <a:xfrm flipH="1">
            <a:off x="4634505" y="-835276"/>
            <a:ext cx="7996529" cy="10205790"/>
          </a:xfrm>
          <a:custGeom>
            <a:rect b="b" l="l" r="r" t="t"/>
            <a:pathLst>
              <a:path extrusionOk="0" h="6735336" w="5277329">
                <a:moveTo>
                  <a:pt x="1677329" y="0"/>
                </a:moveTo>
                <a:cubicBezTo>
                  <a:pt x="3665554" y="0"/>
                  <a:pt x="5277329" y="1611775"/>
                  <a:pt x="5277329" y="3600000"/>
                </a:cubicBezTo>
                <a:cubicBezTo>
                  <a:pt x="5277329" y="4842641"/>
                  <a:pt x="4647730" y="5938231"/>
                  <a:pt x="3690123" y="6585177"/>
                </a:cubicBezTo>
                <a:lnTo>
                  <a:pt x="3442953" y="6735336"/>
                </a:lnTo>
                <a:lnTo>
                  <a:pt x="0" y="6735336"/>
                </a:lnTo>
                <a:lnTo>
                  <a:pt x="0" y="414708"/>
                </a:lnTo>
                <a:lnTo>
                  <a:pt x="116580" y="354999"/>
                </a:lnTo>
                <a:cubicBezTo>
                  <a:pt x="588731" y="127494"/>
                  <a:pt x="1118141" y="0"/>
                  <a:pt x="1677329" y="0"/>
                </a:cubicBezTo>
                <a:close/>
              </a:path>
            </a:pathLst>
          </a:custGeom>
          <a:noFill/>
          <a:ln cap="flat" cmpd="sng" w="19050">
            <a:solidFill>
              <a:schemeClr val="dk1">
                <a:alpha val="400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23"/>
          <p:cNvSpPr/>
          <p:nvPr/>
        </p:nvSpPr>
        <p:spPr>
          <a:xfrm flipH="1">
            <a:off x="6139902" y="-2146363"/>
            <a:ext cx="6136027" cy="3895967"/>
          </a:xfrm>
          <a:custGeom>
            <a:rect b="b" l="l" r="r" t="t"/>
            <a:pathLst>
              <a:path extrusionOk="0" h="2571153" w="4049486">
                <a:moveTo>
                  <a:pt x="76710" y="0"/>
                </a:moveTo>
                <a:lnTo>
                  <a:pt x="3972776" y="0"/>
                </a:lnTo>
                <a:lnTo>
                  <a:pt x="4008351" y="138354"/>
                </a:lnTo>
                <a:cubicBezTo>
                  <a:pt x="4035322" y="270160"/>
                  <a:pt x="4049486" y="406631"/>
                  <a:pt x="4049486" y="546410"/>
                </a:cubicBezTo>
                <a:cubicBezTo>
                  <a:pt x="4049486" y="1664645"/>
                  <a:pt x="3142978" y="2571153"/>
                  <a:pt x="2024743" y="2571153"/>
                </a:cubicBezTo>
                <a:cubicBezTo>
                  <a:pt x="906508" y="2571153"/>
                  <a:pt x="0" y="1664645"/>
                  <a:pt x="0" y="546410"/>
                </a:cubicBezTo>
                <a:cubicBezTo>
                  <a:pt x="0" y="406631"/>
                  <a:pt x="14164" y="270160"/>
                  <a:pt x="41136" y="138354"/>
                </a:cubicBezTo>
                <a:close/>
              </a:path>
            </a:pathLst>
          </a:custGeom>
          <a:noFill/>
          <a:ln cap="flat" cmpd="sng" w="19050">
            <a:solidFill>
              <a:schemeClr val="dk1">
                <a:alpha val="20000"/>
              </a:scheme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6410710" y="78940"/>
            <a:ext cx="297484" cy="297484"/>
          </a:xfrm>
          <a:prstGeom prst="ellipse">
            <a:avLst/>
          </a:prstGeom>
          <a:gradFill>
            <a:gsLst>
              <a:gs pos="0">
                <a:srgbClr val="28B3B4"/>
              </a:gs>
              <a:gs pos="100000">
                <a:srgbClr val="124B45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-1143000" y="-835276"/>
            <a:ext cx="1891853" cy="1891853"/>
          </a:xfrm>
          <a:prstGeom prst="ellipse">
            <a:avLst/>
          </a:prstGeom>
          <a:noFill/>
          <a:ln cap="flat" cmpd="sng" w="19050">
            <a:solidFill>
              <a:schemeClr val="dk1">
                <a:alpha val="20000"/>
              </a:scheme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 -Cropped" id="239" name="Google Shape;239;p23"/>
          <p:cNvPicPr preferRelativeResize="0"/>
          <p:nvPr/>
        </p:nvPicPr>
        <p:blipFill rotWithShape="1">
          <a:blip r:embed="rId3">
            <a:alphaModFix/>
          </a:blip>
          <a:srcRect b="0" l="14245" r="14244" t="0"/>
          <a:stretch/>
        </p:blipFill>
        <p:spPr>
          <a:xfrm>
            <a:off x="5405120" y="1056577"/>
            <a:ext cx="3997632" cy="5252145"/>
          </a:xfrm>
          <a:prstGeom prst="roundRect">
            <a:avLst>
              <a:gd fmla="val 11037" name="adj"/>
            </a:avLst>
          </a:prstGeom>
          <a:noFill/>
          <a:ln>
            <a:noFill/>
          </a:ln>
        </p:spPr>
      </p:pic>
      <p:pic>
        <p:nvPicPr>
          <p:cNvPr descr=" -Cropped" id="240" name="Google Shape;240;p23"/>
          <p:cNvPicPr preferRelativeResize="0"/>
          <p:nvPr/>
        </p:nvPicPr>
        <p:blipFill rotWithShape="1">
          <a:blip r:embed="rId4">
            <a:alphaModFix/>
          </a:blip>
          <a:srcRect b="0" l="16474" r="16474" t="0"/>
          <a:stretch/>
        </p:blipFill>
        <p:spPr>
          <a:xfrm>
            <a:off x="9535537" y="1056577"/>
            <a:ext cx="2598877" cy="2583937"/>
          </a:xfrm>
          <a:prstGeom prst="roundRect">
            <a:avLst>
              <a:gd fmla="val 12951" name="adj"/>
            </a:avLst>
          </a:prstGeom>
          <a:noFill/>
          <a:ln>
            <a:noFill/>
          </a:ln>
        </p:spPr>
      </p:pic>
      <p:pic>
        <p:nvPicPr>
          <p:cNvPr descr=" -Cropped" id="241" name="Google Shape;241;p23"/>
          <p:cNvPicPr preferRelativeResize="0"/>
          <p:nvPr/>
        </p:nvPicPr>
        <p:blipFill rotWithShape="1">
          <a:blip r:embed="rId5">
            <a:alphaModFix/>
          </a:blip>
          <a:srcRect b="0" l="16474" r="16474" t="0"/>
          <a:stretch/>
        </p:blipFill>
        <p:spPr>
          <a:xfrm>
            <a:off x="9535538" y="3723845"/>
            <a:ext cx="2598876" cy="2583937"/>
          </a:xfrm>
          <a:prstGeom prst="roundRect">
            <a:avLst>
              <a:gd fmla="val 9985" name="adj"/>
            </a:avLst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0" y="106826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Обработка ошибок и валидация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57586" y="1315277"/>
            <a:ext cx="6898640" cy="3862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875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C"/>
              </a:buClr>
              <a:buSzPts val="2500"/>
              <a:buFont typeface="Arial"/>
              <a:buChar char="•"/>
            </a:pPr>
            <a:r>
              <a:rPr b="0" i="0" lang="ru-RU" sz="2500">
                <a:solidFill>
                  <a:srgbClr val="FAFAFC"/>
                </a:solidFill>
                <a:latin typeface="Montserrat"/>
                <a:ea typeface="Montserrat"/>
                <a:cs typeface="Montserrat"/>
                <a:sym typeface="Montserrat"/>
              </a:rPr>
              <a:t>Встроенная валидация через атрибуты (</a:t>
            </a:r>
            <a:r>
              <a:rPr b="0" i="0" lang="ru-RU" sz="2500">
                <a:solidFill>
                  <a:srgbClr val="8583F6"/>
                </a:solidFill>
                <a:latin typeface="Montserrat"/>
                <a:ea typeface="Montserrat"/>
                <a:cs typeface="Montserrat"/>
                <a:sym typeface="Montserrat"/>
              </a:rPr>
              <a:t>[Required]</a:t>
            </a:r>
            <a:r>
              <a:rPr b="0" i="0" lang="ru-RU" sz="2500">
                <a:solidFill>
                  <a:srgbClr val="FAFAFC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0" i="0" lang="ru-RU" sz="2500">
                <a:solidFill>
                  <a:srgbClr val="8583F6"/>
                </a:solidFill>
                <a:latin typeface="Montserrat"/>
                <a:ea typeface="Montserrat"/>
                <a:cs typeface="Montserrat"/>
                <a:sym typeface="Montserrat"/>
              </a:rPr>
              <a:t>[StringLength]</a:t>
            </a:r>
            <a:r>
              <a:rPr b="0" i="0" lang="ru-RU" sz="2500">
                <a:solidFill>
                  <a:srgbClr val="FAFAFC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/>
          </a:p>
          <a:p>
            <a:pPr indent="-158750" lvl="0" marL="0" marR="0" rtl="0" algn="l">
              <a:spcBef>
                <a:spcPts val="1800"/>
              </a:spcBef>
              <a:spcAft>
                <a:spcPts val="0"/>
              </a:spcAft>
              <a:buClr>
                <a:srgbClr val="FAFAFC"/>
              </a:buClr>
              <a:buSzPts val="2500"/>
              <a:buFont typeface="Arial"/>
              <a:buChar char="•"/>
            </a:pPr>
            <a:r>
              <a:rPr b="0" i="0" lang="ru-RU" sz="2500">
                <a:solidFill>
                  <a:srgbClr val="FAFAFC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Автоматический возврат 400 при ошибках валидации</a:t>
            </a:r>
            <a:endParaRPr/>
          </a:p>
          <a:p>
            <a:pPr indent="-158750" lvl="0" marL="0" marR="0" rtl="0" algn="l">
              <a:spcBef>
                <a:spcPts val="1800"/>
              </a:spcBef>
              <a:spcAft>
                <a:spcPts val="0"/>
              </a:spcAft>
              <a:buClr>
                <a:srgbClr val="FAFAFC"/>
              </a:buClr>
              <a:buSzPts val="2500"/>
              <a:buFont typeface="Arial"/>
              <a:buChar char="•"/>
            </a:pPr>
            <a:r>
              <a:rPr b="0" i="0" lang="ru-RU" sz="2500">
                <a:solidFill>
                  <a:srgbClr val="FAFAFC"/>
                </a:solidFill>
                <a:latin typeface="Montserrat"/>
                <a:ea typeface="Montserrat"/>
                <a:cs typeface="Montserrat"/>
                <a:sym typeface="Montserrat"/>
              </a:rPr>
              <a:t>Глобальные обработчики исключений (</a:t>
            </a:r>
            <a:r>
              <a:rPr b="0" i="0" lang="ru-RU" sz="2500">
                <a:solidFill>
                  <a:srgbClr val="8583F6"/>
                </a:solidFill>
                <a:latin typeface="Montserrat"/>
                <a:ea typeface="Montserrat"/>
                <a:cs typeface="Montserrat"/>
                <a:sym typeface="Montserrat"/>
              </a:rPr>
              <a:t>UseExceptionHandler</a:t>
            </a:r>
            <a:r>
              <a:rPr b="0" i="0" lang="ru-RU" sz="2500">
                <a:solidFill>
                  <a:srgbClr val="FAFAFC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/>
          </a:p>
          <a:p>
            <a:pPr indent="-158750" lvl="0" marL="0" marR="0" rtl="0" algn="l">
              <a:spcBef>
                <a:spcPts val="1800"/>
              </a:spcBef>
              <a:spcAft>
                <a:spcPts val="0"/>
              </a:spcAft>
              <a:buClr>
                <a:srgbClr val="FAFAFC"/>
              </a:buClr>
              <a:buSzPts val="2500"/>
              <a:buFont typeface="Arial"/>
              <a:buChar char="•"/>
            </a:pPr>
            <a:r>
              <a:rPr b="0" i="0" lang="ru-RU" sz="2500">
                <a:solidFill>
                  <a:srgbClr val="FAFAFC"/>
                </a:solidFill>
                <a:latin typeface="Montserrat"/>
                <a:ea typeface="Montserrat"/>
                <a:cs typeface="Montserrat"/>
                <a:sym typeface="Montserrat"/>
              </a:rPr>
              <a:t>Стандартные HTTP-коды: 200, 201, 400, 404, 500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/>
          <p:nvPr/>
        </p:nvSpPr>
        <p:spPr>
          <a:xfrm>
            <a:off x="4792866" y="-183555"/>
            <a:ext cx="4049485" cy="4049485"/>
          </a:xfrm>
          <a:prstGeom prst="ellipse">
            <a:avLst/>
          </a:prstGeom>
          <a:noFill/>
          <a:ln cap="flat" cmpd="sng" w="19050">
            <a:solidFill>
              <a:schemeClr val="dk1">
                <a:alpha val="20000"/>
              </a:scheme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-325615" y="1841187"/>
            <a:ext cx="6819405" cy="5405307"/>
          </a:xfrm>
          <a:custGeom>
            <a:rect b="b" l="l" r="r" t="t"/>
            <a:pathLst>
              <a:path extrusionOk="0" h="5405982" w="7016536">
                <a:moveTo>
                  <a:pt x="3176644" y="0"/>
                </a:moveTo>
                <a:cubicBezTo>
                  <a:pt x="5297359" y="0"/>
                  <a:pt x="7016536" y="1719178"/>
                  <a:pt x="7016536" y="3839892"/>
                </a:cubicBezTo>
                <a:cubicBezTo>
                  <a:pt x="7016536" y="4370071"/>
                  <a:pt x="6909088" y="4875153"/>
                  <a:pt x="6714779" y="5334552"/>
                </a:cubicBezTo>
                <a:lnTo>
                  <a:pt x="6680369" y="5405982"/>
                </a:lnTo>
                <a:lnTo>
                  <a:pt x="0" y="5405982"/>
                </a:lnTo>
                <a:lnTo>
                  <a:pt x="0" y="1683003"/>
                </a:lnTo>
                <a:lnTo>
                  <a:pt x="213597" y="1397364"/>
                </a:lnTo>
                <a:cubicBezTo>
                  <a:pt x="917890" y="543959"/>
                  <a:pt x="1983743" y="0"/>
                  <a:pt x="3176644" y="0"/>
                </a:cubicBezTo>
                <a:close/>
              </a:path>
            </a:pathLst>
          </a:custGeom>
          <a:noFill/>
          <a:ln cap="flat" cmpd="sng" w="19050">
            <a:solidFill>
              <a:schemeClr val="dk1">
                <a:alpha val="400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-2350357" y="-971041"/>
            <a:ext cx="4049485" cy="4049485"/>
          </a:xfrm>
          <a:prstGeom prst="ellipse">
            <a:avLst/>
          </a:prstGeom>
          <a:noFill/>
          <a:ln cap="flat" cmpd="sng" w="19050">
            <a:solidFill>
              <a:schemeClr val="dk1">
                <a:alpha val="20000"/>
              </a:scheme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-145027" y="2927961"/>
            <a:ext cx="293794" cy="293794"/>
          </a:xfrm>
          <a:prstGeom prst="ellipse">
            <a:avLst/>
          </a:prstGeom>
          <a:gradFill>
            <a:gsLst>
              <a:gs pos="0">
                <a:srgbClr val="28B3B4"/>
              </a:gs>
              <a:gs pos="100000">
                <a:srgbClr val="124B45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4756415" y="2405591"/>
            <a:ext cx="293794" cy="293794"/>
          </a:xfrm>
          <a:prstGeom prst="ellipse">
            <a:avLst/>
          </a:prstGeom>
          <a:gradFill>
            <a:gsLst>
              <a:gs pos="0">
                <a:srgbClr val="28B3B4"/>
              </a:gs>
              <a:gs pos="100000">
                <a:srgbClr val="124B45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9911347" y="-2473541"/>
            <a:ext cx="4049485" cy="4049485"/>
          </a:xfrm>
          <a:prstGeom prst="ellipse">
            <a:avLst/>
          </a:prstGeom>
          <a:noFill/>
          <a:ln cap="flat" cmpd="sng" w="19050">
            <a:solidFill>
              <a:schemeClr val="dk1">
                <a:alpha val="20000"/>
              </a:schemeClr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 -Cropped"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8940" r="8940" t="0"/>
          <a:stretch/>
        </p:blipFill>
        <p:spPr>
          <a:xfrm>
            <a:off x="6770731" y="2505796"/>
            <a:ext cx="5421239" cy="4352204"/>
          </a:xfrm>
          <a:custGeom>
            <a:rect b="b" l="l" r="r" t="t"/>
            <a:pathLst>
              <a:path extrusionOk="0" h="4352204" w="5421239">
                <a:moveTo>
                  <a:pt x="3050645" y="0"/>
                </a:moveTo>
                <a:cubicBezTo>
                  <a:pt x="3998358" y="0"/>
                  <a:pt x="4845137" y="432154"/>
                  <a:pt x="5404670" y="1110152"/>
                </a:cubicBezTo>
                <a:lnTo>
                  <a:pt x="5421239" y="1132309"/>
                </a:lnTo>
                <a:lnTo>
                  <a:pt x="5421239" y="4352204"/>
                </a:lnTo>
                <a:lnTo>
                  <a:pt x="294706" y="4352204"/>
                </a:lnTo>
                <a:lnTo>
                  <a:pt x="239736" y="4238094"/>
                </a:lnTo>
                <a:cubicBezTo>
                  <a:pt x="85365" y="3873120"/>
                  <a:pt x="0" y="3471851"/>
                  <a:pt x="0" y="3050644"/>
                </a:cubicBezTo>
                <a:cubicBezTo>
                  <a:pt x="0" y="1365820"/>
                  <a:pt x="1365821" y="0"/>
                  <a:pt x="3050645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 -Cropped" id="255" name="Google Shape;255;p24"/>
          <p:cNvPicPr preferRelativeResize="0"/>
          <p:nvPr/>
        </p:nvPicPr>
        <p:blipFill rotWithShape="1">
          <a:blip r:embed="rId4">
            <a:alphaModFix/>
          </a:blip>
          <a:srcRect b="0" l="18750" r="18749" t="0"/>
          <a:stretch/>
        </p:blipFill>
        <p:spPr>
          <a:xfrm>
            <a:off x="10237476" y="549275"/>
            <a:ext cx="1374789" cy="1374796"/>
          </a:xfrm>
          <a:custGeom>
            <a:rect b="b" l="l" r="r" t="t"/>
            <a:pathLst>
              <a:path extrusionOk="0" h="1374796" w="1374789">
                <a:moveTo>
                  <a:pt x="687398" y="0"/>
                </a:moveTo>
                <a:cubicBezTo>
                  <a:pt x="1019582" y="0"/>
                  <a:pt x="1296733" y="235628"/>
                  <a:pt x="1360830" y="548864"/>
                </a:cubicBezTo>
                <a:lnTo>
                  <a:pt x="1374789" y="687329"/>
                </a:lnTo>
                <a:lnTo>
                  <a:pt x="1374789" y="687468"/>
                </a:lnTo>
                <a:lnTo>
                  <a:pt x="1360830" y="825933"/>
                </a:lnTo>
                <a:cubicBezTo>
                  <a:pt x="1296733" y="1139168"/>
                  <a:pt x="1019582" y="1374796"/>
                  <a:pt x="687398" y="1374796"/>
                </a:cubicBezTo>
                <a:cubicBezTo>
                  <a:pt x="307759" y="1374796"/>
                  <a:pt x="0" y="1067037"/>
                  <a:pt x="0" y="687398"/>
                </a:cubicBezTo>
                <a:cubicBezTo>
                  <a:pt x="0" y="307759"/>
                  <a:pt x="307759" y="0"/>
                  <a:pt x="687398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 -Cropped" id="256" name="Google Shape;256;p24"/>
          <p:cNvPicPr preferRelativeResize="0"/>
          <p:nvPr/>
        </p:nvPicPr>
        <p:blipFill rotWithShape="1">
          <a:blip r:embed="rId5">
            <a:alphaModFix/>
          </a:blip>
          <a:srcRect b="0" l="12500" r="12500" t="0"/>
          <a:stretch/>
        </p:blipFill>
        <p:spPr>
          <a:xfrm>
            <a:off x="5714890" y="738468"/>
            <a:ext cx="2205438" cy="2205438"/>
          </a:xfrm>
          <a:custGeom>
            <a:rect b="b" l="l" r="r" t="t"/>
            <a:pathLst>
              <a:path extrusionOk="0" h="2205438" w="2205438">
                <a:moveTo>
                  <a:pt x="1102719" y="0"/>
                </a:moveTo>
                <a:cubicBezTo>
                  <a:pt x="1711734" y="0"/>
                  <a:pt x="2205438" y="493704"/>
                  <a:pt x="2205438" y="1102719"/>
                </a:cubicBezTo>
                <a:cubicBezTo>
                  <a:pt x="2205438" y="1711734"/>
                  <a:pt x="1711734" y="2205438"/>
                  <a:pt x="1102719" y="2205438"/>
                </a:cubicBezTo>
                <a:cubicBezTo>
                  <a:pt x="493704" y="2205438"/>
                  <a:pt x="0" y="1711734"/>
                  <a:pt x="0" y="1102719"/>
                </a:cubicBezTo>
                <a:cubicBezTo>
                  <a:pt x="0" y="493704"/>
                  <a:pt x="493704" y="0"/>
                  <a:pt x="1102719" y="0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57" name="Google Shape;257;p24"/>
          <p:cNvGrpSpPr/>
          <p:nvPr/>
        </p:nvGrpSpPr>
        <p:grpSpPr>
          <a:xfrm>
            <a:off x="148377" y="-2320"/>
            <a:ext cx="8477647" cy="6461401"/>
            <a:chOff x="583369" y="3171568"/>
            <a:chExt cx="7447630" cy="6461401"/>
          </a:xfrm>
        </p:grpSpPr>
        <p:sp>
          <p:nvSpPr>
            <p:cNvPr id="258" name="Google Shape;258;p24"/>
            <p:cNvSpPr txBox="1"/>
            <p:nvPr/>
          </p:nvSpPr>
          <p:spPr>
            <a:xfrm>
              <a:off x="742359" y="4462323"/>
              <a:ext cx="5990861" cy="51706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RESTful API — стандарт </a:t>
              </a:r>
              <a:endPara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де-факто для веб- интерфейсов</a:t>
              </a:r>
              <a:endPara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.NET — отличный выбор для создания надёжных, масштабируемых API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Простота, производительность, экосистема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Вопросы и ответы</a:t>
              </a:r>
              <a:endParaRPr/>
            </a:p>
          </p:txBody>
        </p:sp>
        <p:sp>
          <p:nvSpPr>
            <p:cNvPr id="259" name="Google Shape;259;p24"/>
            <p:cNvSpPr txBox="1"/>
            <p:nvPr/>
          </p:nvSpPr>
          <p:spPr>
            <a:xfrm>
              <a:off x="583369" y="3171568"/>
              <a:ext cx="7447630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72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Заключение</a:t>
              </a:r>
              <a:endParaRPr/>
            </a:p>
          </p:txBody>
        </p:sp>
      </p:grp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Ravi Powerpoint Template">
  <a:themeElements>
    <a:clrScheme name="Пользовательские 4">
      <a:dk1>
        <a:srgbClr val="FEFFFE"/>
      </a:dk1>
      <a:lt1>
        <a:srgbClr val="071918"/>
      </a:lt1>
      <a:dk2>
        <a:srgbClr val="FEFFFE"/>
      </a:dk2>
      <a:lt2>
        <a:srgbClr val="071918"/>
      </a:lt2>
      <a:accent1>
        <a:srgbClr val="25B2B4"/>
      </a:accent1>
      <a:accent2>
        <a:srgbClr val="124D4B"/>
      </a:accent2>
      <a:accent3>
        <a:srgbClr val="90ECDB"/>
      </a:accent3>
      <a:accent4>
        <a:srgbClr val="7D496F"/>
      </a:accent4>
      <a:accent5>
        <a:srgbClr val="DAD589"/>
      </a:accent5>
      <a:accent6>
        <a:srgbClr val="074CC1"/>
      </a:accent6>
      <a:hlink>
        <a:srgbClr val="5352F5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theme (Slider)">
  <a:themeElements>
    <a:clrScheme name="Другая 9">
      <a:dk1>
        <a:srgbClr val="1FD1FF"/>
      </a:dk1>
      <a:lt1>
        <a:srgbClr val="000000"/>
      </a:lt1>
      <a:dk2>
        <a:srgbClr val="FFFFFF"/>
      </a:dk2>
      <a:lt2>
        <a:srgbClr val="000000"/>
      </a:lt2>
      <a:accent1>
        <a:srgbClr val="1FD1FF"/>
      </a:accent1>
      <a:accent2>
        <a:srgbClr val="0AFB60"/>
      </a:accent2>
      <a:accent3>
        <a:srgbClr val="18A7CC"/>
      </a:accent3>
      <a:accent4>
        <a:srgbClr val="08C84C"/>
      </a:accent4>
      <a:accent5>
        <a:srgbClr val="1385A3"/>
      </a:accent5>
      <a:accent6>
        <a:srgbClr val="06A03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