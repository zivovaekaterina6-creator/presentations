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62" r:id="rId6"/>
    <p:sldId id="258" r:id="rId7"/>
    <p:sldId id="263" r:id="rId8"/>
    <p:sldId id="265" r:id="rId9"/>
    <p:sldId id="261" r:id="rId10"/>
    <p:sldId id="264" r:id="rId11"/>
    <p:sldId id="270" r:id="rId12"/>
    <p:sldId id="269" r:id="rId13"/>
    <p:sldId id="271" r:id="rId14"/>
    <p:sldId id="272" r:id="rId15"/>
    <p:sldId id="273" r:id="rId16"/>
    <p:sldId id="266" r:id="rId17"/>
    <p:sldId id="274" r:id="rId18"/>
    <p:sldId id="275" r:id="rId19"/>
    <p:sldId id="267" r:id="rId20"/>
    <p:sldId id="276" r:id="rId21"/>
    <p:sldId id="277" r:id="rId22"/>
    <p:sldId id="268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53988-4E24-E6C4-D128-E64D29071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D4EDFC-5EE4-E2E1-6E76-DB4679617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199C05-0925-DEEA-95A6-ACA065B0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A9495D-80AB-88C5-FE72-9147A81E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D119A7-B2CE-E6A4-5B6F-649B7D3F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15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C1D35-3C34-F193-D6D9-31096B7B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E20788-894D-C9B3-527E-0E662F9B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04CE8E-342C-ED91-C09B-F8D72E273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B71D79-78C3-BF68-1084-9264CAE33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2B372-8E96-E488-BA7B-356F5F43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09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33B11-DDDB-F7B2-7DFE-B7890BE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CCEAC1-A153-971F-CB35-14071D35C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8EB40-C35B-0531-CECF-3CB53FB1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5B3D19-404B-9630-C065-7DC569B37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BA9AA6-C46A-DCF1-1FA4-CA58FF67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70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E3E78-4C2E-F865-0794-1FAA2387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2AF3C6-108D-93FC-EDF1-147005D4D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0AED9D-329A-407A-6A14-1110719EE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884235-9B4B-413B-FD05-3918DF5E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047A3B-5A24-7CDA-2EF7-01CF9D4A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48F86F-0289-68C4-81CA-BA07B749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42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82966-5BDE-F63B-4BFD-2D417AAA2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477B1-E144-E01C-0804-0D112262D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6BB4E6-08D9-D1F2-1980-AB0B25CF8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73B53E-91A5-F5FA-A1C1-CDFDDA3B4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D5710A-DFB9-1E49-A809-25A3BDA9D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206997-BD28-0E34-A251-DB211130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3D4B1C-672C-4FF3-BE00-61EA73A4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3FC973-7A9B-95F8-EA6F-13E24A72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03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4E122-A7C6-8637-679A-2A02B596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3A877E1-8D34-75F2-1788-1632F963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899A78-0B8B-88FA-225A-3E07591F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FCB2E8-95D6-48F5-E121-D76D512B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85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382F253-98F2-BE14-EC6D-5A9D1F33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07F0901-EE97-2ABC-9EAF-DC6DABAA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6BD8E0-4C04-50DA-1578-B0404FF6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31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6492B-7847-2F26-9ED2-43FCDDA0E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D3886C-F89B-FC0B-62FC-A05BA3CBF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E60567-8936-F217-7F48-9EAA1FE5F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1B1FA2-8BCA-8823-6136-7C47AA1D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94562D-53C7-2676-2FDE-BBBCB124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344CC8-D8F1-34B7-F503-9FE88151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71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F584C-7C5F-3BB8-236D-3647251B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AED018-5DAD-28E2-4DFC-7C94FA128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4C0C78-9AF3-609F-941E-B2465EAB7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2A8A50-F3AA-D2C7-A6B3-51CA7FDA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9820CA-0FA5-A9DE-FB59-32167C99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2997CA-F457-CA55-929E-4C52B63B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78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BEE87-6BA5-96F6-18F0-57EDC02A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31DFCF-2002-F3B7-9445-EB9FEC90C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209952-D0BF-0FE3-2339-B7006E70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242407-E00A-33C6-0F03-AE0F2A69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9647D-F04D-89BE-655B-663D630BE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70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C9A5A7-F65D-9C3D-6D97-C6A4ABE0F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E36E53-77D9-4437-66A6-AB2AEDB1E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D7DDD7-B0FE-3EC7-68CA-12239045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0F666-DF24-E7E4-9395-B83D6F14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4C27D0-E8F1-C112-A1ED-B04E1C195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10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C5929-8C2B-073F-148D-713B8FE4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6ED13B-78BD-FF8F-ECA1-8CDD2FF3C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C88BF4-C2F8-85C7-CB6F-6736E250B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77D2C-CD16-40D6-8E81-8AC58AEDF83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9BC4C9-4704-7B57-8110-700447280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EE16EC-A8FC-C6D6-7B20-110842B71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7635-7B6C-4F4C-9CD9-3595437D15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39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ordanchapuy.com/posts/2020/11/clean-architecture-et-si-on-passait-a-cote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lck.ru/3PiJym" TargetMode="External"/><Relationship Id="rId7" Type="http://schemas.openxmlformats.org/officeDocument/2006/relationships/hyperlink" Target="https://learn.microsoft.com/ru-ru/dotnet/architecture/modern-web-apps-azure/common-web-application-architectures" TargetMode="External"/><Relationship Id="rId2" Type="http://schemas.openxmlformats.org/officeDocument/2006/relationships/hyperlink" Target="https://zahere.com/microkernel-architecture-how-it-works-and-what-it-offer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companies/otus/articles/747668/" TargetMode="External"/><Relationship Id="rId5" Type="http://schemas.openxmlformats.org/officeDocument/2006/relationships/hyperlink" Target="https://www.ezzylearning.net/tutorial/building-asp-net-core-apps-with-clean-architecture" TargetMode="External"/><Relationship Id="rId4" Type="http://schemas.openxmlformats.org/officeDocument/2006/relationships/hyperlink" Target="https://www.ezzylearning.net/tutorial/a-guide-for-building-software-with-clean-architecture#Domain_Layer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146429/" TargetMode="External"/><Relationship Id="rId3" Type="http://schemas.openxmlformats.org/officeDocument/2006/relationships/hyperlink" Target="https://www.youtube.com/watch?v=MjnZKYZRjjs" TargetMode="External"/><Relationship Id="rId7" Type="http://schemas.openxmlformats.org/officeDocument/2006/relationships/hyperlink" Target="https://www.youtube.com/watch?v=T2zovvglVZw" TargetMode="External"/><Relationship Id="rId2" Type="http://schemas.openxmlformats.org/officeDocument/2006/relationships/hyperlink" Target="https://www.youtube.com/watch?v=k_GkYMd8Ouc&amp;t=3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articles/212065/" TargetMode="External"/><Relationship Id="rId11" Type="http://schemas.openxmlformats.org/officeDocument/2006/relationships/hyperlink" Target="https://habr.com/ru/companies/timeweb/articles/771338/" TargetMode="External"/><Relationship Id="rId5" Type="http://schemas.openxmlformats.org/officeDocument/2006/relationships/hyperlink" Target="https://www.youtube.com/watch?v=mjR5zFLSlF0" TargetMode="External"/><Relationship Id="rId10" Type="http://schemas.openxmlformats.org/officeDocument/2006/relationships/hyperlink" Target="https://habr.com/ru/articles/151219/" TargetMode="External"/><Relationship Id="rId4" Type="http://schemas.openxmlformats.org/officeDocument/2006/relationships/hyperlink" Target="https://www.youtube.com/watch?v=UuS1sxphaFU&amp;t=1296s" TargetMode="External"/><Relationship Id="rId9" Type="http://schemas.openxmlformats.org/officeDocument/2006/relationships/hyperlink" Target="https://habr.com/ru/articles/80983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ABAAE-0D44-F29B-5CE3-093E4FF71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ru-RU" dirty="0"/>
              <a:t>Архитектурные паттерны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44FC5C-C90A-CF9A-52B3-2ADE90C98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9765" y="5202238"/>
            <a:ext cx="2816469" cy="1655762"/>
          </a:xfrm>
        </p:spPr>
        <p:txBody>
          <a:bodyPr/>
          <a:lstStyle/>
          <a:p>
            <a:r>
              <a:rPr lang="ru-RU" dirty="0"/>
              <a:t>11-409</a:t>
            </a:r>
          </a:p>
          <a:p>
            <a:r>
              <a:rPr lang="ru-RU" dirty="0"/>
              <a:t>Мустафин Наиль</a:t>
            </a:r>
          </a:p>
          <a:p>
            <a:r>
              <a:rPr lang="ru-RU" dirty="0"/>
              <a:t>Резвяков Димитрий</a:t>
            </a:r>
          </a:p>
        </p:txBody>
      </p:sp>
    </p:spTree>
    <p:extLst>
      <p:ext uri="{BB962C8B-B14F-4D97-AF65-F5344CB8AC3E}">
        <p14:creationId xmlns:p14="http://schemas.microsoft.com/office/powerpoint/2010/main" val="292403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41E4D-1783-2BE2-EE2D-52B5ECC8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чём будем говорить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C5F2F4-9E39-236A-AE29-C69B89268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Архитектуры: Трёхслойная, </a:t>
            </a:r>
            <a:r>
              <a:rPr lang="en-US" dirty="0"/>
              <a:t>Onion, Hexagonal, Clean</a:t>
            </a:r>
          </a:p>
          <a:p>
            <a:r>
              <a:rPr lang="ru-RU" dirty="0"/>
              <a:t>Разные </a:t>
            </a:r>
            <a:r>
              <a:rPr lang="en-US" dirty="0"/>
              <a:t>MV-</a:t>
            </a:r>
            <a:r>
              <a:rPr lang="ru-RU" dirty="0"/>
              <a:t>паттерны</a:t>
            </a:r>
          </a:p>
          <a:p>
            <a:r>
              <a:rPr lang="ru-RU" dirty="0"/>
              <a:t>Более мелкие и частные архитектурные паттерны: </a:t>
            </a:r>
            <a:r>
              <a:rPr lang="en-US" dirty="0"/>
              <a:t>event sourcing, </a:t>
            </a:r>
            <a:r>
              <a:rPr lang="en-US" dirty="0" err="1"/>
              <a:t>mecro-kernal</a:t>
            </a:r>
            <a:r>
              <a:rPr lang="en-US" dirty="0"/>
              <a:t>, CQRS</a:t>
            </a:r>
          </a:p>
          <a:p>
            <a:r>
              <a:rPr lang="en-US" dirty="0"/>
              <a:t>DDD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98DF8C-581D-5890-0D81-FD8FA5FD4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54594" y="4038600"/>
            <a:ext cx="3491147" cy="2564093"/>
          </a:xfrm>
          <a:prstGeom prst="rect">
            <a:avLst/>
          </a:prstGeom>
        </p:spPr>
      </p:pic>
      <p:pic>
        <p:nvPicPr>
          <p:cNvPr id="1044" name="Picture 20" descr="Архитектурный паттерн MVC — Веб-платформа — Дока">
            <a:extLst>
              <a:ext uri="{FF2B5EF4-FFF2-40B4-BE49-F238E27FC236}">
                <a16:creationId xmlns:a16="http://schemas.microsoft.com/office/drawing/2014/main" id="{0BBAAD98-80E5-2FCE-3A6E-77BDBEA43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096" y="219823"/>
            <a:ext cx="285750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CQRS Design Pattern in Microservices Architectures | by Mehmet Ozkaya |  Design Microservices Architecture with Patterns &amp; Principles | Medium">
            <a:extLst>
              <a:ext uri="{FF2B5EF4-FFF2-40B4-BE49-F238E27FC236}">
                <a16:creationId xmlns:a16="http://schemas.microsoft.com/office/drawing/2014/main" id="{CD8E4EA4-0B58-B119-44AA-0347FFA2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81" y="4261338"/>
            <a:ext cx="3867112" cy="211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Hexagonal Architecture: принципы и преимущества">
            <a:extLst>
              <a:ext uri="{FF2B5EF4-FFF2-40B4-BE49-F238E27FC236}">
                <a16:creationId xmlns:a16="http://schemas.microsoft.com/office/drawing/2014/main" id="{5D69336A-8650-1DFA-F513-6078A12B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541" y="4261338"/>
            <a:ext cx="3946023" cy="173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57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86D86-0E8F-F9B6-7F19-6D368663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01"/>
            <a:ext cx="10515600" cy="1325563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BDF89F-0086-1BC0-6127-078C6FC5C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084"/>
            <a:ext cx="10515600" cy="4779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Что такое архитектурные паттерны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5A3DD-F2CB-4709-F9EB-A53884DBEF87}"/>
              </a:ext>
            </a:extLst>
          </p:cNvPr>
          <p:cNvSpPr txBox="1"/>
          <p:nvPr/>
        </p:nvSpPr>
        <p:spPr>
          <a:xfrm>
            <a:off x="838200" y="1713022"/>
            <a:ext cx="10305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Повторяемые архитектурные шаблоны, для решения конкретной задачи</a:t>
            </a:r>
          </a:p>
          <a:p>
            <a:r>
              <a:rPr lang="ru-RU" dirty="0"/>
              <a:t>Обычно шаблон не является законченным образцом, который может быть прямо преобразован в код это лишь пример решения задачи, который можно использовать в различных ситуациях.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161304-9D74-7E0A-DB14-050BC3716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30957"/>
            <a:ext cx="3194558" cy="3395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30B978-DC4C-6B6D-235D-9569EF70786C}"/>
              </a:ext>
            </a:extLst>
          </p:cNvPr>
          <p:cNvSpPr txBox="1"/>
          <p:nvPr/>
        </p:nvSpPr>
        <p:spPr>
          <a:xfrm>
            <a:off x="477352" y="2944800"/>
            <a:ext cx="49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Без используя архитектурных паттернов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0D05C-FA83-0C8B-2350-9A6496A6DB0A}"/>
              </a:ext>
            </a:extLst>
          </p:cNvPr>
          <p:cNvSpPr txBox="1"/>
          <p:nvPr/>
        </p:nvSpPr>
        <p:spPr>
          <a:xfrm>
            <a:off x="6484938" y="3394221"/>
            <a:ext cx="466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использованием архитектурных паттернов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5178F7E-DEE4-512A-9742-60149F856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160" y="4113555"/>
            <a:ext cx="3619171" cy="14061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6F13C14-EB82-65D5-54F2-B6F23D302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554" y="5611912"/>
            <a:ext cx="4733363" cy="268941"/>
          </a:xfrm>
          <a:prstGeom prst="rect">
            <a:avLst/>
          </a:prstGeom>
        </p:spPr>
      </p:pic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AB88D6C3-3688-155C-A313-00BC501DA5F3}"/>
              </a:ext>
            </a:extLst>
          </p:cNvPr>
          <p:cNvSpPr/>
          <p:nvPr/>
        </p:nvSpPr>
        <p:spPr>
          <a:xfrm>
            <a:off x="4870938" y="4521423"/>
            <a:ext cx="1312985" cy="6992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49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CDE19-3034-09E5-A316-B2A5DCDE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186"/>
            <a:ext cx="10515600" cy="1325563"/>
          </a:xfrm>
        </p:spPr>
        <p:txBody>
          <a:bodyPr/>
          <a:lstStyle/>
          <a:p>
            <a:r>
              <a:rPr lang="ru-RU" dirty="0"/>
              <a:t>Некоторые термины и обозначения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79512B-6EB1-BB00-F661-D0AA6A74C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555"/>
            <a:ext cx="10515600" cy="5164259"/>
          </a:xfrm>
        </p:spPr>
        <p:txBody>
          <a:bodyPr/>
          <a:lstStyle/>
          <a:p>
            <a:r>
              <a:rPr lang="ru-RU" b="1" dirty="0"/>
              <a:t>DDD (Domain Driven Design | Domain Driven Development)</a:t>
            </a:r>
            <a:r>
              <a:rPr lang="ru-RU" dirty="0"/>
              <a:t> – это </a:t>
            </a:r>
            <a:r>
              <a:rPr lang="ru-RU" u="sng" dirty="0"/>
              <a:t>архитектурный подход</a:t>
            </a:r>
            <a:r>
              <a:rPr lang="ru-RU" dirty="0"/>
              <a:t>, использующий для вынесения бизнес логики в бизнес модельки</a:t>
            </a:r>
          </a:p>
          <a:p>
            <a:r>
              <a:rPr lang="en-US" dirty="0"/>
              <a:t>Presentation Layer (</a:t>
            </a:r>
            <a:r>
              <a:rPr lang="ru-RU" dirty="0"/>
              <a:t>слой представления</a:t>
            </a:r>
            <a:r>
              <a:rPr lang="en-US" dirty="0"/>
              <a:t>)</a:t>
            </a:r>
            <a:r>
              <a:rPr lang="ru-RU" dirty="0"/>
              <a:t> – любой способ представление данных</a:t>
            </a:r>
          </a:p>
          <a:p>
            <a:r>
              <a:rPr lang="en-US" dirty="0"/>
              <a:t>Application Layer (</a:t>
            </a:r>
            <a:r>
              <a:rPr lang="ru-RU" dirty="0"/>
              <a:t>слой приложения</a:t>
            </a:r>
            <a:r>
              <a:rPr lang="en-US" dirty="0"/>
              <a:t>)</a:t>
            </a:r>
            <a:r>
              <a:rPr lang="ru-RU" dirty="0"/>
              <a:t> – промежуточный слой для передачи между слоями бизнес логики и представления</a:t>
            </a:r>
          </a:p>
          <a:p>
            <a:r>
              <a:rPr lang="en-US" dirty="0"/>
              <a:t>Domain Layer (</a:t>
            </a:r>
            <a:r>
              <a:rPr lang="ru-RU" dirty="0"/>
              <a:t>слой бизнес логики) - слой бизнес логики приложения</a:t>
            </a:r>
          </a:p>
          <a:p>
            <a:r>
              <a:rPr lang="en-US" dirty="0"/>
              <a:t>Infrastructure – </a:t>
            </a:r>
            <a:r>
              <a:rPr lang="ru-RU" dirty="0"/>
              <a:t>слой работающий с сторонними библиотеками, фреймворками и т.д.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8686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Типичные слои приложени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9304"/>
            <a:ext cx="7525385" cy="423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752813" y="1289304"/>
            <a:ext cx="35951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Трехслойная архитектура </a:t>
            </a:r>
            <a:r>
              <a:rPr lang="ru-RU" sz="2400" dirty="0"/>
              <a:t>– самое легкое представление слоистой архитектуры. Все зависимости идут «Сверху в низ»(</a:t>
            </a:r>
            <a:r>
              <a:rPr lang="en-US" sz="2400" dirty="0"/>
              <a:t>UI -&gt; BLL -&gt; DLL</a:t>
            </a:r>
            <a:r>
              <a:rPr lang="ru-RU" sz="2400" dirty="0"/>
              <a:t>).</a:t>
            </a:r>
            <a:r>
              <a:rPr lang="en-US" sz="2400" dirty="0"/>
              <a:t> </a:t>
            </a:r>
            <a:r>
              <a:rPr lang="ru-RU" sz="2400" dirty="0"/>
              <a:t>Тестирование такого проекта затруднительно.</a:t>
            </a:r>
          </a:p>
        </p:txBody>
      </p:sp>
    </p:spTree>
    <p:extLst>
      <p:ext uri="{BB962C8B-B14F-4D97-AF65-F5344CB8AC3E}">
        <p14:creationId xmlns:p14="http://schemas.microsoft.com/office/powerpoint/2010/main" val="183156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e Onion Architecture : part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5562"/>
            <a:ext cx="5792993" cy="409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707993" y="1415562"/>
            <a:ext cx="40453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Луковая архитектура – одно из возможных представлений слоистой архитектуры. Похожа на чистую архитектуру, но есть нюансы…</a:t>
            </a:r>
          </a:p>
        </p:txBody>
      </p:sp>
    </p:spTree>
    <p:extLst>
      <p:ext uri="{BB962C8B-B14F-4D97-AF65-F5344CB8AC3E}">
        <p14:creationId xmlns:p14="http://schemas.microsoft.com/office/powerpoint/2010/main" val="131423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BAD19-1526-F307-0EBE-571E5685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53"/>
            <a:ext cx="10515600" cy="1325563"/>
          </a:xfrm>
        </p:spPr>
        <p:txBody>
          <a:bodyPr/>
          <a:lstStyle/>
          <a:p>
            <a:r>
              <a:rPr lang="ru-RU" dirty="0"/>
              <a:t>Гексагональная архитектура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0769D24-3659-E9D0-9895-D830F52DF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04" y="959742"/>
            <a:ext cx="4939672" cy="307698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2C72E6-50D0-8D3E-55D5-2AE152EFA2F3}"/>
              </a:ext>
            </a:extLst>
          </p:cNvPr>
          <p:cNvSpPr txBox="1"/>
          <p:nvPr/>
        </p:nvSpPr>
        <p:spPr>
          <a:xfrm>
            <a:off x="7983564" y="1318903"/>
            <a:ext cx="1844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u="sng" dirty="0"/>
              <a:t>Главная суть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348BD-CE9D-E8CA-8307-C2BB2EAE9CDF}"/>
              </a:ext>
            </a:extLst>
          </p:cNvPr>
          <p:cNvSpPr txBox="1"/>
          <p:nvPr/>
        </p:nvSpPr>
        <p:spPr>
          <a:xfrm>
            <a:off x="5884984" y="5448479"/>
            <a:ext cx="6164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Порты являются интерфейсами которые описываются в </a:t>
            </a:r>
            <a:r>
              <a:rPr lang="en-US" dirty="0"/>
              <a:t>Domain. </a:t>
            </a:r>
            <a:r>
              <a:rPr lang="ru-RU" dirty="0"/>
              <a:t>А адаптеры являются уже реализацией порта.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973947-25BA-83FD-118D-27B404D98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9" y="4203612"/>
            <a:ext cx="5662246" cy="2507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3EE7CA-3625-0CB6-5499-2A4AACB2EF6C}"/>
              </a:ext>
            </a:extLst>
          </p:cNvPr>
          <p:cNvSpPr txBox="1"/>
          <p:nvPr/>
        </p:nvSpPr>
        <p:spPr>
          <a:xfrm>
            <a:off x="5884984" y="1957498"/>
            <a:ext cx="6164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Доменное ядро</a:t>
            </a:r>
            <a:r>
              <a:rPr lang="ru-RU" dirty="0"/>
              <a:t>. Центральный слой содержащий бизнес-логику и модель предметной области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89C989-6752-1789-4C39-E77ED8742FD6}"/>
              </a:ext>
            </a:extLst>
          </p:cNvPr>
          <p:cNvSpPr txBox="1"/>
          <p:nvPr/>
        </p:nvSpPr>
        <p:spPr>
          <a:xfrm>
            <a:off x="5884984" y="2698237"/>
            <a:ext cx="61647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Порты</a:t>
            </a:r>
            <a:r>
              <a:rPr lang="ru-RU" dirty="0"/>
              <a:t>. Абстракции в ядре, определяющий контракт взаимодействия с внешним миром. Порты бывают входными(интерфейс для запросов к </a:t>
            </a:r>
            <a:r>
              <a:rPr lang="ru-RU" dirty="0" err="1"/>
              <a:t>домейну</a:t>
            </a:r>
            <a:r>
              <a:rPr lang="ru-RU" dirty="0"/>
              <a:t>) и выходными(интерфейс для взаимодействия домена с наружным БД, очередями, сторонним </a:t>
            </a:r>
            <a:r>
              <a:rPr lang="en-US" dirty="0"/>
              <a:t>API </a:t>
            </a:r>
            <a:r>
              <a:rPr lang="ru-RU" dirty="0"/>
              <a:t>и т.д.)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C96A31-5348-8522-73C3-B0EF93D54B3B}"/>
              </a:ext>
            </a:extLst>
          </p:cNvPr>
          <p:cNvSpPr txBox="1"/>
          <p:nvPr/>
        </p:nvSpPr>
        <p:spPr>
          <a:xfrm>
            <a:off x="5884984" y="4364381"/>
            <a:ext cx="6164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Адаптер</a:t>
            </a:r>
            <a:r>
              <a:rPr lang="ru-RU" dirty="0"/>
              <a:t>. Конкретные реализации портов. </a:t>
            </a:r>
            <a:r>
              <a:rPr lang="ru-RU" b="1" dirty="0"/>
              <a:t>Входные адаптеры </a:t>
            </a:r>
            <a:r>
              <a:rPr lang="ru-RU" dirty="0"/>
              <a:t>получают данные. </a:t>
            </a:r>
            <a:r>
              <a:rPr lang="ru-RU" b="1" dirty="0"/>
              <a:t>Выходные адаптеры </a:t>
            </a:r>
            <a:r>
              <a:rPr lang="ru-RU" dirty="0"/>
              <a:t>реализуют детали работы с конкретными технологиями</a:t>
            </a:r>
          </a:p>
        </p:txBody>
      </p:sp>
    </p:spTree>
    <p:extLst>
      <p:ext uri="{BB962C8B-B14F-4D97-AF65-F5344CB8AC3E}">
        <p14:creationId xmlns:p14="http://schemas.microsoft.com/office/powerpoint/2010/main" val="684755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42E1C7-5D9E-945B-D85B-6EA0C771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03" y="342042"/>
            <a:ext cx="5104193" cy="263524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D1DD51-DA13-FA0F-52EA-8E65FF3EA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03" y="2977288"/>
            <a:ext cx="5104193" cy="35826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844C7A-E395-4809-6128-7AF05B954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695" y="369332"/>
            <a:ext cx="4701947" cy="2911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6A55E2-F853-0BCE-49F8-F729ED6FD4F4}"/>
              </a:ext>
            </a:extLst>
          </p:cNvPr>
          <p:cNvSpPr txBox="1"/>
          <p:nvPr/>
        </p:nvSpPr>
        <p:spPr>
          <a:xfrm>
            <a:off x="8440615" y="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Порты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3FF02F0-0818-A4A1-A254-0FF3EF14B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694" y="3859212"/>
            <a:ext cx="4835999" cy="29110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16D86-926E-6920-2D93-84F1056DE991}"/>
              </a:ext>
            </a:extLst>
          </p:cNvPr>
          <p:cNvSpPr txBox="1"/>
          <p:nvPr/>
        </p:nvSpPr>
        <p:spPr>
          <a:xfrm>
            <a:off x="8477874" y="3465090"/>
            <a:ext cx="1155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Адаптеры</a:t>
            </a:r>
          </a:p>
        </p:txBody>
      </p:sp>
    </p:spTree>
    <p:extLst>
      <p:ext uri="{BB962C8B-B14F-4D97-AF65-F5344CB8AC3E}">
        <p14:creationId xmlns:p14="http://schemas.microsoft.com/office/powerpoint/2010/main" val="126566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Диаграмма чистой архитектур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299"/>
            <a:ext cx="9182100" cy="674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002449" y="321068"/>
            <a:ext cx="318955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Чистая архитектура </a:t>
            </a:r>
            <a:r>
              <a:rPr lang="ru-RU" sz="2400" dirty="0"/>
              <a:t>– одно из возможных представлений слоистой архитектуры.</a:t>
            </a:r>
          </a:p>
          <a:p>
            <a:r>
              <a:rPr lang="ru-RU" sz="2400" dirty="0"/>
              <a:t>Все зависимости идут «Сверху» в «Низ». Причем главным слоем, вокруг которого «Выстраиваются» все остальные, является </a:t>
            </a:r>
            <a:r>
              <a:rPr lang="en-US" sz="2400" dirty="0"/>
              <a:t>Use Cases.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9905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81F78-3BEB-DDB6-63E1-AA514E8C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MV-</a:t>
            </a:r>
            <a:r>
              <a:rPr lang="ru-RU" dirty="0"/>
              <a:t>паттерны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9ED1A7-84BA-B629-B73B-0A249C954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5162"/>
            <a:ext cx="10515600" cy="511176"/>
          </a:xfrm>
        </p:spPr>
        <p:txBody>
          <a:bodyPr/>
          <a:lstStyle/>
          <a:p>
            <a:r>
              <a:rPr lang="ru-RU" dirty="0"/>
              <a:t>Для чего они нужны</a:t>
            </a:r>
            <a:r>
              <a:rPr lang="en-US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2CD25-AFDF-EA83-E3A5-DE7F08D585E8}"/>
              </a:ext>
            </a:extLst>
          </p:cNvPr>
          <p:cNvSpPr txBox="1"/>
          <p:nvPr/>
        </p:nvSpPr>
        <p:spPr>
          <a:xfrm>
            <a:off x="838201" y="2136338"/>
            <a:ext cx="10515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Позволяют разделить приложение на три основных компонента для улучшения структуры. Это позволяет отделить логику работы с данными от пользовательского интерфейса, а также добавляет посредника для управления взаимодействием</a:t>
            </a:r>
          </a:p>
          <a:p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96E0109-9C52-08A5-72EF-BF8C6008936E}"/>
              </a:ext>
            </a:extLst>
          </p:cNvPr>
          <p:cNvSpPr txBox="1">
            <a:spLocks/>
          </p:cNvSpPr>
          <p:nvPr/>
        </p:nvSpPr>
        <p:spPr>
          <a:xfrm>
            <a:off x="838200" y="3779394"/>
            <a:ext cx="10515600" cy="511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бывают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E4376-1FBC-286F-65C7-73074ECF7859}"/>
              </a:ext>
            </a:extLst>
          </p:cNvPr>
          <p:cNvSpPr txBox="1"/>
          <p:nvPr/>
        </p:nvSpPr>
        <p:spPr>
          <a:xfrm>
            <a:off x="838200" y="4290570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u="sng" dirty="0"/>
              <a:t>MVC</a:t>
            </a:r>
            <a:r>
              <a:rPr lang="en-US" sz="2000" dirty="0"/>
              <a:t> – Model-View-Controller – </a:t>
            </a:r>
            <a:r>
              <a:rPr lang="ru-RU" sz="2000" dirty="0"/>
              <a:t>Модель-Вид-Контроллер или Модель-Состояние-Поведение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u="sng" dirty="0"/>
              <a:t>MVP</a:t>
            </a:r>
            <a:r>
              <a:rPr lang="en-US" sz="2000" dirty="0"/>
              <a:t> – Model-View-Presenter – </a:t>
            </a:r>
            <a:r>
              <a:rPr lang="ru-RU" sz="2000" dirty="0"/>
              <a:t>Модель-Вид-Представление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u="sng" dirty="0"/>
              <a:t>HMVC</a:t>
            </a:r>
            <a:r>
              <a:rPr lang="en-US" sz="2000" dirty="0"/>
              <a:t> – Hierarchical Model-View-Controller – </a:t>
            </a:r>
            <a:r>
              <a:rPr lang="ru-RU" sz="2000" dirty="0"/>
              <a:t>Иерархическая Модель-Вид-Контроллер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u="sng" dirty="0"/>
              <a:t>MVVM</a:t>
            </a:r>
            <a:r>
              <a:rPr lang="en-US" sz="2000" dirty="0"/>
              <a:t> – Model-View-</a:t>
            </a:r>
            <a:r>
              <a:rPr lang="en-US" sz="2000" dirty="0" err="1"/>
              <a:t>ViewModel</a:t>
            </a:r>
            <a:r>
              <a:rPr lang="en-US" sz="2000" dirty="0"/>
              <a:t> – </a:t>
            </a:r>
            <a:r>
              <a:rPr lang="ru-RU" sz="2000" dirty="0"/>
              <a:t>Модель-Вид-</a:t>
            </a:r>
            <a:r>
              <a:rPr lang="ru-RU" sz="2000" dirty="0" err="1"/>
              <a:t>ВидМодель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5614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9DFE2-10CE-C9D1-6BD3-AB8BB63E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общие сведения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42F5D1-9B4D-D058-4589-3380BE296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b="1" u="sng" dirty="0"/>
              <a:t>Модель</a:t>
            </a:r>
            <a:r>
              <a:rPr lang="ru-RU" sz="2400" dirty="0"/>
              <a:t> – содержит бизнес логику. Модель не должна напрямую взаимодействовать с пользователем. Все переменные относящиеся к запросу пользователя должны обрабатываться в контроллере</a:t>
            </a:r>
          </a:p>
          <a:p>
            <a:r>
              <a:rPr lang="ru-RU" sz="2400" b="1" u="sng" dirty="0"/>
              <a:t>Вид</a:t>
            </a:r>
            <a:r>
              <a:rPr lang="ru-RU" sz="2400" dirty="0"/>
              <a:t> – Используется для задания внешнего отображения данных, полученных из контроллера и модели. Не должны напрямую обращаться к </a:t>
            </a:r>
            <a:r>
              <a:rPr lang="ru-RU" sz="2400" dirty="0" err="1"/>
              <a:t>бд</a:t>
            </a:r>
            <a:r>
              <a:rPr lang="ru-RU" sz="2400" dirty="0"/>
              <a:t>. Не должны работать с данными, полученными из запроса пользователя. Может напрямую обращаться к свойствам и методам контроллера и моделей.</a:t>
            </a:r>
          </a:p>
          <a:p>
            <a:r>
              <a:rPr lang="ru-RU" sz="2400" b="1" u="sng" dirty="0"/>
              <a:t>Контроллер</a:t>
            </a:r>
            <a:r>
              <a:rPr lang="ru-RU" sz="2400" dirty="0"/>
              <a:t> – Связующее звено, соединяющее модели, виды и другие компоненты в рабочем приложении. Контроллер отвечает за обработку запросов пользователя. Контроллер не должен содержать </a:t>
            </a:r>
            <a:r>
              <a:rPr lang="en-US" sz="2400" dirty="0"/>
              <a:t>SQL-</a:t>
            </a:r>
            <a:r>
              <a:rPr lang="ru-RU" sz="2400" dirty="0"/>
              <a:t>запросов. Контроллер не должен содержать</a:t>
            </a:r>
            <a:r>
              <a:rPr lang="en-US" sz="2400" dirty="0"/>
              <a:t> HTML </a:t>
            </a:r>
            <a:r>
              <a:rPr lang="ru-RU" sz="2400" dirty="0"/>
              <a:t>и другой разметки</a:t>
            </a:r>
          </a:p>
        </p:txBody>
      </p:sp>
    </p:spTree>
    <p:extLst>
      <p:ext uri="{BB962C8B-B14F-4D97-AF65-F5344CB8AC3E}">
        <p14:creationId xmlns:p14="http://schemas.microsoft.com/office/powerpoint/2010/main" val="3523242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565F4-83F1-5062-3FAE-5C00D575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0D0DA7-3AC5-4453-D64D-51DE3AF4C7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40" y="2038524"/>
            <a:ext cx="9752381" cy="278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16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8A42F-AEAA-FE44-DACB-E5C54535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F4ED05-F2D1-1192-6EC5-EA84B90A7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46" y="1672893"/>
            <a:ext cx="9875907" cy="4819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4A86FB-8022-A010-C531-76A96F329222}"/>
              </a:ext>
            </a:extLst>
          </p:cNvPr>
          <p:cNvSpPr txBox="1"/>
          <p:nvPr/>
        </p:nvSpPr>
        <p:spPr>
          <a:xfrm>
            <a:off x="180790" y="88126"/>
            <a:ext cx="5915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Проблема </a:t>
            </a:r>
            <a:r>
              <a:rPr lang="en-US" dirty="0"/>
              <a:t>MVC: </a:t>
            </a:r>
            <a:r>
              <a:rPr lang="ru-RU" dirty="0"/>
              <a:t>Что если у нас будет интерактивный </a:t>
            </a:r>
            <a:r>
              <a:rPr lang="en-US" dirty="0"/>
              <a:t>input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FACE2-4B62-89F9-9F9E-76DD4C3005B5}"/>
              </a:ext>
            </a:extLst>
          </p:cNvPr>
          <p:cNvSpPr txBox="1"/>
          <p:nvPr/>
        </p:nvSpPr>
        <p:spPr>
          <a:xfrm>
            <a:off x="5758436" y="564897"/>
            <a:ext cx="5915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 err="1"/>
              <a:t>Presenter</a:t>
            </a:r>
            <a:r>
              <a:rPr lang="ru-RU" dirty="0"/>
              <a:t> управляет Моделью и Представлением. Например извлекает данные из Модели и форматирует их для отображения в Представлении.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865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D10D7-3152-9F05-93FF-C43211BC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HMVC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20AE00-C3D3-B458-1CBA-B676B0B86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2771"/>
            <a:ext cx="9756531" cy="1831975"/>
          </a:xfrm>
        </p:spPr>
        <p:txBody>
          <a:bodyPr/>
          <a:lstStyle/>
          <a:p>
            <a:r>
              <a:rPr lang="ru-RU" sz="1800" dirty="0"/>
              <a:t>Проблемы </a:t>
            </a:r>
            <a:r>
              <a:rPr lang="en-US" sz="1800" dirty="0"/>
              <a:t>MVC: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Что если одновременно работать с несколькими моделям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Следует из проблемы 1, для каждой модельки нужна соответствующий вид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Иногда действия нужно выполнить не над одной моделькой, а над несколькими. Например удаление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953453D-35F2-FE74-91C1-3D482857A211}"/>
              </a:ext>
            </a:extLst>
          </p:cNvPr>
          <p:cNvSpPr txBox="1">
            <a:spLocks/>
          </p:cNvSpPr>
          <p:nvPr/>
        </p:nvSpPr>
        <p:spPr>
          <a:xfrm>
            <a:off x="838200" y="2861529"/>
            <a:ext cx="9756531" cy="183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Основная идея </a:t>
            </a:r>
            <a:r>
              <a:rPr lang="en-US" sz="1800" dirty="0"/>
              <a:t>HMVC: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В приложении используются только жестко фиксированные триады модель-вид-контроллер, которые взаимодействуют с остальными подсистема исключительно через контроллер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Из пункта 1 выплывает вторая идея: используются иерархии триад</a:t>
            </a:r>
          </a:p>
        </p:txBody>
      </p:sp>
      <p:pic>
        <p:nvPicPr>
          <p:cNvPr id="3074" name="Picture 2" descr="hmvc">
            <a:extLst>
              <a:ext uri="{FF2B5EF4-FFF2-40B4-BE49-F238E27FC236}">
                <a16:creationId xmlns:a16="http://schemas.microsoft.com/office/drawing/2014/main" id="{185CD1A8-424A-CCD8-2CC3-15F7F970F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7753" y="3279531"/>
            <a:ext cx="2744817" cy="341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355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3382A-B7B7-9416-1B09-D54F88DE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MVVM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B0C188-5A38-7C01-BAC7-0905F9A2C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816" y="1690688"/>
            <a:ext cx="5991862" cy="4328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F98D6A-C842-1D9B-D050-5F0D74EC325C}"/>
              </a:ext>
            </a:extLst>
          </p:cNvPr>
          <p:cNvSpPr txBox="1"/>
          <p:nvPr/>
        </p:nvSpPr>
        <p:spPr>
          <a:xfrm>
            <a:off x="240322" y="1547447"/>
            <a:ext cx="5026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MVVM удобно использовать вместо классического MVC и ему подобных в тех случаях, когда в платформе, на которой ведётся разработка, есть «связывание данных».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C4FA2-65AF-D406-B243-56BCE4494E10}"/>
              </a:ext>
            </a:extLst>
          </p:cNvPr>
          <p:cNvSpPr txBox="1"/>
          <p:nvPr/>
        </p:nvSpPr>
        <p:spPr>
          <a:xfrm>
            <a:off x="240322" y="2873010"/>
            <a:ext cx="50262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/>
              <a:t>Модель Представления</a:t>
            </a:r>
            <a:r>
              <a:rPr lang="en-US" dirty="0"/>
              <a:t> </a:t>
            </a:r>
            <a:r>
              <a:rPr lang="ru-RU" dirty="0"/>
              <a:t>— с одной стороны, абстракция Представления, а с другой — обёртка данных из Модели, </a:t>
            </a:r>
            <a:r>
              <a:rPr lang="ru-RU" dirty="0" err="1"/>
              <a:t>подлежащиx</a:t>
            </a:r>
            <a:r>
              <a:rPr lang="ru-RU" dirty="0"/>
              <a:t> связыванию. То есть, она содержит Модель, преобразованную к Представлению, а также команды, которыми может пользоваться Представление, чтобы влиять на Модель.</a:t>
            </a:r>
          </a:p>
          <a:p>
            <a:endParaRPr lang="ru-RU" dirty="0"/>
          </a:p>
        </p:txBody>
      </p:sp>
      <p:pic>
        <p:nvPicPr>
          <p:cNvPr id="4098" name="Picture 2" descr="mvvm">
            <a:extLst>
              <a:ext uri="{FF2B5EF4-FFF2-40B4-BE49-F238E27FC236}">
                <a16:creationId xmlns:a16="http://schemas.microsoft.com/office/drawing/2014/main" id="{AC2C4265-73BB-7720-E0F1-C79E61672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22" y="5181334"/>
            <a:ext cx="4431323" cy="13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081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1 (5).web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688" y="228600"/>
            <a:ext cx="8698088" cy="331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0338" y="4257544"/>
            <a:ext cx="121216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</a:rPr>
              <a:t>CQRS (Command Query Responsibility Segregation) </a:t>
            </a:r>
            <a:r>
              <a:rPr lang="ru-RU" b="0" i="0" dirty="0">
                <a:solidFill>
                  <a:srgbClr val="000000"/>
                </a:solidFill>
                <a:effectLst/>
              </a:rPr>
              <a:t>— это шаблон проектирования, который разделяет операции на две категории: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</a:rPr>
              <a:t>команды </a:t>
            </a:r>
            <a:r>
              <a:rPr lang="ru-RU" b="0" i="0" dirty="0">
                <a:solidFill>
                  <a:srgbClr val="000000"/>
                </a:solidFill>
                <a:effectLst/>
              </a:rPr>
              <a:t>— изменяют состояние системы;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</a:rPr>
              <a:t>запросы </a:t>
            </a:r>
            <a:r>
              <a:rPr lang="ru-RU" b="0" i="0" dirty="0">
                <a:solidFill>
                  <a:srgbClr val="000000"/>
                </a:solidFill>
                <a:effectLst/>
              </a:rPr>
              <a:t>— не изменяют состояние, только получают данные.</a:t>
            </a:r>
          </a:p>
          <a:p>
            <a:r>
              <a:rPr lang="ru-RU" dirty="0">
                <a:solidFill>
                  <a:srgbClr val="000000"/>
                </a:solidFill>
              </a:rPr>
              <a:t>Для реализации данного паттерна часто используют </a:t>
            </a:r>
            <a:r>
              <a:rPr lang="en-US" b="1" dirty="0">
                <a:solidFill>
                  <a:srgbClr val="000000"/>
                </a:solidFill>
              </a:rPr>
              <a:t>MediatR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ru-RU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908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A6673-6F31-3EE9-49F9-56DB576C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45"/>
            <a:ext cx="10515600" cy="1325563"/>
          </a:xfrm>
        </p:spPr>
        <p:txBody>
          <a:bodyPr/>
          <a:lstStyle/>
          <a:p>
            <a:r>
              <a:rPr lang="en-US" dirty="0"/>
              <a:t>Event sourcing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3EE02-591A-2DBE-C860-C6BF03F46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033"/>
            <a:ext cx="10515600" cy="662598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Event sourcing </a:t>
            </a:r>
            <a:r>
              <a:rPr lang="en-US" sz="2000" dirty="0"/>
              <a:t>– </a:t>
            </a:r>
            <a:r>
              <a:rPr lang="ru-RU" sz="2000" dirty="0"/>
              <a:t>шаблон хранения данных при котором </a:t>
            </a:r>
            <a:r>
              <a:rPr lang="ru-RU" sz="2000" b="1" i="1" dirty="0"/>
              <a:t>история изменений</a:t>
            </a:r>
            <a:r>
              <a:rPr lang="ru-RU" sz="2000" dirty="0"/>
              <a:t> состояний доменных объектов сохраняется как последовательность событий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2FCFD07-2407-08F9-B360-6A12CEB9777C}"/>
              </a:ext>
            </a:extLst>
          </p:cNvPr>
          <p:cNvSpPr txBox="1">
            <a:spLocks/>
          </p:cNvSpPr>
          <p:nvPr/>
        </p:nvSpPr>
        <p:spPr>
          <a:xfrm>
            <a:off x="838200" y="1992984"/>
            <a:ext cx="10515600" cy="28720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Как это работает</a:t>
            </a:r>
            <a:r>
              <a:rPr lang="en-US" sz="20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Запись событий: когда выполняется команда, доменная логика создаёт событие и сохраняет в журнал событий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Event Store: </a:t>
            </a:r>
            <a:r>
              <a:rPr lang="ru-RU" sz="2000" dirty="0"/>
              <a:t>журнал событий содержит всю историю для каждого агрегата(например всех заказов)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Восстановление состояния: чтобы получить текущее состояние агрегата, система считывает все события и воспроизводит их во внутреннем объекте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Проекции(</a:t>
            </a:r>
            <a:r>
              <a:rPr lang="en-US" sz="2000" dirty="0"/>
              <a:t>Materialized Views</a:t>
            </a:r>
            <a:r>
              <a:rPr lang="ru-RU" sz="2000" dirty="0"/>
              <a:t>):</a:t>
            </a:r>
            <a:r>
              <a:rPr lang="en-US" sz="2000" dirty="0"/>
              <a:t> </a:t>
            </a:r>
            <a:r>
              <a:rPr lang="ru-RU" sz="2000" dirty="0"/>
              <a:t>Для ускорения чтения создаются представления, которые обновляются при поступлении событий</a:t>
            </a:r>
          </a:p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68610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3C9AC-3685-F6A8-E920-C08C389D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event sourcing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A17C61-D57C-2B32-1824-8F4234BA6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002" y="1588024"/>
            <a:ext cx="5082980" cy="11202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415B39-4295-BE47-2D5D-9FCD757B0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20" y="1588024"/>
            <a:ext cx="6609397" cy="48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2" cy="251347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486400" cy="2513474"/>
          </a:xfrm>
          <a:prstGeom prst="rect">
            <a:avLst/>
          </a:prstGeom>
        </p:spPr>
      </p:pic>
      <p:pic>
        <p:nvPicPr>
          <p:cNvPr id="5122" name="Picture 2" descr="https://cdn.hashnode.com/res/hashnode/image/upload/v1677474937831/db5617a7-a8b5-4f68-82da-a6b3b5f73466.png?auto=compress,format&amp;format=web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738012"/>
            <a:ext cx="12036425" cy="311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30208" y="2774698"/>
            <a:ext cx="115387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18181B"/>
                </a:solidFill>
                <a:effectLst/>
                <a:latin typeface="+mj-lt"/>
              </a:rPr>
              <a:t>Microkernel Architecture</a:t>
            </a:r>
            <a:r>
              <a:rPr lang="ru-RU" b="1" i="0" dirty="0">
                <a:solidFill>
                  <a:srgbClr val="18181B"/>
                </a:solidFill>
                <a:effectLst/>
                <a:latin typeface="+mj-lt"/>
              </a:rPr>
              <a:t> – </a:t>
            </a:r>
            <a:r>
              <a:rPr lang="ru-RU" dirty="0">
                <a:solidFill>
                  <a:srgbClr val="18181B"/>
                </a:solidFill>
                <a:latin typeface="+mj-lt"/>
              </a:rPr>
              <a:t>архитектура, которая разделяет приложение на </a:t>
            </a:r>
            <a:r>
              <a:rPr lang="en-US" dirty="0">
                <a:solidFill>
                  <a:srgbClr val="18181B"/>
                </a:solidFill>
                <a:latin typeface="+mj-lt"/>
              </a:rPr>
              <a:t>Core </a:t>
            </a:r>
            <a:r>
              <a:rPr lang="ru-RU" dirty="0">
                <a:solidFill>
                  <a:srgbClr val="18181B"/>
                </a:solidFill>
                <a:latin typeface="+mj-lt"/>
              </a:rPr>
              <a:t>функционал и </a:t>
            </a:r>
            <a:r>
              <a:rPr lang="en-US" dirty="0">
                <a:solidFill>
                  <a:srgbClr val="18181B"/>
                </a:solidFill>
                <a:latin typeface="+mj-lt"/>
              </a:rPr>
              <a:t>none-Core </a:t>
            </a:r>
            <a:r>
              <a:rPr lang="ru-RU" dirty="0">
                <a:solidFill>
                  <a:srgbClr val="18181B"/>
                </a:solidFill>
                <a:latin typeface="+mj-lt"/>
              </a:rPr>
              <a:t>функционал</a:t>
            </a:r>
            <a:r>
              <a:rPr lang="ru-RU" b="1" i="0" dirty="0">
                <a:solidFill>
                  <a:srgbClr val="18181B"/>
                </a:solidFill>
                <a:effectLst/>
                <a:latin typeface="+mj-lt"/>
              </a:rPr>
              <a:t> </a:t>
            </a:r>
            <a:endParaRPr lang="en-US" b="1" i="0" dirty="0">
              <a:solidFill>
                <a:srgbClr val="18181B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8966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E6C90-FE1F-F67A-F437-23DB36E5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Domain-Drive Design (DDD)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CCD998-4130-D491-B27B-B5A1763CA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11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DDD (</a:t>
            </a:r>
            <a:r>
              <a:rPr lang="ru-RU" sz="2000" dirty="0"/>
              <a:t>доменно-ориентированное проектирование</a:t>
            </a:r>
            <a:r>
              <a:rPr lang="en-US" sz="2000" dirty="0"/>
              <a:t>)</a:t>
            </a:r>
            <a:r>
              <a:rPr lang="ru-RU" sz="2000" dirty="0"/>
              <a:t> – это подход создания сложных систем, фокусирующийся на предметной области и тесно сотрудничестве с экспертами в этой области</a:t>
            </a:r>
          </a:p>
          <a:p>
            <a:r>
              <a:rPr lang="ru-RU" sz="2000" dirty="0"/>
              <a:t>Основные понятия: </a:t>
            </a:r>
            <a:r>
              <a:rPr lang="ru-RU" sz="2000" b="1" u="sng" dirty="0"/>
              <a:t>Сущности(</a:t>
            </a:r>
            <a:r>
              <a:rPr lang="en-US" sz="2000" b="1" u="sng" dirty="0"/>
              <a:t>Entity</a:t>
            </a:r>
            <a:r>
              <a:rPr lang="ru-RU" sz="2000" b="1" u="sng" dirty="0"/>
              <a:t>)</a:t>
            </a:r>
            <a:r>
              <a:rPr lang="en-US" sz="2000" b="1" u="sng" dirty="0"/>
              <a:t>, </a:t>
            </a:r>
            <a:r>
              <a:rPr lang="ru-RU" sz="2000" b="1" u="sng" dirty="0"/>
              <a:t>Объекты-значений(</a:t>
            </a:r>
            <a:r>
              <a:rPr lang="en-US" sz="2000" b="1" u="sng" dirty="0"/>
              <a:t>Value objects</a:t>
            </a:r>
            <a:r>
              <a:rPr lang="ru-RU" sz="2000" b="1" u="sng" dirty="0"/>
              <a:t>), Агрегаты(</a:t>
            </a:r>
            <a:r>
              <a:rPr lang="en-US" sz="2000" b="1" u="sng" dirty="0"/>
              <a:t>Aggregates</a:t>
            </a:r>
            <a:r>
              <a:rPr lang="ru-RU" sz="2000" b="1" u="sng" dirty="0"/>
              <a:t>), Репозитории(</a:t>
            </a:r>
            <a:r>
              <a:rPr lang="en-US" sz="2000" b="1" u="sng" dirty="0"/>
              <a:t>Repositories</a:t>
            </a:r>
            <a:r>
              <a:rPr lang="ru-RU" sz="2000" b="1" u="sng" dirty="0"/>
              <a:t>)</a:t>
            </a:r>
            <a:endParaRPr lang="en-US" sz="2000" b="1" u="sng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Сущность – объект с идентичностью, состояние которого меняется в процессе работы системы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Объекты-значений – неизменяемые объекты без отдельного </a:t>
            </a:r>
            <a:r>
              <a:rPr lang="en-US" sz="2000" dirty="0"/>
              <a:t>ID</a:t>
            </a:r>
            <a:r>
              <a:rPr lang="ru-RU" sz="2000" dirty="0"/>
              <a:t>, они сравниваются по значениям полей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Репозиторий – абстракция для доступа к агрегатам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Агрегат – группа сущностей и объектов-значений, связанных единым контекстом инвариантов и обслуживаемых через корневую сущность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C0E5B-803B-2044-2148-4741F67E60E0}"/>
              </a:ext>
            </a:extLst>
          </p:cNvPr>
          <p:cNvSpPr txBox="1"/>
          <p:nvPr/>
        </p:nvSpPr>
        <p:spPr>
          <a:xfrm>
            <a:off x="838200" y="5263605"/>
            <a:ext cx="1079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Например агрегат </a:t>
            </a:r>
            <a:r>
              <a:rPr lang="en-US" dirty="0"/>
              <a:t>Order: </a:t>
            </a:r>
            <a:r>
              <a:rPr lang="ru-RU" dirty="0"/>
              <a:t>Корень – сущность </a:t>
            </a:r>
            <a:r>
              <a:rPr lang="en-US" dirty="0"/>
              <a:t>Order. </a:t>
            </a:r>
            <a:r>
              <a:rPr lang="ru-RU" dirty="0"/>
              <a:t>Дочерние сущности </a:t>
            </a:r>
            <a:r>
              <a:rPr lang="en-US" dirty="0" err="1"/>
              <a:t>OrderItem</a:t>
            </a:r>
            <a:r>
              <a:rPr lang="en-US" dirty="0"/>
              <a:t>. </a:t>
            </a:r>
            <a:r>
              <a:rPr lang="ru-RU" dirty="0"/>
              <a:t>Объекты значений – </a:t>
            </a:r>
            <a:r>
              <a:rPr lang="en-US" dirty="0"/>
              <a:t>Address, Money.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348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B7B928-321C-C022-E591-3C4FA75E9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8" y="563641"/>
            <a:ext cx="6457114" cy="55021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ABE25A-7FE8-E406-901E-CA2FC6CA4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98" y="563641"/>
            <a:ext cx="5459394" cy="556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89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Полезные ссылки почитать (Димитрий)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https://zahere.com/microkernel-architecture-how-it-works-and-what-it-offers</a:t>
            </a:r>
            <a:r>
              <a:rPr lang="ru-RU" dirty="0"/>
              <a:t> - </a:t>
            </a:r>
            <a:r>
              <a:rPr lang="en-US" dirty="0"/>
              <a:t>Microkernel</a:t>
            </a:r>
          </a:p>
          <a:p>
            <a:r>
              <a:rPr lang="en-US" dirty="0">
                <a:hlinkClick r:id="rId3"/>
              </a:rPr>
              <a:t>https://clck.ru/3PiJym</a:t>
            </a:r>
            <a:r>
              <a:rPr lang="ru-RU" dirty="0"/>
              <a:t> - сравнение </a:t>
            </a:r>
            <a:r>
              <a:rPr lang="en-US" dirty="0"/>
              <a:t>Onion </a:t>
            </a:r>
            <a:r>
              <a:rPr lang="ru-RU" dirty="0"/>
              <a:t>и </a:t>
            </a:r>
            <a:r>
              <a:rPr lang="en-US" dirty="0"/>
              <a:t>Clean </a:t>
            </a:r>
            <a:r>
              <a:rPr lang="ru-RU" dirty="0"/>
              <a:t>архитектур.</a:t>
            </a:r>
          </a:p>
          <a:p>
            <a:r>
              <a:rPr lang="en-US" dirty="0">
                <a:hlinkClick r:id="rId4"/>
              </a:rPr>
              <a:t>https://www.ezzylearning.net/tutorial/a-guide-for-building-software-with-clean-architecture#Domain_Layer</a:t>
            </a:r>
            <a:endParaRPr lang="ru-RU" dirty="0"/>
          </a:p>
          <a:p>
            <a:r>
              <a:rPr lang="en-US" dirty="0">
                <a:hlinkClick r:id="rId5"/>
              </a:rPr>
              <a:t>https://www.ezzylearning.net/tutorial/building-asp-net-core-apps-with-clean-architecture</a:t>
            </a:r>
            <a:r>
              <a:rPr lang="ru-RU" dirty="0"/>
              <a:t> про </a:t>
            </a:r>
            <a:r>
              <a:rPr lang="en-US" dirty="0"/>
              <a:t>Clean Architecture</a:t>
            </a:r>
          </a:p>
          <a:p>
            <a:r>
              <a:rPr lang="en-US" dirty="0">
                <a:hlinkClick r:id="rId6"/>
              </a:rPr>
              <a:t>https://habr.com/ru/companies/otus/articles/747668/</a:t>
            </a:r>
            <a:r>
              <a:rPr lang="en-US" dirty="0"/>
              <a:t> - </a:t>
            </a:r>
            <a:r>
              <a:rPr lang="ru-RU" dirty="0"/>
              <a:t>С</a:t>
            </a:r>
            <a:r>
              <a:rPr lang="en-US" dirty="0"/>
              <a:t>QRS</a:t>
            </a:r>
          </a:p>
          <a:p>
            <a:r>
              <a:rPr lang="en-US" dirty="0">
                <a:hlinkClick r:id="rId7"/>
              </a:rPr>
              <a:t>https://learn.microsoft.com/ru-ru/dotnet/architecture/modern-web-apps-azure/common-web-application-architectures</a:t>
            </a:r>
            <a:r>
              <a:rPr lang="en-US" dirty="0"/>
              <a:t> </a:t>
            </a:r>
            <a:r>
              <a:rPr lang="ru-RU" dirty="0"/>
              <a:t>в общем про монолитные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112694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70E22-FE06-AC37-715A-2F1D13BC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71"/>
            <a:ext cx="10515600" cy="1325563"/>
          </a:xfrm>
        </p:spPr>
        <p:txBody>
          <a:bodyPr/>
          <a:lstStyle/>
          <a:p>
            <a:r>
              <a:rPr lang="ru-RU" dirty="0"/>
              <a:t>Полезные ссылки (Наиль)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DD0A23-240C-7CEC-7E2E-0E072047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5670"/>
            <a:ext cx="10515600" cy="545855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Hexagonal Architecture (All You Need to Know)</a:t>
            </a:r>
            <a:endParaRPr lang="ru-RU" dirty="0"/>
          </a:p>
          <a:p>
            <a:r>
              <a:rPr lang="en-US" dirty="0">
                <a:hlinkClick r:id="rId3"/>
              </a:rPr>
              <a:t>How to apply Hexagonal Architecture with .NET</a:t>
            </a:r>
            <a:endParaRPr lang="ru-RU" dirty="0"/>
          </a:p>
          <a:p>
            <a:r>
              <a:rPr lang="en-US" dirty="0">
                <a:hlinkClick r:id="rId4"/>
              </a:rPr>
              <a:t>Model View Controller, MVC, </a:t>
            </a:r>
            <a:r>
              <a:rPr lang="ru-RU" dirty="0">
                <a:hlinkClick r:id="rId4"/>
              </a:rPr>
              <a:t>Модель Вид Контроллер, </a:t>
            </a:r>
            <a:r>
              <a:rPr lang="en-US" dirty="0">
                <a:hlinkClick r:id="rId4"/>
              </a:rPr>
              <a:t>C#, Unity</a:t>
            </a:r>
            <a:endParaRPr lang="ru-RU" dirty="0"/>
          </a:p>
          <a:p>
            <a:r>
              <a:rPr lang="ru-RU" dirty="0">
                <a:hlinkClick r:id="rId5"/>
              </a:rPr>
              <a:t>Model View </a:t>
            </a:r>
            <a:r>
              <a:rPr lang="ru-RU" dirty="0" err="1">
                <a:hlinkClick r:id="rId5"/>
              </a:rPr>
              <a:t>Presenter</a:t>
            </a:r>
            <a:r>
              <a:rPr lang="ru-RU" dirty="0">
                <a:hlinkClick r:id="rId5"/>
              </a:rPr>
              <a:t>, MVP, Модель Вид Представитель, С#, </a:t>
            </a:r>
            <a:r>
              <a:rPr lang="ru-RU" dirty="0" err="1">
                <a:hlinkClick r:id="rId5"/>
              </a:rPr>
              <a:t>Unity</a:t>
            </a:r>
            <a:endParaRPr lang="ru-RU" dirty="0"/>
          </a:p>
          <a:p>
            <a:r>
              <a:rPr lang="ru-RU" dirty="0">
                <a:hlinkClick r:id="rId6"/>
              </a:rPr>
              <a:t>Паттерн HMVC в веб-разработке / </a:t>
            </a:r>
            <a:r>
              <a:rPr lang="ru-RU" dirty="0" err="1">
                <a:hlinkClick r:id="rId6"/>
              </a:rPr>
              <a:t>Хабр</a:t>
            </a:r>
            <a:endParaRPr lang="ru-RU" dirty="0"/>
          </a:p>
          <a:p>
            <a:r>
              <a:rPr lang="en-US" dirty="0">
                <a:hlinkClick r:id="rId7"/>
              </a:rPr>
              <a:t>Model View </a:t>
            </a:r>
            <a:r>
              <a:rPr lang="en-US" dirty="0" err="1">
                <a:hlinkClick r:id="rId7"/>
              </a:rPr>
              <a:t>ViewModel</a:t>
            </a:r>
            <a:r>
              <a:rPr lang="en-US" dirty="0">
                <a:hlinkClick r:id="rId7"/>
              </a:rPr>
              <a:t>, </a:t>
            </a:r>
            <a:r>
              <a:rPr lang="ru-RU" dirty="0">
                <a:hlinkClick r:id="rId7"/>
              </a:rPr>
              <a:t>Модель Вид Модель Вида, </a:t>
            </a:r>
            <a:r>
              <a:rPr lang="en-US" dirty="0">
                <a:hlinkClick r:id="rId7"/>
              </a:rPr>
              <a:t>Unity, C#</a:t>
            </a:r>
            <a:endParaRPr lang="ru-RU" dirty="0"/>
          </a:p>
          <a:p>
            <a:r>
              <a:rPr lang="ru-RU" dirty="0">
                <a:hlinkClick r:id="rId8"/>
              </a:rPr>
              <a:t>Введение в CQRS + Event </a:t>
            </a:r>
            <a:r>
              <a:rPr lang="ru-RU" dirty="0" err="1">
                <a:hlinkClick r:id="rId8"/>
              </a:rPr>
              <a:t>Sourcing</a:t>
            </a:r>
            <a:r>
              <a:rPr lang="ru-RU" dirty="0">
                <a:hlinkClick r:id="rId8"/>
              </a:rPr>
              <a:t>: Часть 1. Основы / </a:t>
            </a:r>
            <a:r>
              <a:rPr lang="ru-RU" dirty="0" err="1">
                <a:hlinkClick r:id="rId8"/>
              </a:rPr>
              <a:t>Хабр</a:t>
            </a:r>
            <a:endParaRPr lang="ru-RU" dirty="0"/>
          </a:p>
          <a:p>
            <a:r>
              <a:rPr lang="en-US" dirty="0">
                <a:hlinkClick r:id="rId9"/>
              </a:rPr>
              <a:t>DDD </a:t>
            </a:r>
            <a:r>
              <a:rPr lang="ru-RU" dirty="0">
                <a:hlinkClick r:id="rId9"/>
              </a:rPr>
              <a:t>простыми словами / </a:t>
            </a:r>
            <a:r>
              <a:rPr lang="ru-RU" dirty="0" err="1">
                <a:hlinkClick r:id="rId9"/>
              </a:rPr>
              <a:t>Хабр</a:t>
            </a:r>
            <a:endParaRPr lang="ru-RU" dirty="0"/>
          </a:p>
          <a:p>
            <a:r>
              <a:rPr lang="ru-RU" dirty="0">
                <a:hlinkClick r:id="rId10"/>
              </a:rPr>
              <a:t>Шпаргалка по MV-паттернам для проектирования веб-приложений / </a:t>
            </a:r>
            <a:r>
              <a:rPr lang="ru-RU" dirty="0" err="1">
                <a:hlinkClick r:id="rId10"/>
              </a:rPr>
              <a:t>Хабр</a:t>
            </a:r>
            <a:endParaRPr lang="ru-RU" dirty="0"/>
          </a:p>
          <a:p>
            <a:r>
              <a:rPr lang="ru-RU" dirty="0">
                <a:hlinkClick r:id="rId11"/>
              </a:rPr>
              <a:t>Что такое гексагональная архитектура. Разделение бизнес-логики и инфраструктуры с помощью портов и адаптеров / </a:t>
            </a:r>
            <a:r>
              <a:rPr lang="ru-RU" dirty="0" err="1">
                <a:hlinkClick r:id="rId11"/>
              </a:rPr>
              <a:t>Хабр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68504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1169</Words>
  <Application>Microsoft Office PowerPoint</Application>
  <PresentationFormat>Широкоэкранный</PresentationFormat>
  <Paragraphs>99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Тема Office</vt:lpstr>
      <vt:lpstr>Архитектурные паттерны</vt:lpstr>
      <vt:lpstr>О чём будем говорить?</vt:lpstr>
      <vt:lpstr>Введение</vt:lpstr>
      <vt:lpstr>Некоторые термины и обозначения</vt:lpstr>
      <vt:lpstr>Презентация PowerPoint</vt:lpstr>
      <vt:lpstr>Презентация PowerPoint</vt:lpstr>
      <vt:lpstr>Гексагональная архитектура</vt:lpstr>
      <vt:lpstr>Презентация PowerPoint</vt:lpstr>
      <vt:lpstr>Презентация PowerPoint</vt:lpstr>
      <vt:lpstr>MV-паттерны</vt:lpstr>
      <vt:lpstr>Некоторые общие сведения</vt:lpstr>
      <vt:lpstr>MVC</vt:lpstr>
      <vt:lpstr>MVP</vt:lpstr>
      <vt:lpstr>HMVC</vt:lpstr>
      <vt:lpstr>MVVM</vt:lpstr>
      <vt:lpstr>Презентация PowerPoint</vt:lpstr>
      <vt:lpstr>Event sourcing</vt:lpstr>
      <vt:lpstr>Пример event sourcing</vt:lpstr>
      <vt:lpstr>Презентация PowerPoint</vt:lpstr>
      <vt:lpstr>Domain-Drive Design (DDD)</vt:lpstr>
      <vt:lpstr>Презентация PowerPoint</vt:lpstr>
      <vt:lpstr>Полезные ссылки почитать (Димитрий)</vt:lpstr>
      <vt:lpstr>Полезные ссылки (Наиль)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M</dc:creator>
  <cp:lastModifiedBy>N M</cp:lastModifiedBy>
  <cp:revision>8</cp:revision>
  <dcterms:created xsi:type="dcterms:W3CDTF">2025-10-12T19:52:05Z</dcterms:created>
  <dcterms:modified xsi:type="dcterms:W3CDTF">2025-10-14T15:38:10Z</dcterms:modified>
</cp:coreProperties>
</file>