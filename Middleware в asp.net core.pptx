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f5048bc2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f5048bc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f5048bc2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f5048bc2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f5048bc24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f5048bc24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f5048bc24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f5048bc24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f5048bc24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f5048bc24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f5048bc2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f5048bc2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5048bc2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5048bc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f5048bc2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f5048bc2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f5048bc24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f5048bc24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5048bc2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5048bc2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f5048bc24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f5048bc24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5048bc2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f5048bc2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f5048bc24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f5048bc24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f5048bc24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f5048bc24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5048bc24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f5048bc24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f5048bc24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f5048bc24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f5048bc24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f5048bc24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f5048bc24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f5048bc24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f5048bc24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f5048bc24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fcee0ee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fcee0ee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fcee0eea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fcee0eea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rinatsaf/DotNet-Hw-Middlewar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087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/>
              <a:t>Middleware в asp.net core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40775" y="35722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979"/>
              <a:t>Сафиуллин Ринат</a:t>
            </a:r>
            <a:br>
              <a:rPr lang="ru" sz="1979"/>
            </a:br>
            <a:r>
              <a:rPr lang="ru" sz="1979"/>
              <a:t>Низамов Дамир</a:t>
            </a:r>
            <a:endParaRPr sz="197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380"/>
              <a:t>Что такое middleware?</a:t>
            </a:r>
            <a:endParaRPr b="1" sz="30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200">
                <a:solidFill>
                  <a:schemeClr val="dk1"/>
                </a:solidFill>
              </a:rPr>
              <a:t>Middleware (промежуточное ПО)</a:t>
            </a:r>
            <a:r>
              <a:rPr lang="ru" sz="2200">
                <a:solidFill>
                  <a:schemeClr val="dk1"/>
                </a:solidFill>
              </a:rPr>
              <a:t> — это компонент в ASP.NET Core, который обрабатывает HTTP-запросы и формирует HTTP-ответы.</a:t>
            </a:r>
            <a:br>
              <a:rPr lang="ru" sz="2200">
                <a:solidFill>
                  <a:schemeClr val="dk1"/>
                </a:solidFill>
              </a:rPr>
            </a:br>
            <a:r>
              <a:rPr lang="ru" sz="2200">
                <a:solidFill>
                  <a:schemeClr val="dk1"/>
                </a:solidFill>
              </a:rPr>
              <a:t>Аналогия : Конвейер </a:t>
            </a:r>
            <a:endParaRPr sz="2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65075" y="30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80"/>
              <a:t>Конвейер middleware</a:t>
            </a:r>
            <a:endParaRPr b="1" sz="27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65075" y="1470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300">
                <a:solidFill>
                  <a:schemeClr val="dk1"/>
                </a:solidFill>
              </a:rPr>
              <a:t>Request =&gt; Kestrel =&gt; middleware1 =&gt; middleware2 =&gt; … =&gt; endpoint =&gt; response</a:t>
            </a: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20"/>
              <a:t> Клиент и запрос</a:t>
            </a:r>
            <a:endParaRPr b="1" sz="302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</a:rPr>
              <a:t>Всё начинается с клиента: 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</a:rPr>
              <a:t>Это может быть браузер, мобильное приложение, десктопная программа или другой сервис.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</a:rPr>
              <a:t>Клиент формирует </a:t>
            </a:r>
            <a:r>
              <a:rPr b="1" lang="ru" sz="2300">
                <a:solidFill>
                  <a:schemeClr val="dk1"/>
                </a:solidFill>
              </a:rPr>
              <a:t>HTTP-запрос</a:t>
            </a:r>
            <a:r>
              <a:rPr lang="ru" sz="2300">
                <a:solidFill>
                  <a:schemeClr val="dk1"/>
                </a:solidFill>
              </a:rPr>
              <a:t> и отправляет его на сервер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375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920"/>
              <a:t>Веб-сервер Kestrel</a:t>
            </a:r>
            <a:endParaRPr b="1" sz="292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80975"/>
            <a:ext cx="8520600" cy="38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В ASP.NET Core используется встроенный веб-сервер </a:t>
            </a:r>
            <a:r>
              <a:rPr b="1" lang="ru" sz="2000">
                <a:solidFill>
                  <a:schemeClr val="dk1"/>
                </a:solidFill>
              </a:rPr>
              <a:t>Kestrel</a:t>
            </a:r>
            <a:r>
              <a:rPr lang="ru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Его роль: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ru" sz="2000">
                <a:solidFill>
                  <a:schemeClr val="dk1"/>
                </a:solidFill>
              </a:rPr>
              <a:t>Принять входящий запрос от клиента.</a:t>
            </a:r>
            <a:br>
              <a:rPr lang="r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" sz="2000">
                <a:solidFill>
                  <a:schemeClr val="dk1"/>
                </a:solidFill>
              </a:rPr>
              <a:t>Сформировать объект </a:t>
            </a:r>
            <a:r>
              <a:rPr b="1" lang="ru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HttpContext</a:t>
            </a:r>
            <a:r>
              <a:rPr lang="ru" sz="2000">
                <a:solidFill>
                  <a:schemeClr val="dk1"/>
                </a:solidFill>
              </a:rPr>
              <a:t>, в котором содержится вся информация о запросе: заголовки, метод (GET/POST и т.д.), тело, cookies, информация об аутентификации.</a:t>
            </a:r>
            <a:br>
              <a:rPr lang="ru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ru" sz="2000">
                <a:solidFill>
                  <a:schemeClr val="dk1"/>
                </a:solidFill>
              </a:rPr>
              <a:t>Передать этот </a:t>
            </a:r>
            <a:r>
              <a:rPr b="1" lang="ru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HttpContext</a:t>
            </a:r>
            <a:r>
              <a:rPr lang="ru" sz="2000">
                <a:solidFill>
                  <a:schemeClr val="dk1"/>
                </a:solidFill>
              </a:rPr>
              <a:t> дальше в конвейер обработки.</a:t>
            </a:r>
            <a:br>
              <a:rPr lang="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Middleware — сердце конвейера</a:t>
            </a:r>
            <a:endParaRPr b="1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ru" sz="1900">
                <a:solidFill>
                  <a:schemeClr val="dk1"/>
                </a:solidFill>
              </a:rPr>
              <a:t>Middleware</a:t>
            </a:r>
            <a:r>
              <a:rPr lang="ru" sz="1900">
                <a:solidFill>
                  <a:schemeClr val="dk1"/>
                </a:solidFill>
              </a:rPr>
              <a:t> (промежуточные компоненты) — это звенья цепочки, через которые проходит каждый запрос.</a:t>
            </a:r>
            <a:br>
              <a:rPr lang="ru" sz="1900">
                <a:solidFill>
                  <a:schemeClr val="dk1"/>
                </a:solidFill>
              </a:rPr>
            </a:br>
            <a:r>
              <a:rPr lang="ru" sz="1900">
                <a:solidFill>
                  <a:schemeClr val="dk1"/>
                </a:solidFill>
              </a:rPr>
              <a:t>Каждый Middleware может:</a:t>
            </a:r>
            <a:endParaRPr sz="1900">
              <a:solidFill>
                <a:schemeClr val="dk1"/>
              </a:solidFill>
            </a:endParaRPr>
          </a:p>
          <a:p>
            <a:pPr indent="-34020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900">
                <a:solidFill>
                  <a:schemeClr val="dk1"/>
                </a:solidFill>
              </a:rPr>
              <a:t>Выполнить какое-то действие до передачи запроса дальше.</a:t>
            </a:r>
            <a:br>
              <a:rPr lang="ru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900">
                <a:solidFill>
                  <a:schemeClr val="dk1"/>
                </a:solidFill>
              </a:rPr>
              <a:t>Вызвать следующий Middleware (или не вызывать).</a:t>
            </a:r>
            <a:br>
              <a:rPr lang="ru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900">
                <a:solidFill>
                  <a:schemeClr val="dk1"/>
                </a:solidFill>
              </a:rPr>
              <a:t>Выполнить действия после того, как следующий Middleware закончит работу.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57650" y="382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380"/>
              <a:t>Порядок имеет значение</a:t>
            </a:r>
            <a:endParaRPr b="1" sz="302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3200" y="1152000"/>
            <a:ext cx="8485200" cy="3820500"/>
          </a:xfrm>
          <a:prstGeom prst="rect">
            <a:avLst/>
          </a:prstGeom>
        </p:spPr>
        <p:txBody>
          <a:bodyPr anchorCtr="0" anchor="t" bIns="91425" lIns="91425" spcFirstLastPara="1" rIns="91425" wrap="square" tIns="900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ru" sz="2621" u="sng">
                <a:solidFill>
                  <a:schemeClr val="dk1"/>
                </a:solidFill>
              </a:rPr>
            </a:br>
            <a:r>
              <a:rPr b="1" lang="ru" sz="2821">
                <a:solidFill>
                  <a:schemeClr val="dk1"/>
                </a:solidFill>
              </a:rPr>
              <a:t>Порядок подключения критически важе</a:t>
            </a:r>
            <a:r>
              <a:rPr lang="ru" sz="2821">
                <a:solidFill>
                  <a:schemeClr val="dk1"/>
                </a:solidFill>
              </a:rPr>
              <a:t>н</a:t>
            </a:r>
            <a:endParaRPr sz="282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821">
                <a:solidFill>
                  <a:schemeClr val="dk1"/>
                </a:solidFill>
              </a:rPr>
              <a:t>Расположение Middleware в конвейере влияет на результат.</a:t>
            </a:r>
            <a:endParaRPr sz="282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2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 sz="2821">
                <a:solidFill>
                  <a:schemeClr val="dk1"/>
                </a:solidFill>
              </a:rPr>
              <a:t>Каждый middleware выполняет свою логику</a:t>
            </a:r>
            <a:endParaRPr b="1" sz="282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821">
                <a:solidFill>
                  <a:schemeClr val="dk1"/>
                </a:solidFill>
              </a:rPr>
              <a:t>После выполнения он передаёт контекст следующему компоненту.</a:t>
            </a:r>
            <a:br>
              <a:rPr lang="ru" sz="2821">
                <a:solidFill>
                  <a:schemeClr val="dk1"/>
                </a:solidFill>
              </a:rPr>
            </a:br>
            <a:endParaRPr sz="282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821">
                <a:solidFill>
                  <a:schemeClr val="dk1"/>
                </a:solidFill>
              </a:rPr>
              <a:t>Примеры в репозитории</a:t>
            </a:r>
            <a:endParaRPr sz="282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2821" u="sng">
                <a:solidFill>
                  <a:schemeClr val="hlink"/>
                </a:solidFill>
                <a:hlinkClick r:id="rId3"/>
              </a:rPr>
              <a:t>GitHub: DotNet-Hw-Middleware</a:t>
            </a:r>
            <a:endParaRPr sz="2821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395350" y="328500"/>
            <a:ext cx="5462100" cy="19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3459"/>
              <a:t>Встроенные middleware в asp.net core</a:t>
            </a:r>
            <a:endParaRPr b="1" sz="345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180"/>
              <a:t>Кастомные MiddleWare</a:t>
            </a:r>
            <a:endParaRPr b="1" sz="2820"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307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>
                <a:solidFill>
                  <a:schemeClr val="dk1"/>
                </a:solidFill>
              </a:rPr>
              <a:t>Если не хватает встроенных, то есть возможность писать свои middleware.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>
                <a:solidFill>
                  <a:schemeClr val="dk1"/>
                </a:solidFill>
              </a:rPr>
              <a:t>Пример также есть в репозитории в гите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C2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25" y="247650"/>
            <a:ext cx="75819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/>
              <a:t>Методы Use(), run(), Map()</a:t>
            </a:r>
            <a:endParaRPr b="1"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ru" sz="2800">
                <a:solidFill>
                  <a:schemeClr val="dk1"/>
                </a:solidFill>
              </a:rPr>
              <a:t>Use()</a:t>
            </a:r>
            <a:r>
              <a:rPr lang="ru" sz="2800">
                <a:solidFill>
                  <a:schemeClr val="dk1"/>
                </a:solidFill>
              </a:rPr>
              <a:t> – Продолжает цепочку (то есть вызывает _next)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ru" sz="2800">
                <a:solidFill>
                  <a:schemeClr val="dk1"/>
                </a:solidFill>
              </a:rPr>
              <a:t>Run()</a:t>
            </a:r>
            <a:r>
              <a:rPr lang="ru" sz="2800">
                <a:solidFill>
                  <a:schemeClr val="dk1"/>
                </a:solidFill>
              </a:rPr>
              <a:t> – “Конечный MiddleWare” прерывает цепочку вызовов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ru" sz="2800">
                <a:solidFill>
                  <a:schemeClr val="dk1"/>
                </a:solidFill>
              </a:rPr>
              <a:t>Map()</a:t>
            </a:r>
            <a:r>
              <a:rPr lang="ru" sz="2800">
                <a:solidFill>
                  <a:schemeClr val="dk1"/>
                </a:solidFill>
              </a:rPr>
              <a:t> – можно создать отдельные сценарии для различных путей (Разделит логику для Api, Admin, Public)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C2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049" y="0"/>
            <a:ext cx="59167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00"/>
              <a:t>Best practices</a:t>
            </a:r>
            <a:endParaRPr b="1"/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Использовать асинхронность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Минимизировать логику в MiddleWare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Использовать try/catch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Пишите тесты (они легко тестируются изолированно)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C2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50" y="111500"/>
            <a:ext cx="9143999" cy="492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Endpoint Routing</a:t>
            </a:r>
            <a:endParaRPr b="1"/>
          </a:p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После прохождения базовых Middleware запрос достигает системы маршрутизации (</a:t>
            </a:r>
            <a:r>
              <a:rPr b="1" lang="ru">
                <a:solidFill>
                  <a:schemeClr val="dk1"/>
                </a:solidFill>
              </a:rPr>
              <a:t>Endpoint Routing</a:t>
            </a:r>
            <a:r>
              <a:rPr lang="ru">
                <a:solidFill>
                  <a:schemeClr val="dk1"/>
                </a:solidFill>
              </a:rPr>
              <a:t>).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 Она определяет, к какому </a:t>
            </a:r>
            <a:r>
              <a:rPr b="1" lang="ru">
                <a:solidFill>
                  <a:schemeClr val="dk1"/>
                </a:solidFill>
              </a:rPr>
              <a:t>Endpoint</a:t>
            </a:r>
            <a:r>
              <a:rPr lang="ru">
                <a:solidFill>
                  <a:schemeClr val="dk1"/>
                </a:solidFill>
              </a:rPr>
              <a:t> должен быть направлен запрос.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Фильтры</a:t>
            </a:r>
            <a:endParaRPr b="1" sz="2820"/>
          </a:p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Когда выбран контроллер и действие, в работу вступают </a:t>
            </a:r>
            <a:r>
              <a:rPr b="1" lang="ru" sz="2000">
                <a:solidFill>
                  <a:schemeClr val="dk1"/>
                </a:solidFill>
              </a:rPr>
              <a:t>фильтры</a:t>
            </a:r>
            <a:r>
              <a:rPr lang="ru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Фильтры позволяют выполнить логику до или после вызова метода контроллера</a:t>
            </a:r>
            <a:endParaRPr sz="2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720"/>
              <a:t>Контроллеры и действия</a:t>
            </a:r>
            <a:endParaRPr b="1" sz="2720"/>
          </a:p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</a:rPr>
              <a:t>На этом этапе вызывается конкретный метод контроллера (Action), куда передаются параметры запроса.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Контроллер формирует </a:t>
            </a:r>
            <a:r>
              <a:rPr b="1" lang="ru" sz="2100">
                <a:solidFill>
                  <a:schemeClr val="dk1"/>
                </a:solidFill>
              </a:rPr>
              <a:t>результат</a:t>
            </a:r>
            <a:r>
              <a:rPr lang="ru" sz="2100">
                <a:solidFill>
                  <a:schemeClr val="dk1"/>
                </a:solidFill>
              </a:rPr>
              <a:t> — это может быть JSON-ответ, HTML-страница, файл, статус-код и т.д.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/>
              <a:t>Формирование ответа (Response)</a:t>
            </a:r>
            <a:endParaRPr b="1" sz="2620"/>
          </a:p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После выполнения контроллера результат оборачивается в HTTP-ответ и начинает двигаться обратно: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Сначала через фильтры (например, ResultFilter может изменить результат).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Затем обратно через Middleware (например, Middleware для логирования запишет статус-код).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В конце Kestrel формирует полноценный HTTP-ответ и отправляет его клиенту.</a:t>
            </a:r>
            <a:br>
              <a:rPr lang="ru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Таким образом, запрос проходит </a:t>
            </a:r>
            <a:r>
              <a:rPr b="1" lang="ru" sz="1600">
                <a:solidFill>
                  <a:schemeClr val="dk1"/>
                </a:solidFill>
              </a:rPr>
              <a:t>вперёд</a:t>
            </a:r>
            <a:r>
              <a:rPr lang="ru" sz="1600">
                <a:solidFill>
                  <a:schemeClr val="dk1"/>
                </a:solidFill>
              </a:rPr>
              <a:t> по конвейеру к конечной точке, а ответ — </a:t>
            </a:r>
            <a:r>
              <a:rPr b="1" lang="ru" sz="1600">
                <a:solidFill>
                  <a:schemeClr val="dk1"/>
                </a:solidFill>
              </a:rPr>
              <a:t>назад</a:t>
            </a:r>
            <a:r>
              <a:rPr lang="ru" sz="1600">
                <a:solidFill>
                  <a:schemeClr val="dk1"/>
                </a:solidFill>
              </a:rPr>
              <a:t>, проходя те же Middleware.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Попробуйте расставить в правильном порядке</a:t>
            </a:r>
            <a:endParaRPr b="1"/>
          </a:p>
        </p:txBody>
      </p:sp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11700" y="1152475"/>
            <a:ext cx="8521200" cy="3416400"/>
          </a:xfrm>
          <a:prstGeom prst="rect">
            <a:avLst/>
          </a:prstGeom>
        </p:spPr>
        <p:txBody>
          <a:bodyPr anchorCtr="0" anchor="t" bIns="234000" lIns="91425" spcFirstLastPara="1" rIns="90000" wrap="square" tIns="91425">
            <a:normAutofit lnSpcReduction="20000"/>
          </a:bodyPr>
          <a:lstStyle/>
          <a:p>
            <a:pPr indent="-363749" lvl="0" marL="496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ru" sz="2100">
                <a:solidFill>
                  <a:schemeClr val="dk1"/>
                </a:solidFill>
              </a:rPr>
              <a:t>app.UseAuthorization();  </a:t>
            </a:r>
            <a:endParaRPr sz="2100">
              <a:solidFill>
                <a:schemeClr val="dk1"/>
              </a:solidFill>
            </a:endParaRPr>
          </a:p>
          <a:p>
            <a:pPr indent="-363749" lvl="0" marL="496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ru" sz="2100">
                <a:solidFill>
                  <a:schemeClr val="dk1"/>
                </a:solidFill>
              </a:rPr>
              <a:t>app.UseAuthentication();  </a:t>
            </a:r>
            <a:endParaRPr sz="2100">
              <a:solidFill>
                <a:schemeClr val="dk1"/>
              </a:solidFill>
            </a:endParaRPr>
          </a:p>
          <a:p>
            <a:pPr indent="-363749" lvl="0" marL="496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ru" sz="2100">
                <a:solidFill>
                  <a:schemeClr val="dk1"/>
                </a:solidFill>
              </a:rPr>
              <a:t>app.UseRouting();</a:t>
            </a:r>
            <a:endParaRPr sz="2100">
              <a:solidFill>
                <a:schemeClr val="dk1"/>
              </a:solidFill>
            </a:endParaRPr>
          </a:p>
          <a:p>
            <a:pPr indent="-363749" lvl="0" marL="496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ru" sz="2100">
                <a:solidFill>
                  <a:schemeClr val="dk1"/>
                </a:solidFill>
              </a:rPr>
              <a:t>app.UseStaticFiles(); </a:t>
            </a:r>
            <a:endParaRPr sz="2100">
              <a:solidFill>
                <a:schemeClr val="dk1"/>
              </a:solidFill>
            </a:endParaRPr>
          </a:p>
          <a:p>
            <a:pPr indent="-363749" lvl="0" marL="496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ru" sz="2100">
                <a:solidFill>
                  <a:schemeClr val="dk1"/>
                </a:solidFill>
              </a:rPr>
              <a:t>app.UseHttpsRedirection();</a:t>
            </a:r>
            <a:endParaRPr sz="2100">
              <a:solidFill>
                <a:schemeClr val="dk1"/>
              </a:solidFill>
            </a:endParaRPr>
          </a:p>
          <a:p>
            <a:pPr indent="-363749" lvl="0" marL="496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ru" sz="2100">
                <a:solidFill>
                  <a:schemeClr val="dk1"/>
                </a:solidFill>
              </a:rPr>
              <a:t>app.MapControllers();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type="title"/>
          </p:nvPr>
        </p:nvSpPr>
        <p:spPr>
          <a:xfrm>
            <a:off x="373850" y="3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820"/>
              <a:t>Ответ</a:t>
            </a:r>
            <a:endParaRPr b="1" sz="2820"/>
          </a:p>
        </p:txBody>
      </p:sp>
      <p:sp>
        <p:nvSpPr>
          <p:cNvPr id="165" name="Google Shape;16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</a:rPr>
              <a:t>app.UseHttpsRedirection(); Сразу перенаправляем на HTTPS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</a:rPr>
              <a:t>app.UseStaticFiles();      Отдаём статику до роутинга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</a:rPr>
              <a:t>app.UseRouting();          Определяем маршрут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</a:rPr>
              <a:t>app.UseAuthentication();   Сначала аутентификация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</a:rPr>
              <a:t>app.UseAuthorization();    Потом авторизация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100">
                <a:solidFill>
                  <a:schemeClr val="dk1"/>
                </a:solidFill>
              </a:rPr>
              <a:t>app.MapControllers();      Подключение контроллеров / API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20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25" y="486100"/>
            <a:ext cx="634365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350" y="2597975"/>
            <a:ext cx="582930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