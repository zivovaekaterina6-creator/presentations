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f37e67ae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f37e67ae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f37e67ae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f37e67ae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f37e67ae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f37e67ae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f37e67ae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f37e67ae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f37e67ae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f37e67ae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f37e67ae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f37e67ae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f37e67ae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f37e67ae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f37e67ae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f37e67ae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f37e67ae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f37e67ae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f37e67aee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f37e67aee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37e67aee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37e67ae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f37e67aee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7f37e67aee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f37e67aee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f37e67ae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f37e67aee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7f37e67aee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0ac5d53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0ac5d53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f37e67aee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f37e67ae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f37e67aee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f37e67aee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Веб-сервер Kestrel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Что, зачем и почему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22854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Чтоб я знал ответы на эти вопросы…</a:t>
            </a:r>
            <a:br>
              <a:rPr lang="ru"/>
            </a:br>
            <a:r>
              <a:rPr lang="ru" sz="1022"/>
              <a:t>(</a:t>
            </a:r>
            <a:r>
              <a:rPr lang="ru" sz="1022"/>
              <a:t>learn.microsoft.com)</a:t>
            </a:r>
            <a:endParaRPr sz="1022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веб-сервер и зачем он нужен?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6652800" y="1152475"/>
            <a:ext cx="217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Слушает порт (80 HTTP, 443 HTTPS)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Принимает соединение от клиента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Читает и переводит (по всякому, но json не трогает) HTTP запрос в объекты Http.Context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Передает запрос в приложение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Формирует HTTP ответ и передает клиенту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42075"/>
            <a:ext cx="6074400" cy="30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Kestrel (теория)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53300" y="1152475"/>
            <a:ext cx="234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999999"/>
                </a:solidFill>
              </a:rPr>
              <a:t>Путь запроса:</a:t>
            </a:r>
            <a:br>
              <a:rPr lang="ru" sz="1300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Клиент → (интернет/локальная сеть) → </a:t>
            </a:r>
            <a:r>
              <a:rPr b="1" lang="ru" sz="1300">
                <a:solidFill>
                  <a:srgbClr val="999999"/>
                </a:solidFill>
              </a:rPr>
              <a:t>Kestrel</a:t>
            </a:r>
            <a:r>
              <a:rPr lang="ru" sz="1300">
                <a:solidFill>
                  <a:srgbClr val="999999"/>
                </a:solidFill>
              </a:rPr>
              <a:t> → ASP.NET Core </a:t>
            </a:r>
            <a:r>
              <a:rPr b="1" lang="ru" sz="1300">
                <a:solidFill>
                  <a:srgbClr val="999999"/>
                </a:solidFill>
              </a:rPr>
              <a:t>Middleware Pipeline</a:t>
            </a:r>
            <a:r>
              <a:rPr lang="ru" sz="1300">
                <a:solidFill>
                  <a:srgbClr val="999999"/>
                </a:solidFill>
              </a:rPr>
              <a:t> → endpoints (Minimal API / Controllers) → Ответ клиенту.</a:t>
            </a:r>
            <a:endParaRPr sz="13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999999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84725" y="3128300"/>
            <a:ext cx="30000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>
                <a:solidFill>
                  <a:srgbClr val="999999"/>
                </a:solidFill>
              </a:rPr>
              <a:t>Зона ответственности</a:t>
            </a:r>
            <a:r>
              <a:rPr b="1" lang="ru">
                <a:solidFill>
                  <a:srgbClr val="999999"/>
                </a:solidFill>
              </a:rPr>
              <a:t>:</a:t>
            </a:r>
            <a:br>
              <a:rPr lang="ru" sz="1300">
                <a:solidFill>
                  <a:schemeClr val="lt2"/>
                </a:solidFill>
              </a:rPr>
            </a:br>
            <a:r>
              <a:rPr lang="ru" sz="1300">
                <a:solidFill>
                  <a:schemeClr val="lt2"/>
                </a:solidFill>
              </a:rPr>
              <a:t>Т</a:t>
            </a:r>
            <a:r>
              <a:rPr lang="ru" sz="1300">
                <a:solidFill>
                  <a:schemeClr val="lt2"/>
                </a:solidFill>
              </a:rPr>
              <a:t>ранспорт (TCP/TLS/QUIC), протоколы и низкоуровневые лимиты - Kestrel.</a:t>
            </a:r>
            <a:br>
              <a:rPr lang="ru" sz="1300">
                <a:solidFill>
                  <a:schemeClr val="lt2"/>
                </a:solidFill>
              </a:rPr>
            </a:br>
            <a:r>
              <a:rPr lang="ru" sz="1300">
                <a:solidFill>
                  <a:schemeClr val="lt2"/>
                </a:solidFill>
              </a:rPr>
              <a:t>Бизнес-логика - приложение.</a:t>
            </a:r>
            <a:br>
              <a:rPr lang="ru" sz="1300">
                <a:solidFill>
                  <a:schemeClr val="lt2"/>
                </a:solidFill>
              </a:rPr>
            </a:br>
            <a:r>
              <a:rPr lang="ru" sz="1300">
                <a:solidFill>
                  <a:schemeClr val="lt2"/>
                </a:solidFill>
              </a:rPr>
              <a:t>Тяжелая фильтрация и тонкие настройки - прокси или middleware.</a:t>
            </a:r>
            <a:endParaRPr sz="1300">
              <a:solidFill>
                <a:schemeClr val="lt2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729800" y="1201650"/>
            <a:ext cx="3000000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>
                <a:solidFill>
                  <a:srgbClr val="999999"/>
                </a:solidFill>
              </a:rPr>
              <a:t>Нюансы:</a:t>
            </a:r>
            <a:br>
              <a:rPr b="1" lang="ru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Минимальное наполнение - просто слушает порты и отвечает напрямую - нет сжатия, терминации, кэширования, балансировки, и т. д.</a:t>
            </a:r>
            <a:br>
              <a:rPr lang="ru" sz="1300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Подходит под локальные/pet-проекты.</a:t>
            </a:r>
            <a:br>
              <a:rPr lang="ru" sz="1300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Асинхронный - один поток может обрабатывать 100500 запросов, переключаясь между ними. в IIS потоки блокировались запросом</a:t>
            </a:r>
            <a:endParaRPr sz="1300">
              <a:solidFill>
                <a:srgbClr val="999999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5876400" y="1152475"/>
            <a:ext cx="3000000" cy="3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999999"/>
                </a:solidFill>
              </a:rPr>
              <a:t>Действия:</a:t>
            </a:r>
            <a:br>
              <a:rPr b="1" lang="ru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Прием соединения, установка TSL (при HTTPS).</a:t>
            </a:r>
            <a:br>
              <a:rPr lang="ru" sz="1300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Парсинг заголовков HTTP (метод, путь, заголовки, версия, тело).</a:t>
            </a:r>
            <a:br>
              <a:rPr lang="ru" sz="1300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Проверка базовых значений (лимиты на длину всякого, </a:t>
            </a:r>
            <a:r>
              <a:rPr lang="ru" sz="1300">
                <a:solidFill>
                  <a:srgbClr val="999999"/>
                </a:solidFill>
              </a:rPr>
              <a:t>таймауты</a:t>
            </a:r>
            <a:r>
              <a:rPr lang="ru" sz="1300">
                <a:solidFill>
                  <a:srgbClr val="999999"/>
                </a:solidFill>
              </a:rPr>
              <a:t> - при проблемах выдает код 400 - ошибку на уровне сервера).</a:t>
            </a:r>
            <a:br>
              <a:rPr lang="ru" sz="1300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Формирует HttpContext с HttpRequest/Response.</a:t>
            </a:r>
            <a:br>
              <a:rPr lang="ru" sz="1300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Не трогает JSON.</a:t>
            </a:r>
            <a:endParaRPr sz="13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Минимальное приложение (уже умеем, понимаем)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311700" y="1231200"/>
            <a:ext cx="85206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builder = WebApplication.</a:t>
            </a:r>
            <a:r>
              <a:rPr i="1"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CreateBuilder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(args);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создаётся объект builder, где настраиваются сервисы, конфигурация, логирование, хостинг.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 = builder.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из билдера собирается само приложение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MapGet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"/"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() =&gt; </a:t>
            </a:r>
            <a:r>
              <a:rPr lang="ru" sz="11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"Hello World!"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мы добавляем конечную точку (endpoint) в pipeline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запускает веб-сервер Kestrel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28888"/>
            <a:ext cx="35623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106100" y="2427400"/>
            <a:ext cx="4965900" cy="27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>
                <a:solidFill>
                  <a:srgbClr val="999999"/>
                </a:solidFill>
              </a:rPr>
              <a:t>Что происходит:</a:t>
            </a:r>
            <a:br>
              <a:rPr b="1" lang="ru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Запускается слушатель на стоковом порте (5000 HTTP, 7000 HTTPS).</a:t>
            </a:r>
            <a:br>
              <a:rPr lang="ru" sz="1300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Когда клиент открывает страницу, устанавливается соединение.</a:t>
            </a:r>
            <a:br>
              <a:rPr lang="ru" sz="1300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Парсит HTTP запрос (метод GET, путь /).</a:t>
            </a:r>
            <a:br>
              <a:rPr lang="ru" sz="1300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Kestrel проверяет список зарегистрированных маршрутов и находит 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MapGet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"/"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() =&gt; </a:t>
            </a:r>
            <a:r>
              <a:rPr lang="ru" sz="11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"Hello World!"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b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300">
                <a:solidFill>
                  <a:srgbClr val="999999"/>
                </a:solidFill>
              </a:rPr>
              <a:t>Вызывает этот самый делегат.</a:t>
            </a:r>
            <a:br>
              <a:rPr lang="ru" sz="1300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Формирует ответ 200 OK с телом /.</a:t>
            </a:r>
            <a:br>
              <a:rPr lang="ru" sz="1300">
                <a:solidFill>
                  <a:srgbClr val="999999"/>
                </a:solidFill>
              </a:rPr>
            </a:br>
            <a:r>
              <a:rPr lang="ru" sz="1300">
                <a:solidFill>
                  <a:srgbClr val="999999"/>
                </a:solidFill>
              </a:rPr>
              <a:t>Отправляет его клиенту.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Жесткая привязка адресов и портов (EndPoints)</a:t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311700" y="1195200"/>
            <a:ext cx="8520600" cy="2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builder = WebApplication.</a:t>
            </a:r>
            <a:r>
              <a:rPr i="1"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CreateBuilder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(args);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builder.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WebHost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ConfigureKestrel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(options =&gt;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options.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ListenLocalhost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5080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);               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HTTP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// HTTPS с локальным дев-сертификатом (пример):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// options.ListenLocalhost(5443, listen =&gt; listen.UseHttps());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 = builder.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MapGet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"/"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() =&gt; </a:t>
            </a:r>
            <a:r>
              <a:rPr lang="ru" sz="11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"Kestrel endpoints bound explicitly"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6026400" y="1195200"/>
            <a:ext cx="3000000" cy="30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</a:rPr>
              <a:t> appsettings.json:</a:t>
            </a:r>
            <a:br>
              <a:rPr lang="ru">
                <a:solidFill>
                  <a:schemeClr val="lt2"/>
                </a:solidFill>
              </a:rPr>
            </a:br>
            <a:r>
              <a:rPr lang="ru" sz="1300">
                <a:solidFill>
                  <a:schemeClr val="lt2"/>
                </a:solidFill>
              </a:rPr>
              <a:t>{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2"/>
                </a:solidFill>
              </a:rPr>
              <a:t>  "Kestrel": {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2"/>
                </a:solidFill>
              </a:rPr>
              <a:t>    "Endpoints": {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2"/>
                </a:solidFill>
              </a:rPr>
              <a:t>      "Http": {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2"/>
                </a:solidFill>
              </a:rPr>
              <a:t>        "Url": "http://localhost:5080"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2"/>
                </a:solidFill>
              </a:rPr>
              <a:t>      }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2"/>
                </a:solidFill>
              </a:rPr>
              <a:t>      // , "Https": { "Url": "https://localhost:5443" }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2"/>
                </a:solidFill>
              </a:rPr>
              <a:t>    }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2"/>
                </a:solidFill>
              </a:rPr>
              <a:t>  }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2"/>
                </a:solidFill>
              </a:rPr>
              <a:t>}</a:t>
            </a:r>
            <a:endParaRPr sz="1300">
              <a:solidFill>
                <a:schemeClr val="lt2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11700" y="3931950"/>
            <a:ext cx="30000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2"/>
                </a:solidFill>
              </a:rPr>
              <a:t>*Примечание для оценивания. Куски кода в презентации считаю практикой, весь код залит в репозиторий - *ссылка*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Другая настройка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210900" y="1089900"/>
            <a:ext cx="4893900" cy="28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builder.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WebHost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ConfigureKestrel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(options =&gt;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Слушаем HTTP на 5000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options.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ListenAnyIP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5000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Слушаем HTTPS на 7000 (с дев-сертификатом)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options.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ListenLocalhost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7000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listen =&gt;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listen.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UseHttps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});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Ограничение: тело запроса не более 10 МБ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options.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Limits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MaxRequestBodySize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ru" sz="11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10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lang="ru" sz="11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1024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lang="ru" sz="11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1024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800" y="250500"/>
            <a:ext cx="2741550" cy="251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5594400" y="2995200"/>
            <a:ext cx="30000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100">
                <a:solidFill>
                  <a:schemeClr val="lt2"/>
                </a:solidFill>
              </a:rPr>
              <a:t>ASP.NET Core использует </a:t>
            </a:r>
            <a:r>
              <a:rPr b="1" lang="ru" sz="1100">
                <a:solidFill>
                  <a:schemeClr val="lt2"/>
                </a:solidFill>
              </a:rPr>
              <a:t>систему конфигурации</a:t>
            </a:r>
            <a:r>
              <a:rPr lang="ru" sz="1100">
                <a:solidFill>
                  <a:schemeClr val="lt2"/>
                </a:solidFill>
              </a:rPr>
              <a:t>, где можно комбинировать источники:</a:t>
            </a:r>
            <a:br>
              <a:rPr lang="ru" sz="1100">
                <a:solidFill>
                  <a:schemeClr val="lt2"/>
                </a:solidFill>
              </a:rPr>
            </a:br>
            <a:r>
              <a:rPr lang="ru" sz="1100">
                <a:solidFill>
                  <a:schemeClr val="lt2"/>
                </a:solidFill>
              </a:rPr>
              <a:t>- Код (ConfigureKestrel) - прод</a:t>
            </a:r>
            <a:br>
              <a:rPr lang="ru" sz="1100">
                <a:solidFill>
                  <a:schemeClr val="lt2"/>
                </a:solidFill>
              </a:rPr>
            </a:br>
            <a:r>
              <a:rPr lang="ru" sz="1100">
                <a:solidFill>
                  <a:schemeClr val="lt2"/>
                </a:solidFill>
              </a:rPr>
              <a:t>- JSON-файлы (appsettings.json) - процесс разработки</a:t>
            </a:r>
            <a:br>
              <a:rPr lang="ru" sz="1100">
                <a:solidFill>
                  <a:schemeClr val="lt2"/>
                </a:solidFill>
              </a:rPr>
            </a:br>
            <a:r>
              <a:rPr lang="ru" sz="1100">
                <a:solidFill>
                  <a:schemeClr val="lt2"/>
                </a:solidFill>
              </a:rPr>
              <a:t>- Переменные окружения - прод</a:t>
            </a:r>
            <a:br>
              <a:rPr lang="ru" sz="1100">
                <a:solidFill>
                  <a:schemeClr val="lt2"/>
                </a:solidFill>
              </a:rPr>
            </a:br>
            <a:r>
              <a:rPr lang="ru" sz="1100">
                <a:solidFill>
                  <a:schemeClr val="lt2"/>
                </a:solidFill>
              </a:rPr>
              <a:t>- Аргументы командной строки</a:t>
            </a:r>
            <a:br>
              <a:rPr lang="ru" sz="1100">
                <a:solidFill>
                  <a:schemeClr val="lt2"/>
                </a:solidFill>
              </a:rPr>
            </a:br>
            <a:r>
              <a:rPr lang="ru" sz="1100">
                <a:solidFill>
                  <a:schemeClr val="lt2"/>
                </a:solidFill>
              </a:rPr>
              <a:t>- Пользовательские провайдеры (пока непонятно и не нужно)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210900" y="3880800"/>
            <a:ext cx="52827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lt2"/>
                </a:solidFill>
              </a:rPr>
              <a:t>Правило приоритетов:</a:t>
            </a:r>
            <a:r>
              <a:rPr lang="ru" sz="1100">
                <a:solidFill>
                  <a:schemeClr val="lt2"/>
                </a:solidFill>
              </a:rPr>
              <a:t> последние источники перекрывают предыдущие.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100">
                <a:solidFill>
                  <a:schemeClr val="lt2"/>
                </a:solidFill>
              </a:rPr>
              <a:t>Пример: если в appsettings.json порт 5000, а в переменной окружения Kestrel__Endpoints__Http__Url=http://*:6000, Kestrel запустится на 6000.</a:t>
            </a:r>
            <a:endParaRPr sz="1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Базовые лимиты и таймауты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6386400" y="1152475"/>
            <a:ext cx="244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Отключает медленных клиентов.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Отрубает длинные запросы.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Экономит память и потоки.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Лайтовая DoS устойчивость.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934075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Сертификаты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20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Можно Dev (самоподписанный сертификат). Просто UseHttps().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Либо импортировать нормальный сертификат .pfx.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61075"/>
            <a:ext cx="8185776" cy="27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7641"/>
            <a:ext cx="9144000" cy="4928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Обратный прокси (теория)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10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/>
              <a:t>Схема трафика:</a:t>
            </a:r>
            <a:br>
              <a:rPr b="1" lang="ru" sz="1100"/>
            </a:br>
            <a:r>
              <a:rPr lang="ru" sz="1300"/>
              <a:t>Клиент ↔ </a:t>
            </a:r>
            <a:r>
              <a:rPr b="1" lang="ru" sz="1300"/>
              <a:t>Прокси (IIS/Nginx/Apache/Traefik/Ingress)</a:t>
            </a:r>
            <a:r>
              <a:rPr lang="ru" sz="1300"/>
              <a:t> ↔ </a:t>
            </a:r>
            <a:r>
              <a:rPr b="1" lang="ru" sz="1300"/>
              <a:t>Kestrel</a:t>
            </a:r>
            <a:r>
              <a:rPr lang="ru" sz="1300"/>
              <a:t> ↔ Middleware ↔ Ваш код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1939050"/>
            <a:ext cx="84651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>
                <a:solidFill>
                  <a:schemeClr val="lt2"/>
                </a:solidFill>
              </a:rPr>
              <a:t>Роль прокси:</a:t>
            </a:r>
            <a:r>
              <a:rPr lang="ru">
                <a:solidFill>
                  <a:schemeClr val="lt2"/>
                </a:solidFill>
              </a:rPr>
              <a:t> </a:t>
            </a:r>
            <a:r>
              <a:rPr lang="ru" sz="1300">
                <a:solidFill>
                  <a:schemeClr val="lt2"/>
                </a:solidFill>
              </a:rPr>
              <a:t>принимает внешние соединения, решает задачи «перед входом» в приложение: TLS/HTTP2/3, балансировка, сжатие/кэш, лимиты, защита, статика.</a:t>
            </a:r>
            <a:endParaRPr sz="1300">
              <a:solidFill>
                <a:schemeClr val="lt2"/>
              </a:solidFill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311700" y="2772000"/>
            <a:ext cx="7610400" cy="19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ru">
                <a:solidFill>
                  <a:schemeClr val="lt2"/>
                </a:solidFill>
              </a:rPr>
              <a:t>Что именно делает прокси (и чем это полезно):</a:t>
            </a:r>
            <a:br>
              <a:rPr b="1" lang="ru">
                <a:solidFill>
                  <a:schemeClr val="lt2"/>
                </a:solidFill>
              </a:rPr>
            </a:br>
            <a:r>
              <a:rPr b="1" lang="ru" sz="1100">
                <a:solidFill>
                  <a:schemeClr val="lt2"/>
                </a:solidFill>
              </a:rPr>
              <a:t>TLS/HTTPS:</a:t>
            </a:r>
            <a:r>
              <a:rPr lang="ru" sz="1100">
                <a:solidFill>
                  <a:schemeClr val="lt2"/>
                </a:solidFill>
              </a:rPr>
              <a:t> хранит и обновляет сертификаты (удобнее это делать в прокси, а не в каждом микросервисе).</a:t>
            </a:r>
            <a:br>
              <a:rPr lang="ru" sz="1100">
                <a:solidFill>
                  <a:schemeClr val="lt2"/>
                </a:solidFill>
              </a:rPr>
            </a:br>
            <a:r>
              <a:rPr b="1" lang="ru" sz="1100">
                <a:solidFill>
                  <a:schemeClr val="lt2"/>
                </a:solidFill>
              </a:rPr>
              <a:t>Протоколы:</a:t>
            </a:r>
            <a:r>
              <a:rPr lang="ru" sz="1100">
                <a:solidFill>
                  <a:schemeClr val="lt2"/>
                </a:solidFill>
              </a:rPr>
              <a:t> даёт клиентам HTTP/2/3, а «внутрь» ходит обычным HTTP/1.1 (локально проще ходить так).</a:t>
            </a:r>
            <a:br>
              <a:rPr lang="ru" sz="1100">
                <a:solidFill>
                  <a:schemeClr val="lt2"/>
                </a:solidFill>
              </a:rPr>
            </a:br>
            <a:r>
              <a:rPr b="1" lang="ru" sz="1100">
                <a:solidFill>
                  <a:schemeClr val="lt2"/>
                </a:solidFill>
              </a:rPr>
              <a:t>Заголовки клиента:</a:t>
            </a:r>
            <a:r>
              <a:rPr lang="ru" sz="1100">
                <a:solidFill>
                  <a:schemeClr val="lt2"/>
                </a:solidFill>
              </a:rPr>
              <a:t> добавляет X-Forwarded-For (реальный IP), X-Forwarded-Proto(реальный протокол), X-Forwarded-Host (запрашивамый домен). Зачем? Следующий слайд</a:t>
            </a:r>
            <a:br>
              <a:rPr lang="ru" sz="1100">
                <a:solidFill>
                  <a:schemeClr val="lt2"/>
                </a:solidFill>
              </a:rPr>
            </a:br>
            <a:r>
              <a:rPr b="1" lang="ru" sz="1100">
                <a:solidFill>
                  <a:schemeClr val="lt2"/>
                </a:solidFill>
              </a:rPr>
              <a:t>Сжатие/кэш:</a:t>
            </a:r>
            <a:r>
              <a:rPr lang="ru" sz="1100">
                <a:solidFill>
                  <a:schemeClr val="lt2"/>
                </a:solidFill>
              </a:rPr>
              <a:t> gzip/brotli, кеширование статики с Cache-Control: public, max-age, immutable. (быстрее, легче)</a:t>
            </a:r>
            <a:br>
              <a:rPr lang="ru" sz="1100">
                <a:solidFill>
                  <a:schemeClr val="lt2"/>
                </a:solidFill>
              </a:rPr>
            </a:br>
            <a:r>
              <a:rPr b="1" lang="ru" sz="1100">
                <a:solidFill>
                  <a:schemeClr val="lt2"/>
                </a:solidFill>
              </a:rPr>
              <a:t>Ограничения и защита:</a:t>
            </a:r>
            <a:r>
              <a:rPr lang="ru" sz="1100">
                <a:solidFill>
                  <a:schemeClr val="lt2"/>
                </a:solidFill>
              </a:rPr>
              <a:t> rate limiting, size limits, timeouts; базовый DoS-щит. (можно через Kestrel, но разграничиваем отсветственность)</a:t>
            </a:r>
            <a:br>
              <a:rPr lang="ru" sz="1100">
                <a:solidFill>
                  <a:schemeClr val="lt2"/>
                </a:solidFill>
              </a:rPr>
            </a:br>
            <a:r>
              <a:rPr b="1" lang="ru" sz="1100">
                <a:solidFill>
                  <a:schemeClr val="lt2"/>
                </a:solidFill>
              </a:rPr>
              <a:t>Статика:</a:t>
            </a:r>
            <a:r>
              <a:rPr lang="ru" sz="1100">
                <a:solidFill>
                  <a:schemeClr val="lt2"/>
                </a:solidFill>
              </a:rPr>
              <a:t> раздаёт файлы без участия .NET, экономя CPU/RAM приложения. (аналогично)</a:t>
            </a:r>
            <a:endParaRPr sz="1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Обратный прокси (настройка)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50" y="1017725"/>
            <a:ext cx="4978326" cy="398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5181750" y="1152475"/>
            <a:ext cx="36507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Зачем? Чтобы приложение понимало, где реальные данные, а где данные прокси.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Маленькие файлы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прием</a:t>
            </a:r>
            <a:b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MapPost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"/upload"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async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(IFormFile file) =&gt;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using var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ms =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MemoryStream();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await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file.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CopyToAsync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(ms);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файл полностью загружается в память. норм до 5-10MB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Results.</a:t>
            </a:r>
            <a:r>
              <a:rPr i="1"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Ok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Size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 ms.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Length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4"/>
          <p:cNvSpPr txBox="1"/>
          <p:nvPr/>
        </p:nvSpPr>
        <p:spPr>
          <a:xfrm>
            <a:off x="311700" y="2702400"/>
            <a:ext cx="85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передача</a:t>
            </a:r>
            <a:b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app.MapGet("/download", () =&gt; Results.File("file.txt", "text/plain"));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Большие файлы</a:t>
            </a:r>
            <a:endParaRPr/>
          </a:p>
        </p:txBody>
      </p:sp>
      <p:sp>
        <p:nvSpPr>
          <p:cNvPr id="144" name="Google Shape;144;p25"/>
          <p:cNvSpPr txBox="1"/>
          <p:nvPr/>
        </p:nvSpPr>
        <p:spPr>
          <a:xfrm>
            <a:off x="311700" y="1077125"/>
            <a:ext cx="86241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прием</a:t>
            </a:r>
            <a:b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MapPost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"/upload"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async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(HttpRequest request) =&gt;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filePath = Path.</a:t>
            </a:r>
            <a:r>
              <a:rPr i="1"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GetTempFileName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await using var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fs =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FileStream(filePath, FileMode.</a:t>
            </a:r>
            <a:r>
              <a:rPr i="1"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await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request.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CopyToAsync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(fs);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поток копируется напрямую на диск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Results.</a:t>
            </a:r>
            <a:r>
              <a:rPr i="1"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Ok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Path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 filePath });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311700" y="2887250"/>
            <a:ext cx="85206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передача</a:t>
            </a:r>
            <a:b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MapGet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"/big"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async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(HttpResponse response) =&gt;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response.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ContentType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ru" sz="11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"application/octet-stream"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await using var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fs =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FileStream(</a:t>
            </a:r>
            <a:r>
              <a:rPr lang="ru" sz="11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"big.iso"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FileMode.</a:t>
            </a:r>
            <a:r>
              <a:rPr i="1"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await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fs.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CopyToAsync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(response.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потоково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Снятия ограничений на EndPoints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522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app.MapPost(</a:t>
            </a:r>
            <a:r>
              <a:rPr lang="ru" sz="11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"/upload"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async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context =&gt;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feature = context.Features.Get&lt;IHttpMaxRequestBodySizeFeature&gt;();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(feature !=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feature.MaxRequestBodySize =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снимаем лимит только тут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filePath = Path.GetTempFileName();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using var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fs =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FileStream(filePath, FileMode.Create);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await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context.Request.Body.CopyToAsync(fs);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await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context.Response.WriteAsJsonAsync(</a:t>
            </a: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Path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 filePath });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87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Диагностика и </a:t>
            </a:r>
            <a:r>
              <a:rPr lang="ru"/>
              <a:t>логирование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311700" y="1152475"/>
            <a:ext cx="8520600" cy="16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builder = WebApplication.</a:t>
            </a:r>
            <a:r>
              <a:rPr i="1"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CreateBuilder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(args);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builder.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ClearProviders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отключаем дефолтные провайдеры (по желанию)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builder.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AddConsole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();    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вывод логов в консоль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builder.</a:t>
            </a:r>
            <a:r>
              <a:rPr lang="ru" sz="1100">
                <a:solidFill>
                  <a:srgbClr val="C77DBB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AddDebug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();       </a:t>
            </a:r>
            <a:r>
              <a:rPr lang="ru" sz="11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// вывод логов в Debug Output (IDE)</a:t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 = builder.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app.</a:t>
            </a:r>
            <a:r>
              <a:rPr lang="ru" sz="1100">
                <a:solidFill>
                  <a:srgbClr val="57AAF7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ru" sz="11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1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50375"/>
            <a:ext cx="33242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025" y="3859750"/>
            <a:ext cx="33909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4375" y="3859750"/>
            <a:ext cx="36957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0075" y="3081225"/>
            <a:ext cx="325755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7"/>
          <p:cNvSpPr txBox="1"/>
          <p:nvPr/>
        </p:nvSpPr>
        <p:spPr>
          <a:xfrm>
            <a:off x="114725" y="26195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lt2"/>
                </a:solidFill>
              </a:rPr>
              <a:t>Старт:</a:t>
            </a:r>
            <a:endParaRPr/>
          </a:p>
        </p:txBody>
      </p:sp>
      <p:sp>
        <p:nvSpPr>
          <p:cNvPr id="163" name="Google Shape;163;p27"/>
          <p:cNvSpPr txBox="1"/>
          <p:nvPr/>
        </p:nvSpPr>
        <p:spPr>
          <a:xfrm>
            <a:off x="152400" y="33980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lt2"/>
                </a:solidFill>
              </a:rPr>
              <a:t>Протоколы</a:t>
            </a:r>
            <a:r>
              <a:rPr lang="ru" sz="1800">
                <a:solidFill>
                  <a:schemeClr val="lt2"/>
                </a:solidFill>
              </a:rPr>
              <a:t>:</a:t>
            </a:r>
            <a:endParaRPr/>
          </a:p>
        </p:txBody>
      </p:sp>
      <p:sp>
        <p:nvSpPr>
          <p:cNvPr id="164" name="Google Shape;164;p27"/>
          <p:cNvSpPr txBox="1"/>
          <p:nvPr/>
        </p:nvSpPr>
        <p:spPr>
          <a:xfrm>
            <a:off x="3829400" y="26195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lt2"/>
                </a:solidFill>
              </a:rPr>
              <a:t>Лимиты</a:t>
            </a:r>
            <a:r>
              <a:rPr lang="ru" sz="1800">
                <a:solidFill>
                  <a:schemeClr val="lt2"/>
                </a:solidFill>
              </a:rPr>
              <a:t>:</a:t>
            </a:r>
            <a:endParaRPr/>
          </a:p>
        </p:txBody>
      </p:sp>
      <p:sp>
        <p:nvSpPr>
          <p:cNvPr id="165" name="Google Shape;165;p27"/>
          <p:cNvSpPr txBox="1"/>
          <p:nvPr/>
        </p:nvSpPr>
        <p:spPr>
          <a:xfrm>
            <a:off x="3873450" y="33980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lt2"/>
                </a:solidFill>
              </a:rPr>
              <a:t>Таймаут</a:t>
            </a:r>
            <a:r>
              <a:rPr lang="ru" sz="1800">
                <a:solidFill>
                  <a:schemeClr val="lt2"/>
                </a:solidFill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Теория надоела.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Посмотрим скрипты, с которыми будет интерактив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05326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Теория надоела // Интерактив // Тесты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286200" y="1158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Подрубаемся к WI-FI (Kestrel-test, 123321abcd)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Открываем 192.168.1.2/ping (проверяем доступность страницы)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Запускаем проект из телеги, подготавливаем к запуску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Результаты прогонов (позже) вставляем в табличку (линк - clck.ru/3PE9WU)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311700" y="1993800"/>
            <a:ext cx="8520600" cy="15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Почему важно сообщить проекту, что мы используем прокси // Интерактив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