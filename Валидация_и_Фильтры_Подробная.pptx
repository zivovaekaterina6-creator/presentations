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Lexend"/>
      <p:regular r:id="rId22"/>
      <p:bold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i9pst4aeRWpEZ3q1h4dlAqByr3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exend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regular.fntdata"/><Relationship Id="rId23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customschemas.google.com/relationships/presentationmetadata" Target="meta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1f4c375c4_3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1f4c375c4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1f4c375c4_3_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1f4c375c4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1f4c375c4_3_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1f4c375c4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1f4c375c4_3_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81f4c375c4_3_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81f4c375c4_3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81f4c375c4_3_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81f4c375c4_3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81f4c375c4_3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81f4c375c4_3_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81f4c375c4_3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81f4c375c4_3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81f4c375c4_3_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81f4c375c4_3_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81f4c375c4_3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81f4c375c4_3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81f4c375c4_3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81f4c375c4_3_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81f4c375c4_3_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81f4c375c4_3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1f4c375c4_3_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81f4c375c4_3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81f4c375c4_3_30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81f4c375c4_3_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81f4c375c4_3_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81f4c375c4_3_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g381f4c375c4_3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81f4c375c4_3_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81f4c375c4_3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1f4c375c4_3_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81f4c375c4_3_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81f4c375c4_3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1f4c375c4_3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1f4c375c4_3_4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g381f4c375c4_3_4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g381f4c375c4_3_4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381f4c375c4_3_4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81f4c375c4_3_4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1f4c375c4_3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81f4c375c4_3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g381f4c375c4_3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invicti.com/blog/web-security/input-validation-errors-root-of-all-evil/#:~:text=When%20reading%20about%20web%20vulnerabilities,all%20sorts%20of%20security%20headach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1f4c375c4_3_51"/>
          <p:cNvSpPr txBox="1"/>
          <p:nvPr>
            <p:ph type="title"/>
          </p:nvPr>
        </p:nvSpPr>
        <p:spPr>
          <a:xfrm>
            <a:off x="457200" y="1719597"/>
            <a:ext cx="8229600" cy="1704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latin typeface="Lexend"/>
                <a:ea typeface="Lexend"/>
                <a:cs typeface="Lexend"/>
                <a:sym typeface="Lexend"/>
              </a:rPr>
              <a:t>Валидация входных параметров и фильтрация данных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g381f4c375c4_3_51"/>
          <p:cNvSpPr txBox="1"/>
          <p:nvPr>
            <p:ph idx="1" type="body"/>
          </p:nvPr>
        </p:nvSpPr>
        <p:spPr>
          <a:xfrm>
            <a:off x="5841300" y="4448100"/>
            <a:ext cx="3302700" cy="69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Лопатин Никита 11-409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Генералов Виктор 11-409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Что такое валидация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Валидация – процесс проверки правильности и соответствия входных данных заданным правилам (форматам, диапазонам и пр.)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Примеры:</a:t>
            </a:r>
            <a:endParaRPr/>
          </a:p>
          <a:p>
            <a:pPr indent="-2984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Строка не пустая</a:t>
            </a:r>
            <a:endParaRPr/>
          </a:p>
          <a:p>
            <a:pPr indent="-2984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Число в допустимом диапазоне</a:t>
            </a:r>
            <a:endParaRPr/>
          </a:p>
          <a:p>
            <a:pPr indent="-2984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содержит @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Это защищает приложение от ошибок и атак.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Что такое фильтрация</a:t>
            </a:r>
            <a:endParaRPr/>
          </a:p>
        </p:txBody>
      </p:sp>
      <p:sp>
        <p:nvSpPr>
          <p:cNvPr id="73" name="Google Shape;73;p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10000"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Фильтрация —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очистка или преобразование входных данных для удаления/замены нежелательного содержимого.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Примеры:</a:t>
            </a:r>
            <a:endParaRPr/>
          </a:p>
          <a:p>
            <a:pPr indent="-28321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Убрать пробелы (Trim)</a:t>
            </a:r>
            <a:endParaRPr/>
          </a:p>
          <a:p>
            <a:pPr indent="-28321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Удалить HTML-теги</a:t>
            </a:r>
            <a:endParaRPr/>
          </a:p>
          <a:p>
            <a:pPr indent="-28321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Преобразовать строку в нижний/верхний регистр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Фильтрация делает данные безопасными для хранения и отображения.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Зачем это нужно</a:t>
            </a:r>
            <a:endParaRPr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4290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Безопасность: </a:t>
            </a: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неподтвержденный</a:t>
            </a: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пользовательский ввод – главная причина уязвимостей (XSS (Атака на пользователя), SQL-инъекции(на базу данных) и др.).</a:t>
            </a:r>
            <a:endParaRPr sz="1750">
              <a:solidFill>
                <a:srgbClr val="FFFFFF"/>
              </a:solidFill>
              <a:highlight>
                <a:schemeClr val="lt1"/>
              </a:highlight>
              <a:uFill>
                <a:noFill/>
              </a:uFill>
              <a:latin typeface="Calibri"/>
              <a:ea typeface="Calibri"/>
              <a:cs typeface="Calibri"/>
              <a:sym typeface="Calibri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39725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Тщательная валидация на входе препятствует внедрению «строк атаки» и тем самым снижает риск взлома (XSS, SQLi (внедрение в запросы к базе данных), RCE (Удаленное выполнение кода на сервере) и др.).</a:t>
            </a:r>
            <a:endParaRPr sz="1750">
              <a:solidFill>
                <a:srgbClr val="FFFFFF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Надежность</a:t>
            </a: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: гарантируется, что приложение получит данные в ожидаемом формате и диапазоне. </a:t>
            </a: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Неправильные данные могут вызвать ошибку или падение системы.</a:t>
            </a:r>
            <a:endParaRPr sz="1750">
              <a:solidFill>
                <a:srgbClr val="FFFFFF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429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Calibri"/>
              <a:buChar char="●"/>
            </a:pP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Удобство: пользователю сразу показываются ошибки ввода, не приходится отправлять форму на сервер и смотреть на необработанную ошибку.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Простая проверка на сервере</a:t>
            </a:r>
            <a:endParaRPr/>
          </a:p>
        </p:txBody>
      </p:sp>
      <p:sp>
        <p:nvSpPr>
          <p:cNvPr id="85" name="Google Shape;85;p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</a:rPr>
              <a:t>Такой код защищает сервер от некорректных значений.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6" name="Google Shape;8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329" y="886788"/>
            <a:ext cx="2329649" cy="30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Проверка формата</a:t>
            </a:r>
            <a:endParaRPr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138050" y="1126125"/>
            <a:ext cx="53847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Простой пример проверки валидности Email адреса.</a:t>
            </a:r>
            <a:endParaRPr sz="400"/>
          </a:p>
        </p:txBody>
      </p:sp>
      <p:pic>
        <p:nvPicPr>
          <p:cNvPr id="93" name="Google Shape;93;p6"/>
          <p:cNvPicPr preferRelativeResize="0"/>
          <p:nvPr/>
        </p:nvPicPr>
        <p:blipFill rotWithShape="1">
          <a:blip r:embed="rId3">
            <a:alphaModFix/>
          </a:blip>
          <a:srcRect b="0" l="0" r="31796" t="28871"/>
          <a:stretch/>
        </p:blipFill>
        <p:spPr>
          <a:xfrm>
            <a:off x="612250" y="2024150"/>
            <a:ext cx="7529700" cy="17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1f4c375c4_3_61"/>
          <p:cNvSpPr txBox="1"/>
          <p:nvPr>
            <p:ph type="title"/>
          </p:nvPr>
        </p:nvSpPr>
        <p:spPr>
          <a:xfrm>
            <a:off x="143400" y="152650"/>
            <a:ext cx="8880900" cy="1419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b="1" lang="en-US" sz="440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Типы валидации: клиентская и серверная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81f4c375c4_3_61"/>
          <p:cNvSpPr txBox="1"/>
          <p:nvPr>
            <p:ph idx="1" type="body"/>
          </p:nvPr>
        </p:nvSpPr>
        <p:spPr>
          <a:xfrm>
            <a:off x="457200" y="1463800"/>
            <a:ext cx="8229600" cy="3394500"/>
          </a:xfrm>
          <a:prstGeom prst="rect">
            <a:avLst/>
          </a:prstGeom>
          <a:noFill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50">
              <a:solidFill>
                <a:srgbClr val="FFFFFF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750"/>
              <a:buChar char="●"/>
            </a:pP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Клиентская валидация: выполняется в браузере сразу при вводе (HTML5-валидация и/или JavaScript). Например, HTML-атрибуты required, type="email", pattern, minlength позволяют браузеру проверять ввод ещё до отправки формы.</a:t>
            </a:r>
            <a:endParaRPr sz="1750">
              <a:solidFill>
                <a:srgbClr val="FFFFFF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Char char="●"/>
            </a:pP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Серверная валидация: выполняется на сервере после получения данных от клиента. Именно на сервере нельзя доверять данным – даже если клиентская валидация есть, злоумышленник может </a:t>
            </a: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ее</a:t>
            </a:r>
            <a:r>
              <a:rPr lang="en-US" sz="1750">
                <a:solidFill>
                  <a:srgbClr val="FFFFFF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обойти. Поэтому все входные данные нужно перепроверять на сервере.</a:t>
            </a:r>
            <a:endParaRPr sz="17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Проверка и 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у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даление HTML-тегов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на клиенте (HTML5)</a:t>
            </a:r>
            <a:endParaRPr/>
          </a:p>
        </p:txBody>
      </p:sp>
      <p:sp>
        <p:nvSpPr>
          <p:cNvPr id="105" name="Google Shape;105;p7"/>
          <p:cNvSpPr txBox="1"/>
          <p:nvPr>
            <p:ph idx="1" type="body"/>
          </p:nvPr>
        </p:nvSpPr>
        <p:spPr>
          <a:xfrm>
            <a:off x="422425" y="12488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HTML5 </a:t>
            </a:r>
            <a:r>
              <a:rPr lang="en-US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дает</a:t>
            </a:r>
            <a:r>
              <a:rPr lang="en-US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простые способы проверки прямо в браузере: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</a:rPr>
              <a:t>Атрибут required не даст отправить пустое поле.</a:t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</a:rPr>
              <a:t>Атрибут type="email" проверит наличие @.</a:t>
            </a:r>
            <a:endParaRPr sz="25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550">
                <a:solidFill>
                  <a:schemeClr val="dk1"/>
                </a:solidFill>
              </a:rPr>
              <a:t>min и max проверят, что число в нужном диапазоне.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7"/>
          <p:cNvPicPr preferRelativeResize="0"/>
          <p:nvPr/>
        </p:nvPicPr>
        <p:blipFill rotWithShape="1">
          <a:blip r:embed="rId3">
            <a:alphaModFix/>
          </a:blip>
          <a:srcRect b="0" l="0" r="0" t="24981"/>
          <a:stretch/>
        </p:blipFill>
        <p:spPr>
          <a:xfrm>
            <a:off x="457200" y="1688300"/>
            <a:ext cx="6763249" cy="135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Серверная проверка важнее</a:t>
            </a:r>
            <a:endParaRPr/>
          </a:p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Даже если есть HTML5-валидация, </a:t>
            </a:r>
            <a:r>
              <a:rPr b="1" lang="en-US">
                <a:solidFill>
                  <a:schemeClr val="dk1"/>
                </a:solidFill>
              </a:rPr>
              <a:t>обязательно проверяйте данные на сервере</a:t>
            </a:r>
            <a:r>
              <a:rPr lang="en-US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Почему?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Злоумышленник может отключить JavaScript или отправить запрос напрямую.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solidFill>
                  <a:schemeClr val="dk1"/>
                </a:solidFill>
              </a:rPr>
              <a:t>Сервер — это последняя линия защиты.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50" y="1480375"/>
            <a:ext cx="5705275" cy="208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Фильтрация данных</a:t>
            </a:r>
            <a:endParaRPr/>
          </a:p>
        </p:txBody>
      </p:sp>
      <p:pic>
        <p:nvPicPr>
          <p:cNvPr id="119" name="Google Shape;119;p9"/>
          <p:cNvPicPr preferRelativeResize="0"/>
          <p:nvPr/>
        </p:nvPicPr>
        <p:blipFill rotWithShape="1">
          <a:blip r:embed="rId3">
            <a:alphaModFix/>
          </a:blip>
          <a:srcRect b="0" l="0" r="0" t="21801"/>
          <a:stretch/>
        </p:blipFill>
        <p:spPr>
          <a:xfrm>
            <a:off x="457200" y="1635550"/>
            <a:ext cx="7890075" cy="181199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9"/>
          <p:cNvSpPr txBox="1"/>
          <p:nvPr/>
        </p:nvSpPr>
        <p:spPr>
          <a:xfrm>
            <a:off x="312975" y="3526375"/>
            <a:ext cx="80343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Здесь мы: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убрали пробелы по краям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удалили угловые скобки, чтобы никто не вставил </a:t>
            </a:r>
            <a:r>
              <a:rPr lang="en-U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&lt;script&gt;</a:t>
            </a:r>
            <a:r>
              <a:rPr lang="en-US" sz="1800"/>
              <a:t>.</a:t>
            </a:r>
            <a:r>
              <a:rPr lang="en-US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Защита от SQL-инъекций</a:t>
            </a:r>
            <a:endParaRPr/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457200" y="1200150"/>
            <a:ext cx="8229600" cy="3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 Плохо: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Хорошо: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6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Здесь данные передаются как параметр, а не как кусок SQL-кода.</a:t>
            </a:r>
            <a:endParaRPr sz="26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399" y="1200150"/>
            <a:ext cx="6474626" cy="92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1"/>
          <p:cNvPicPr preferRelativeResize="0"/>
          <p:nvPr/>
        </p:nvPicPr>
        <p:blipFill rotWithShape="1">
          <a:blip r:embed="rId4">
            <a:alphaModFix/>
          </a:blip>
          <a:srcRect b="-6849" l="0" r="-6849" t="0"/>
          <a:stretch/>
        </p:blipFill>
        <p:spPr>
          <a:xfrm>
            <a:off x="1934400" y="2571752"/>
            <a:ext cx="7057251" cy="1895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Безопасная работа с формами</a:t>
            </a:r>
            <a:endParaRPr/>
          </a:p>
        </p:txBody>
      </p:sp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Проверяйте все поля на сервере</a:t>
            </a:r>
            <a:endParaRPr sz="32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 передавайте лишние поля</a:t>
            </a:r>
            <a:endParaRPr sz="32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Используйте method="post"</a:t>
            </a:r>
            <a:endParaRPr sz="3200"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критичных данных — HTTPS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Типичные ошибки</a:t>
            </a:r>
            <a:endParaRPr/>
          </a:p>
        </p:txBody>
      </p:sp>
      <p:sp>
        <p:nvSpPr>
          <p:cNvPr id="140" name="Google Shape;14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Проверка только на клиенте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Слепое доверие данным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Отсутствие фильтрации (XSS)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Слабые проверки пароля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Подстановка строк в SQL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Практика</a:t>
            </a:r>
            <a:endParaRPr/>
          </a:p>
        </p:txBody>
      </p:sp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1. Система регистрации пользователей с комплексной валидацией Задача: Создать систему регистрации с проверкой: </a:t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Логин: 4-20 символов, только буквы/цифры, не должно быть запрещенных слов </a:t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Пароль: минимум 8 символов, обязательны заглавная буква, цифра и спецсимвол </a:t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Email: валидация формата + проверка домена на черный список </a:t>
            </a:r>
            <a:endParaRPr/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Телефон: российский формат, очистка от лишних символов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1f4c375c4_3_93"/>
          <p:cNvSpPr txBox="1"/>
          <p:nvPr/>
        </p:nvSpPr>
        <p:spPr>
          <a:xfrm>
            <a:off x="0" y="0"/>
            <a:ext cx="9144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public class Validator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{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public List&lt;string&gt; Errors = new List&lt;string&gt;();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public Validator CheckLogin(User user)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{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Check(!string.IsNullOrEmpty(user.Login), "Логин не может быть пустым");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Check(user.Login?.Length &gt;= 4 &amp;&amp; user.Login.Length &lt;= 20, "Логин должен быть от 4 до 20 символов");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Check(System.Text.RegularExpressions.Regex.IsMatch(user.Login ?? "", "^[a-zA-Z0-9]+$"), "Логин может содержать только буквы и цифры");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return this;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}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public Validator CheckPassword(User user)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{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Check(!string.IsNullOrEmpty(user.Password), "Пароль не может быть пустым");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Check(user.Password?.Length &gt;= 8, "Пароль должен быть не менее 8 символов");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Check(user.Password?.Any(char.IsUpper) == true, "Пароль должен содержать заглавную букву");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Check(user.Password?.Any(char.IsDigit) == true, "Пароль должен содержать цифру");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return this;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}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public Validator CheckEmail(User user)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{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Check(!string.IsNullOrEmpty(user.Email), "Email не может быть пустым");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Check(user.Email?.Contains("@") == true &amp;&amp; user.Email.Contains("."), "Некорректный email");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return this;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}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public Validator CheckAge(User user)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{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Check(user.Age &gt;= 1 &amp;&amp; user.Age &lt;= 120, "Возраст должен быть от 1 до 120 лет");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return this;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}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private void Check(bool condition, string error)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{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    if (!condition) Errors.Add(error);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}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    public bool IsValid =&gt; Errors.Count == 0;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lt2"/>
                </a:solidFill>
              </a:rPr>
              <a:t>}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Итоги</a:t>
            </a:r>
            <a:endParaRPr/>
          </a:p>
        </p:txBody>
      </p:sp>
      <p:sp>
        <p:nvSpPr>
          <p:cNvPr id="157" name="Google Shape;157;p1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Проверяйте и фильтруйте все данные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Валидация и на клиенте, и на сервере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Фильтрация делает данные безопасными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Никогда не доверяйте данным от пользователя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