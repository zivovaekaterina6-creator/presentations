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Nunito"/>
      <p:regular r:id="rId38"/>
      <p:bold r:id="rId39"/>
      <p:italic r:id="rId40"/>
      <p:boldItalic r:id="rId41"/>
    </p:embeddedFont>
    <p:embeddedFont>
      <p:font typeface="Maven Pro"/>
      <p:regular r:id="rId42"/>
      <p:bold r:id="rId43"/>
    </p:embeddedFont>
    <p:embeddedFont>
      <p:font typeface="Nunito Medium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italic.fntdata"/><Relationship Id="rId42" Type="http://schemas.openxmlformats.org/officeDocument/2006/relationships/font" Target="fonts/MavenPro-regular.fntdata"/><Relationship Id="rId41" Type="http://schemas.openxmlformats.org/officeDocument/2006/relationships/font" Target="fonts/Nunito-boldItalic.fntdata"/><Relationship Id="rId44" Type="http://schemas.openxmlformats.org/officeDocument/2006/relationships/font" Target="fonts/NunitoMedium-regular.fntdata"/><Relationship Id="rId43" Type="http://schemas.openxmlformats.org/officeDocument/2006/relationships/font" Target="fonts/MavenPro-bold.fntdata"/><Relationship Id="rId46" Type="http://schemas.openxmlformats.org/officeDocument/2006/relationships/font" Target="fonts/NunitoMedium-italic.fntdata"/><Relationship Id="rId45" Type="http://schemas.openxmlformats.org/officeDocument/2006/relationships/font" Target="fonts/Nunito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NunitoMedium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Nunito-bold.fntdata"/><Relationship Id="rId38" Type="http://schemas.openxmlformats.org/officeDocument/2006/relationships/font" Target="fonts/Nunit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beaa97bf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beaa97bf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c6b6967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c6b6967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beaa97bfd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beaa97bfd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beaa97bfd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beaa97bfd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beaa97bfd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beaa97bfd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beaa97bfd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beaa97bfd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beaa97bfd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beaa97bfd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beaa97bfd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beaa97bf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beaa97bfd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8beaa97bf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beaa97bfd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beaa97bfd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beaa97bfd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beaa97bfd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beaa97bfd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beaa97bfd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beaa97bfd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8beaa97bfd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beaa97bfd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beaa97bfd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beaa97bfd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beaa97bfd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beaa97bfd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8beaa97bfd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beaa97bfd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8beaa97bfd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8beaa97bfd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8beaa97bfd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8beaa97bfd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8beaa97bfd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8beaa97bfd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8beaa97bfd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8beaa97bfd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8beaa97bfd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beaa97bfd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8beaa97bf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beaa97bfd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beaa97bfd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8beaa97bfd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8beaa97bfd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8beaa97bfd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8beaa97bfd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8beaa97bfd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8beaa97bfd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8beaa97bfd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8beaa97bfd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8beaa97bfd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8beaa97bfd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8beaa97bfd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8beaa97bfd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beaa97bfd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8beaa97bfd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8beaa97bfd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8beaa97bfd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ado.net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ado.ne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jp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jpg"/><Relationship Id="rId5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localhost:5224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a.nam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Entity Framework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Галиуллин Карим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Петрухин Кирилл</a:t>
            </a:r>
            <a:endParaRPr/>
          </a:p>
        </p:txBody>
      </p:sp>
      <p:pic>
        <p:nvPicPr>
          <p:cNvPr id="279" name="Google Shape;279;p13" title="original-0e42b719018670e34a02905fd6b27ba4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975" y="377800"/>
            <a:ext cx="3366975" cy="25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нужны базы данных? Почему SQL?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4446800" y="1823850"/>
            <a:ext cx="4194000" cy="14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/>
              <a:t>TODO: убрать этот слайд, потому что они и так должны всё прекрасно понимать</a:t>
            </a:r>
            <a:br>
              <a:rPr lang="ru" sz="1600"/>
            </a:br>
            <a:br>
              <a:rPr lang="ru" sz="1600"/>
            </a:br>
            <a:r>
              <a:rPr lang="ru" sz="1600"/>
              <a:t>Вы же всё понимаете, да?</a:t>
            </a:r>
            <a:endParaRPr sz="1600"/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000" y="1767138"/>
            <a:ext cx="2860825" cy="160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2983700" y="687375"/>
            <a:ext cx="2835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Три реализации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 rotWithShape="1">
          <a:blip r:embed="rId3">
            <a:alphaModFix/>
          </a:blip>
          <a:srcRect b="66749" l="0" r="0" t="15756"/>
          <a:stretch/>
        </p:blipFill>
        <p:spPr>
          <a:xfrm>
            <a:off x="1108675" y="1967250"/>
            <a:ext cx="6585650" cy="172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ADO.NET</a:t>
            </a:r>
            <a:r>
              <a:rPr lang="ru"/>
              <a:t> (Npgsql для PostgreSQL)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0250" y="1820500"/>
            <a:ext cx="2332701" cy="268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400" y="1750300"/>
            <a:ext cx="5895975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ADO.NET</a:t>
            </a:r>
            <a:r>
              <a:rPr lang="ru"/>
              <a:t> (Npgsql для PostgreSQL)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723375" y="1597875"/>
            <a:ext cx="80553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8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Плюсы:</a:t>
            </a:r>
            <a:endParaRPr b="1" sz="18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Полный контроль над SQL.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Максимальная производительность (минимум накладных расходов).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Подходит для очень специфичных или оптимизированных запросов.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8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Минусы:</a:t>
            </a:r>
            <a:endParaRPr b="1" sz="18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Много шаблонного кода</a:t>
            </a: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(boilerplate): открытие/закрытие соединений, маппинг данных вручную.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Уязвимость к SQL-инъекциям</a:t>
            </a: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не использовать параметризованные запросы.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типобезопасности</a:t>
            </a: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на уровне запросов.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Сложно поддерживать</a:t>
            </a: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при росте проекта.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03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поддержки миграций</a:t>
            </a:r>
            <a:r>
              <a:rPr lang="ru" sz="165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отслеживания изменений, lazy loading и т.д.</a:t>
            </a:r>
            <a:endParaRPr sz="165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Dapper </a:t>
            </a:r>
            <a:r>
              <a:rPr lang="ru">
                <a:solidFill>
                  <a:schemeClr val="lt1"/>
                </a:solidFill>
              </a:rPr>
              <a:t>Кирилл лох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25" y="2129525"/>
            <a:ext cx="59150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3538" y="156848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5338" y="1338600"/>
            <a:ext cx="2399551" cy="280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Dapper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257150" y="1891725"/>
            <a:ext cx="7123800" cy="28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51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Плюсы:</a:t>
            </a:r>
            <a:endParaRPr b="1" sz="51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Очень высокая производительность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(почти как ADO.NET).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Простота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минимум абстракций.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Гибкость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вы пишете SQL сами → полный контроль.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Отлично подходит для </a:t>
            </a: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read-heavy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сценариев и сложных запросов.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51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Минусы:</a:t>
            </a:r>
            <a:endParaRPr b="1" sz="51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Всё ещё нужно писать SQL вручную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отслеживания изменений (change tracking)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обновление требует ручного </a:t>
            </a:r>
            <a:r>
              <a:rPr lang="ru" sz="496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встроенных миграций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Нет поддержки LINQ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нельзя писать типобезопасные запросы на C#.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4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Ручное управление связями</a:t>
            </a:r>
            <a:r>
              <a:rPr lang="ru" sz="49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(например, один-ко-многим).</a:t>
            </a:r>
            <a:endParaRPr sz="49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Entity Framework Core</a:t>
            </a:r>
            <a:endParaRPr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25" y="2656250"/>
            <a:ext cx="42291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3125" y="2463875"/>
            <a:ext cx="2451473" cy="13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3763" y="1974400"/>
            <a:ext cx="3527651" cy="235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50" y="271800"/>
            <a:ext cx="8528101" cy="45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988" y="552875"/>
            <a:ext cx="7360025" cy="36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 матчастью покончено,</a:t>
            </a:r>
            <a:br>
              <a:rPr lang="ru"/>
            </a:br>
            <a:r>
              <a:rPr lang="ru"/>
              <a:t>переходим к делу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 чего начать?</a:t>
            </a:r>
            <a:endParaRPr/>
          </a:p>
        </p:txBody>
      </p:sp>
      <p:sp>
        <p:nvSpPr>
          <p:cNvPr id="348" name="Google Shape;348;p24"/>
          <p:cNvSpPr txBox="1"/>
          <p:nvPr>
            <p:ph idx="1" type="body"/>
          </p:nvPr>
        </p:nvSpPr>
        <p:spPr>
          <a:xfrm>
            <a:off x="1303800" y="1566150"/>
            <a:ext cx="73908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ru" sz="1836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&lt;ItemGroup&gt;</a:t>
            </a:r>
            <a:endParaRPr b="1" sz="1836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836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&lt;!-- Только не качайте самые свежие версии,</a:t>
            </a:r>
            <a:endParaRPr b="1" sz="1836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если не устанавливали себе .Net 10 Preview --&gt;</a:t>
            </a:r>
            <a:endParaRPr b="1" sz="1836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836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&lt;PackageReference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836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Microsoft.EntityFrameworkCore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1" sz="1836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9.0.9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1" sz="1836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836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&lt;PackageReference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836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Npgsql.EntityFrameworkCore.PostgreSQL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836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Version</a:t>
            </a: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9.0.4</a:t>
            </a:r>
            <a:r>
              <a:rPr b="1" lang="ru" sz="1836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836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1" sz="1836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36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ru" sz="1836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&lt;/ItemGroup&gt;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Изменить appsettings.(Development.)json</a:t>
            </a:r>
            <a:endParaRPr/>
          </a:p>
        </p:txBody>
      </p:sp>
      <p:sp>
        <p:nvSpPr>
          <p:cNvPr id="354" name="Google Shape;354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ru" sz="1050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ConnectionStrings</a:t>
            </a:r>
            <a:r>
              <a:rPr b="1" lang="ru" sz="1050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DefaultConnection</a:t>
            </a:r>
            <a:r>
              <a:rPr b="1" lang="ru" sz="1050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A31515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"Host=localhost;Port=5432;Database=MyAppDb;Username=postgres;Password=yourpassword"</a:t>
            </a:r>
            <a:endParaRPr b="1" sz="1050">
              <a:solidFill>
                <a:srgbClr val="A31515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ru" sz="1050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LogLevel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"Information"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Microsoft.AspNetCore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"Warning",</a:t>
            </a:r>
            <a:br>
              <a:rPr b="1"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50">
                <a:solidFill>
                  <a:srgbClr val="222222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ru" sz="1050">
                <a:solidFill>
                  <a:srgbClr val="0451A5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Microsoft.EntityFrameworkCore.Database.Command</a:t>
            </a:r>
            <a:r>
              <a:rPr b="1" lang="ru" sz="1050">
                <a:solidFill>
                  <a:srgbClr val="222222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b="1" lang="ru" sz="1050">
                <a:solidFill>
                  <a:srgbClr val="000000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A31515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"Information"</a:t>
            </a:r>
            <a:endParaRPr b="1" sz="1050">
              <a:solidFill>
                <a:srgbClr val="A31515"/>
              </a:solidFill>
              <a:highlight>
                <a:srgbClr val="D9EA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>
            <p:ph idx="1" type="body"/>
          </p:nvPr>
        </p:nvSpPr>
        <p:spPr>
          <a:xfrm>
            <a:off x="1324875" y="287950"/>
            <a:ext cx="7030500" cy="4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Auction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Models;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Microsoft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EntityFrameworkCore;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92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Auction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Database;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92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ApplicationContext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DbContext</a:t>
            </a:r>
            <a:endParaRPr b="1" sz="3592">
              <a:solidFill>
                <a:srgbClr val="267F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DbSet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ApplicationContext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DbContextOptions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ApplicationContext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: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base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Database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EnsureCreated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 </a:t>
            </a:r>
            <a:r>
              <a:rPr b="1" lang="ru" sz="3592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досоздаём необходимое 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92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override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OnModelCreating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ModelBuilder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modelBuilder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modelBuilder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</a:t>
            </a:r>
            <a:endParaRPr b="1" sz="3592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ToTable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3592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"animals"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явное указание имени таблицы</a:t>
            </a:r>
            <a:endParaRPr b="1" sz="3592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Name)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IsRequired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92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ru" sz="3592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modelBuilder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Entity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&gt;()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3592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HasData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"Toad Howard"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52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"Dog Patron"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9999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3592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"Lion DeathInPoverty"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3592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666</a:t>
            </a: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92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3592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 DbContext</a:t>
            </a:r>
            <a:endParaRPr/>
          </a:p>
        </p:txBody>
      </p:sp>
      <p:sp>
        <p:nvSpPr>
          <p:cNvPr id="365" name="Google Shape;365;p27"/>
          <p:cNvSpPr txBox="1"/>
          <p:nvPr>
            <p:ph idx="1" type="body"/>
          </p:nvPr>
        </p:nvSpPr>
        <p:spPr>
          <a:xfrm>
            <a:off x="1303800" y="1534975"/>
            <a:ext cx="7030500" cy="29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Он представляет: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 Medium"/>
              <a:buChar char="●"/>
            </a:pPr>
            <a:r>
              <a:rPr lang="ru" u="sng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Сессию</a:t>
            </a:r>
            <a:r>
              <a:rPr lang="ru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работы с БД (единицу работы — Unit of Work).</a:t>
            </a:r>
            <a:endParaRPr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 Medium"/>
              <a:buChar char="●"/>
            </a:pPr>
            <a:r>
              <a:rPr lang="ru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Набор коллекций сущностей (</a:t>
            </a:r>
            <a:r>
              <a:rPr lang="ru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DbSet&lt;T&gt;</a:t>
            </a:r>
            <a:r>
              <a:rPr lang="ru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).</a:t>
            </a:r>
            <a:endParaRPr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unito Medium"/>
              <a:buChar char="●"/>
            </a:pPr>
            <a:r>
              <a:rPr lang="ru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ChangeTracker</a:t>
            </a:r>
            <a:r>
              <a:rPr lang="ru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— механизм отслеживания изменений.</a:t>
            </a:r>
            <a:endParaRPr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Нюансы: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Nunito Medium"/>
              <a:buChar char="●"/>
            </a:pPr>
            <a:r>
              <a:rPr lang="ru">
                <a:latin typeface="Nunito Medium"/>
                <a:ea typeface="Nunito Medium"/>
                <a:cs typeface="Nunito Medium"/>
                <a:sym typeface="Nunito Medium"/>
              </a:rPr>
              <a:t>Scoped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 Medium"/>
              <a:buChar char="●"/>
            </a:pPr>
            <a:r>
              <a:rPr lang="ru">
                <a:latin typeface="Nunito Medium"/>
                <a:ea typeface="Nunito Medium"/>
                <a:cs typeface="Nunito Medium"/>
                <a:sym typeface="Nunito Medium"/>
              </a:rPr>
              <a:t>Н</a:t>
            </a:r>
            <a:r>
              <a:rPr lang="ru">
                <a:latin typeface="Nunito Medium"/>
                <a:ea typeface="Nunito Medium"/>
                <a:cs typeface="Nunito Medium"/>
                <a:sym typeface="Nunito Medium"/>
              </a:rPr>
              <a:t>е потокобезопасный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Nunito Medium"/>
              <a:buChar char="●"/>
            </a:pPr>
            <a:r>
              <a:rPr lang="ru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Умеет кэшировать сущности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Регистрация в Program.cs</a:t>
            </a:r>
            <a:endParaRPr/>
          </a:p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1303800" y="1685525"/>
            <a:ext cx="7030500" cy="29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867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WebApplication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CreateBuilder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867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867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AddControllers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867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AddMvc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Filters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1867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HttpExceptionFilter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&gt;());</a:t>
            </a:r>
            <a:endParaRPr b="1" sz="1867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AddSingleton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1867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IDataBase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867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DataBase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&gt;();</a:t>
            </a:r>
            <a:endParaRPr b="1" sz="1867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7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Services</a:t>
            </a: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AddDbContext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1867">
                <a:solidFill>
                  <a:srgbClr val="267F99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ApplicationDbContext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&gt;(</a:t>
            </a:r>
            <a:r>
              <a:rPr b="1" lang="ru" sz="1867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=&gt;</a:t>
            </a:r>
            <a:endParaRPr b="1" sz="1867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867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UseNpgsql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867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Configuration</a:t>
            </a:r>
            <a:r>
              <a:rPr b="1" lang="ru" sz="1867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GetConnectionString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867">
                <a:solidFill>
                  <a:srgbClr val="A31515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"DefaultConnection"</a:t>
            </a:r>
            <a:r>
              <a:rPr b="1" lang="ru" sz="1867">
                <a:solidFill>
                  <a:srgbClr val="222222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)));</a:t>
            </a:r>
            <a:endParaRPr b="1" sz="1867">
              <a:solidFill>
                <a:srgbClr val="222222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7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7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867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ru" sz="1867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867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b="1" lang="ru" sz="186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867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"/>
          <p:cNvSpPr txBox="1"/>
          <p:nvPr>
            <p:ph idx="1" type="body"/>
          </p:nvPr>
        </p:nvSpPr>
        <p:spPr>
          <a:xfrm>
            <a:off x="1418700" y="855125"/>
            <a:ext cx="7060500" cy="5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30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b="1" lang="ru" sz="530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530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MapGet</a:t>
            </a:r>
            <a: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530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530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5301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ApplicationDbContext</a:t>
            </a:r>
            <a:r>
              <a:rPr b="1" lang="ru" sz="530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530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ru" sz="530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5301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530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530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5301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ToList</a:t>
            </a:r>
            <a: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br>
              <a:rPr b="1" lang="ru" sz="5301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"/>
          <p:cNvSpPr txBox="1"/>
          <p:nvPr>
            <p:ph idx="1" type="body"/>
          </p:nvPr>
        </p:nvSpPr>
        <p:spPr>
          <a:xfrm>
            <a:off x="4871275" y="1547350"/>
            <a:ext cx="3918300" cy="31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"id": 1,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"Toad Howard",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"price": 52,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"type": null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"id": 2,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"Dog Patron",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"price": 9999,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"type": null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"id": 3,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"Lion DeathInPoverty",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"price": 666,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"type": null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3478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78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3478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78" name="Google Shape;378;p29"/>
          <p:cNvSpPr txBox="1"/>
          <p:nvPr>
            <p:ph idx="1" type="body"/>
          </p:nvPr>
        </p:nvSpPr>
        <p:spPr>
          <a:xfrm>
            <a:off x="1418700" y="1945100"/>
            <a:ext cx="3153300" cy="25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Проверяем:</a:t>
            </a:r>
            <a:b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http://localhost:5224/</a:t>
            </a: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4D4D4C"/>
                </a:solidFill>
                <a:latin typeface="Courier New"/>
                <a:ea typeface="Courier New"/>
                <a:cs typeface="Courier New"/>
                <a:sym typeface="Courier New"/>
              </a:rPr>
              <a:t>HTTP/1.1 </a:t>
            </a:r>
            <a:r>
              <a:rPr b="1" lang="ru" sz="1050">
                <a:solidFill>
                  <a:srgbClr val="F5871F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1" lang="ru" sz="1050">
                <a:solidFill>
                  <a:srgbClr val="4D4D4C"/>
                </a:solidFill>
                <a:latin typeface="Courier New"/>
                <a:ea typeface="Courier New"/>
                <a:cs typeface="Courier New"/>
                <a:sym typeface="Courier New"/>
              </a:rPr>
              <a:t> OK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/>
          <p:nvPr>
            <p:ph type="title"/>
          </p:nvPr>
        </p:nvSpPr>
        <p:spPr>
          <a:xfrm>
            <a:off x="1564025" y="2859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операции (CRUD)</a:t>
            </a:r>
            <a:endParaRPr/>
          </a:p>
        </p:txBody>
      </p:sp>
      <p:sp>
        <p:nvSpPr>
          <p:cNvPr id="384" name="Google Shape;384;p30"/>
          <p:cNvSpPr txBox="1"/>
          <p:nvPr>
            <p:ph idx="1" type="body"/>
          </p:nvPr>
        </p:nvSpPr>
        <p:spPr>
          <a:xfrm>
            <a:off x="801775" y="1349975"/>
            <a:ext cx="4577400" cy="23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// найти по id (select)</a:t>
            </a:r>
            <a:br>
              <a:rPr lang="ru" sz="4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ru" sz="48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48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FirstOrDefaultAsync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48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 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ru" sz="48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SingleOrDefaultAsync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48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//добавить (insert)</a:t>
            </a:r>
            <a:endParaRPr b="1" sz="48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48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newAnimal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48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8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48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48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SaveChangesAsync</a:t>
            </a:r>
            <a:r>
              <a:rPr b="1" lang="ru" sz="48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48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  <p:sp>
        <p:nvSpPr>
          <p:cNvPr id="385" name="Google Shape;385;p30"/>
          <p:cNvSpPr txBox="1"/>
          <p:nvPr>
            <p:ph idx="1" type="body"/>
          </p:nvPr>
        </p:nvSpPr>
        <p:spPr>
          <a:xfrm>
            <a:off x="5194200" y="890825"/>
            <a:ext cx="3666300" cy="31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удалить (delete)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SaveChangesAsync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b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изменить (update)</a:t>
            </a:r>
            <a:b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animalDto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Name;</a:t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Price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animalDto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Price;</a:t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SaveChangesAsync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"Fluffy"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SaveChangesAsync</a:t>
            </a:r>
            <a:r>
              <a:rPr b="1" lang="ru" sz="12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/>
          </a:p>
        </p:txBody>
      </p:sp>
      <p:sp>
        <p:nvSpPr>
          <p:cNvPr id="386" name="Google Shape;386;p30"/>
          <p:cNvSpPr txBox="1"/>
          <p:nvPr>
            <p:ph idx="1" type="body"/>
          </p:nvPr>
        </p:nvSpPr>
        <p:spPr>
          <a:xfrm>
            <a:off x="1507525" y="4070375"/>
            <a:ext cx="6299100" cy="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81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это, если что, строго говоря, не тот LINQ, что работает с IEnumerable</a:t>
            </a:r>
            <a:br>
              <a:rPr b="1" lang="ru" sz="381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3817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ru" sz="3817">
                <a:solidFill>
                  <a:srgbClr val="001080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IQueryable</a:t>
            </a:r>
            <a:r>
              <a:rPr b="1" lang="ru" sz="3817">
                <a:solidFill>
                  <a:srgbClr val="222222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3817">
                <a:solidFill>
                  <a:srgbClr val="267F99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817">
                <a:solidFill>
                  <a:srgbClr val="222222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&gt;.</a:t>
            </a:r>
            <a:r>
              <a:rPr b="1" lang="ru" sz="3817">
                <a:solidFill>
                  <a:srgbClr val="795E26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FirstOrDefaultAsync</a:t>
            </a:r>
            <a:r>
              <a:rPr b="1" lang="ru" sz="3817">
                <a:solidFill>
                  <a:srgbClr val="222222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ru" sz="3817">
                <a:solidFill>
                  <a:srgbClr val="267F99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3817">
                <a:solidFill>
                  <a:srgbClr val="222222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067"/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66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/>
          <p:nvPr>
            <p:ph type="title"/>
          </p:nvPr>
        </p:nvSpPr>
        <p:spPr>
          <a:xfrm>
            <a:off x="1303800" y="598575"/>
            <a:ext cx="7090500" cy="10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 капотом (микро-интерактив)</a:t>
            </a:r>
            <a:endParaRPr b="0" sz="1800"/>
          </a:p>
        </p:txBody>
      </p:sp>
      <p:sp>
        <p:nvSpPr>
          <p:cNvPr id="392" name="Google Shape;392;p31"/>
          <p:cNvSpPr txBox="1"/>
          <p:nvPr>
            <p:ph idx="1" type="body"/>
          </p:nvPr>
        </p:nvSpPr>
        <p:spPr>
          <a:xfrm>
            <a:off x="1865700" y="1337000"/>
            <a:ext cx="5966700" cy="16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endParaRPr b="1" sz="14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4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"Fluffy"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};	db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Attach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 b="1" sz="14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4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4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Entry</a:t>
            </a: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4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450">
              <a:solidFill>
                <a:srgbClr val="22222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4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Property</a:t>
            </a: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4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4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45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a.Name</a:t>
            </a: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450">
              <a:solidFill>
                <a:srgbClr val="22222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IsModified</a:t>
            </a:r>
            <a:r>
              <a:rPr b="1" lang="ru" sz="14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45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1" lang="ru" sz="14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50">
              <a:solidFill>
                <a:srgbClr val="22222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4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SaveChangesAsync</a:t>
            </a:r>
            <a:r>
              <a:rPr b="1" lang="ru" sz="14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1"/>
          <p:cNvSpPr txBox="1"/>
          <p:nvPr>
            <p:ph idx="1" type="body"/>
          </p:nvPr>
        </p:nvSpPr>
        <p:spPr>
          <a:xfrm>
            <a:off x="2906875" y="3857975"/>
            <a:ext cx="39936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Чё тут происходит?</a:t>
            </a:r>
            <a:br>
              <a:rPr lang="ru" sz="1800">
                <a:latin typeface="Maven Pro"/>
                <a:ea typeface="Maven Pro"/>
                <a:cs typeface="Maven Pro"/>
                <a:sym typeface="Maven Pro"/>
              </a:rPr>
            </a:b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Чем Attach отличается от Update?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 капотом (состояния сущностей)</a:t>
            </a:r>
            <a:endParaRPr/>
          </a:p>
        </p:txBody>
      </p:sp>
      <p:sp>
        <p:nvSpPr>
          <p:cNvPr id="399" name="Google Shape;399;p32"/>
          <p:cNvSpPr txBox="1"/>
          <p:nvPr>
            <p:ph idx="1" type="body"/>
          </p:nvPr>
        </p:nvSpPr>
        <p:spPr>
          <a:xfrm>
            <a:off x="1577850" y="1597875"/>
            <a:ext cx="6482400" cy="27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600"/>
            </a:b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Каждая сущность имеет состояние: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Detached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не отслеживается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Unchanged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отслеживается, но не изменена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Added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будет вставлена (</a:t>
            </a: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Modified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будет обновлена (</a:t>
            </a: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Deleted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будет удалена (</a:t>
            </a:r>
            <a:r>
              <a:rPr lang="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3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b="1" lang="ru" sz="13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3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3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Entry</a:t>
            </a:r>
            <a:r>
              <a:rPr b="1" lang="ru" sz="13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3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3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ru" sz="13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3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State;</a:t>
            </a:r>
            <a:br>
              <a:rPr b="1" lang="ru" sz="13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/>
          <p:nvPr>
            <p:ph type="title"/>
          </p:nvPr>
        </p:nvSpPr>
        <p:spPr>
          <a:xfrm>
            <a:off x="1248975" y="434125"/>
            <a:ext cx="7090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Полезные </a:t>
            </a:r>
            <a:r>
              <a:rPr lang="ru"/>
              <a:t>нюансы</a:t>
            </a:r>
            <a:endParaRPr/>
          </a:p>
        </p:txBody>
      </p:sp>
      <p:sp>
        <p:nvSpPr>
          <p:cNvPr id="405" name="Google Shape;405;p33"/>
          <p:cNvSpPr txBox="1"/>
          <p:nvPr>
            <p:ph idx="1" type="body"/>
          </p:nvPr>
        </p:nvSpPr>
        <p:spPr>
          <a:xfrm>
            <a:off x="1303800" y="1315675"/>
            <a:ext cx="7090500" cy="32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7975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50"/>
              <a:buFont typeface="Courier New"/>
              <a:buChar char="●"/>
            </a:pPr>
            <a:r>
              <a:rPr b="1" lang="ru" sz="1250">
                <a:solidFill>
                  <a:srgbClr val="267F99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b="1" lang="ru" sz="1250">
                <a:solidFill>
                  <a:srgbClr val="00108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250">
                <a:solidFill>
                  <a:srgbClr val="AF00DB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50">
                <a:solidFill>
                  <a:srgbClr val="222222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222222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795E26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FirstOrDefaultAsync</a:t>
            </a:r>
            <a:r>
              <a:rPr b="1" lang="ru" sz="1250">
                <a:solidFill>
                  <a:srgbClr val="222222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250">
                <a:solidFill>
                  <a:srgbClr val="00108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250">
                <a:solidFill>
                  <a:srgbClr val="00108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222222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1250">
                <a:solidFill>
                  <a:srgbClr val="00000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ru" sz="1250">
                <a:solidFill>
                  <a:srgbClr val="001080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1250">
                <a:solidFill>
                  <a:srgbClr val="222222"/>
                </a:solidFill>
                <a:highlight>
                  <a:srgbClr val="FDE3E3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222222"/>
              </a:solidFill>
              <a:highlight>
                <a:srgbClr val="FDE3E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50">
                <a:solidFill>
                  <a:srgbClr val="267F99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50">
                <a:solidFill>
                  <a:srgbClr val="00000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b="1" lang="ru" sz="1250">
                <a:solidFill>
                  <a:srgbClr val="00108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250">
                <a:solidFill>
                  <a:srgbClr val="00000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250">
                <a:solidFill>
                  <a:srgbClr val="AF00DB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250">
                <a:solidFill>
                  <a:srgbClr val="00000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50">
                <a:solidFill>
                  <a:srgbClr val="222222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50">
                <a:solidFill>
                  <a:srgbClr val="00000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222222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250">
                <a:solidFill>
                  <a:srgbClr val="00000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795E26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FindAsync</a:t>
            </a:r>
            <a:r>
              <a:rPr b="1" lang="ru" sz="1250">
                <a:solidFill>
                  <a:srgbClr val="222222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250">
                <a:solidFill>
                  <a:srgbClr val="001080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1250">
                <a:solidFill>
                  <a:srgbClr val="222222"/>
                </a:solidFill>
                <a:highlight>
                  <a:srgbClr val="DAFCD0"/>
                </a:highlight>
                <a:latin typeface="Courier New"/>
                <a:ea typeface="Courier New"/>
                <a:cs typeface="Courier New"/>
                <a:sym typeface="Courier New"/>
              </a:rPr>
              <a:t>); //только по первичному</a:t>
            </a:r>
            <a:endParaRPr b="1" sz="1250">
              <a:solidFill>
                <a:srgbClr val="222222"/>
              </a:solidFill>
              <a:highlight>
                <a:srgbClr val="DAFCD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u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2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2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2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2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2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2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2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AsNoTracking</a:t>
            </a:r>
            <a:r>
              <a:rPr b="1" lang="ru" sz="12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//для неизменяемых данных</a:t>
            </a:r>
            <a:br>
              <a:rPr b="1" lang="ru" sz="12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2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u" sz="12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Вспоминаем про Select</a:t>
            </a:r>
            <a:br>
              <a:rPr b="1" lang="ru" sz="12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animalNames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b="1"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← анонимный тип или DTO</a:t>
            </a: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ToListAsync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Полезные нюансы</a:t>
            </a:r>
            <a:endParaRPr/>
          </a:p>
        </p:txBody>
      </p:sp>
      <p:sp>
        <p:nvSpPr>
          <p:cNvPr id="411" name="Google Shape;411;p34"/>
          <p:cNvSpPr txBox="1"/>
          <p:nvPr>
            <p:ph idx="1" type="body"/>
          </p:nvPr>
        </p:nvSpPr>
        <p:spPr>
          <a:xfrm>
            <a:off x="1267725" y="1459575"/>
            <a:ext cx="4515900" cy="30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ПЛОХО: N+1 запросов</a:t>
            </a: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ToListAsync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WriteLine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отдельный запрос на каждого!</a:t>
            </a:r>
            <a:endParaRPr b="1"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ХОРОШО: 1 запрос</a:t>
            </a:r>
            <a:endParaRPr b="1"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endParaRPr b="1"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ToListAsync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ThenInclude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Vet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 txBox="1"/>
          <p:nvPr>
            <p:ph type="title"/>
          </p:nvPr>
        </p:nvSpPr>
        <p:spPr>
          <a:xfrm>
            <a:off x="1303800" y="598575"/>
            <a:ext cx="70305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Полезные нюансы</a:t>
            </a:r>
            <a:br>
              <a:rPr lang="ru" sz="17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ExecuteUpdateAsync</a:t>
            </a: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ExecuteDeleteAsync</a:t>
            </a:r>
            <a:endParaRPr sz="3200"/>
          </a:p>
        </p:txBody>
      </p:sp>
      <p:sp>
        <p:nvSpPr>
          <p:cNvPr id="417" name="Google Shape;417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Обновить всех кошек: возраст +1</a:t>
            </a:r>
            <a:br>
              <a:rPr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Species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"Cat"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ExecuteUpdateAsync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setters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setters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SetProperty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b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 sz="10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Удалить всех старых животных</a:t>
            </a:r>
            <a:endParaRPr b="1"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b="1"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ExecuteDeleteAsync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2222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Транзакции</a:t>
            </a:r>
            <a:endParaRPr sz="4000"/>
          </a:p>
        </p:txBody>
      </p:sp>
      <p:sp>
        <p:nvSpPr>
          <p:cNvPr id="423" name="Google Shape;423;p36"/>
          <p:cNvSpPr txBox="1"/>
          <p:nvPr>
            <p:ph idx="1" type="body"/>
          </p:nvPr>
        </p:nvSpPr>
        <p:spPr>
          <a:xfrm>
            <a:off x="1274575" y="1466450"/>
            <a:ext cx="7059600" cy="30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Database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BeginTransactionAsync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endParaRPr b="1" sz="105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CommitAsync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endParaRPr b="1" sz="105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RollbackAsync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Миграции</a:t>
            </a:r>
            <a:endParaRPr/>
          </a:p>
        </p:txBody>
      </p:sp>
      <p:sp>
        <p:nvSpPr>
          <p:cNvPr id="429" name="Google Shape;429;p37"/>
          <p:cNvSpPr txBox="1"/>
          <p:nvPr>
            <p:ph idx="1" type="body"/>
          </p:nvPr>
        </p:nvSpPr>
        <p:spPr>
          <a:xfrm>
            <a:off x="1098225" y="1612400"/>
            <a:ext cx="4342800" cy="22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Миграция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это способ синхронизировать модель C# и схему базы данных без ручного написания SQL.</a:t>
            </a:r>
            <a:b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" sz="12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1. 	Что-то меняем в бд</a:t>
            </a:r>
            <a:br>
              <a:rPr lang="ru" sz="12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br>
              <a:rPr lang="ru" sz="1200">
                <a:solidFill>
                  <a:srgbClr val="00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ru" sz="1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2. 	</a:t>
            </a:r>
            <a:r>
              <a:rPr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</a:t>
            </a:r>
            <a:r>
              <a:rPr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tnet</a:t>
            </a:r>
            <a:r>
              <a:rPr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ef migrations add AddPriceToAnimal</a:t>
            </a:r>
            <a:br>
              <a:rPr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3.	</a:t>
            </a:r>
            <a:r>
              <a:rPr lang="ru" sz="1150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dotnet ef database update</a:t>
            </a:r>
            <a:endParaRPr sz="115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125" y="1813875"/>
            <a:ext cx="3227100" cy="1815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Интерактив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idx="1" type="body"/>
          </p:nvPr>
        </p:nvSpPr>
        <p:spPr>
          <a:xfrm>
            <a:off x="2180400" y="390575"/>
            <a:ext cx="4783200" cy="15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cats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endParaRPr b="1" sz="170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Species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ru" sz="1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"Cat"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=&gt;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ToList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1" name="Google Shape;441;p39"/>
          <p:cNvSpPr txBox="1"/>
          <p:nvPr>
            <p:ph idx="1" type="body"/>
          </p:nvPr>
        </p:nvSpPr>
        <p:spPr>
          <a:xfrm>
            <a:off x="1260875" y="2117425"/>
            <a:ext cx="7071900" cy="24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❓ </a:t>
            </a:r>
            <a:r>
              <a:rPr b="1"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Вопрос</a:t>
            </a: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«Какой SQL выполнится?»</a:t>
            </a:r>
            <a:b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Варианты (можно в виде опроса или поднятия рук):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</a:t>
            </a:r>
            <a:r>
              <a:rPr lang="ru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Animals WHERE Species = 'Cat'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</a:t>
            </a:r>
            <a:r>
              <a:rPr lang="ru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Name FROM Animals WHERE Species = 'Cat'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ru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</a:t>
            </a:r>
            <a:r>
              <a:rPr lang="ru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Id, Name FROM Animals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Очевидно B</a:t>
            </a:r>
            <a:endParaRPr b="1" sz="17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 txBox="1"/>
          <p:nvPr>
            <p:ph idx="1" type="body"/>
          </p:nvPr>
        </p:nvSpPr>
        <p:spPr>
          <a:xfrm>
            <a:off x="1932400" y="671550"/>
            <a:ext cx="64209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ToList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owners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7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WriteLine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7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//что не так?</a:t>
            </a:r>
            <a:endParaRPr b="1" sz="17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 owners = await db.Owners</a:t>
            </a:r>
            <a:endParaRPr b="1" sz="105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.Include(o =&gt; o.Animal)</a:t>
            </a:r>
            <a:endParaRPr b="1" sz="105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.ToListAsync();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"/>
          <p:cNvSpPr txBox="1"/>
          <p:nvPr>
            <p:ph idx="1" type="body"/>
          </p:nvPr>
        </p:nvSpPr>
        <p:spPr>
          <a:xfrm>
            <a:off x="2206525" y="411150"/>
            <a:ext cx="5625900" cy="4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HttpPost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IActionResult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7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7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Animals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animal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ru" sz="17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что не так?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SaveChanges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ru" sz="17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ru" sz="17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lang="ru" sz="1700">
                <a:solidFill>
                  <a:srgbClr val="22222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ru" sz="17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Dto опасно пихать напрямую</a:t>
            </a:r>
            <a:endParaRPr b="1" sz="17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"/>
          <p:cNvSpPr txBox="1"/>
          <p:nvPr>
            <p:ph idx="1" type="body"/>
          </p:nvPr>
        </p:nvSpPr>
        <p:spPr>
          <a:xfrm>
            <a:off x="1247150" y="520800"/>
            <a:ext cx="7087200" cy="4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Сценарий:</a:t>
            </a:r>
            <a:b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«У вас есть объект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</a:t>
            </a: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 = 5</a:t>
            </a: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который пришёл из API. Вы хотите обновить только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Какой метод использовать?»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Варианты: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db.Animals.Add(animal)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db.Animals.Attach(animal)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db.Animals.Update(animal)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«Жизненный цикл DbContext» — расставить по порядку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ru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Вызов </a:t>
            </a:r>
            <a:r>
              <a:rPr lang="ru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SaveChangesAsync()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ru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Регистрация в </a:t>
            </a:r>
            <a:r>
              <a:rPr lang="ru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Program.cs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ru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Внедрение в контроллер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ru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Запрос </a:t>
            </a:r>
            <a:r>
              <a:rPr lang="ru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Animals.ToListAsync()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ru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Уничтожение контекста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4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/>
              <a:t>Спасибо за внимание!</a:t>
            </a:r>
            <a:endParaRPr b="1" sz="1700"/>
          </a:p>
        </p:txBody>
      </p:sp>
      <p:pic>
        <p:nvPicPr>
          <p:cNvPr id="468" name="Google Shape;4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550" y="666375"/>
            <a:ext cx="3657575" cy="274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